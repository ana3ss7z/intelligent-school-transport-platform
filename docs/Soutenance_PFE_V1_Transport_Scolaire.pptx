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417320"/>
            <a:ext cx="10058400" cy="365760"/>
          </a:xfrm>
          <a:prstGeom prst="rect">
            <a:avLst/>
          </a:prstGeom>
          <a:noFill/>
        </p:spPr>
        <p:txBody>
          <a:bodyPr wrap="square">
            <a:spAutoFit/>
          </a:bodyPr>
          <a:lstStyle/>
          <a:p>
            <a:pPr algn="l">
              <a:spcAft>
                <a:spcPts val="0"/>
              </a:spcAft>
            </a:pPr>
            <a:r>
              <a:rPr sz="1300" b="1" i="0">
                <a:solidFill>
                  <a:srgbClr val="7DD3E0"/>
                </a:solidFill>
                <a:latin typeface="Segoe UI"/>
              </a:rPr>
              <a:t>PROJET DE FIN D'ÉTUDES  ·  MASTER SCIENCE DES DONNÉES ET INTELLIGENCE ARTIFICIELLE</a:t>
            </a:r>
          </a:p>
        </p:txBody>
      </p:sp>
      <p:sp>
        <p:nvSpPr>
          <p:cNvPr id="5" name="TextBox 4"/>
          <p:cNvSpPr txBox="1"/>
          <p:nvPr/>
        </p:nvSpPr>
        <p:spPr>
          <a:xfrm>
            <a:off x="960120" y="1965960"/>
            <a:ext cx="10241280" cy="1371600"/>
          </a:xfrm>
          <a:prstGeom prst="rect">
            <a:avLst/>
          </a:prstGeom>
          <a:noFill/>
        </p:spPr>
        <p:txBody>
          <a:bodyPr wrap="square">
            <a:spAutoFit/>
          </a:bodyPr>
          <a:lstStyle/>
          <a:p>
            <a:pPr algn="l">
              <a:spcAft>
                <a:spcPts val="0"/>
              </a:spcAft>
            </a:pPr>
            <a:r>
              <a:rPr sz="4600" b="1" i="0">
                <a:solidFill>
                  <a:srgbClr val="FFFFFF"/>
                </a:solidFill>
                <a:latin typeface="Segoe UI"/>
              </a:rPr>
              <a:t>Transport scolaire intelligent</a:t>
            </a:r>
          </a:p>
        </p:txBody>
      </p:sp>
      <p:sp>
        <p:nvSpPr>
          <p:cNvPr id="6" name="TextBox 5"/>
          <p:cNvSpPr txBox="1"/>
          <p:nvPr/>
        </p:nvSpPr>
        <p:spPr>
          <a:xfrm>
            <a:off x="987552" y="2834640"/>
            <a:ext cx="10241280" cy="731520"/>
          </a:xfrm>
          <a:prstGeom prst="rect">
            <a:avLst/>
          </a:prstGeom>
          <a:noFill/>
        </p:spPr>
        <p:txBody>
          <a:bodyPr wrap="square">
            <a:spAutoFit/>
          </a:bodyPr>
          <a:lstStyle/>
          <a:p>
            <a:pPr algn="l">
              <a:spcAft>
                <a:spcPts val="0"/>
              </a:spcAft>
            </a:pPr>
            <a:r>
              <a:rPr sz="2400" b="0" i="0">
                <a:solidFill>
                  <a:srgbClr val="B9CEE0"/>
                </a:solidFill>
                <a:latin typeface="Segoe UI"/>
              </a:rPr>
              <a:t>De la donnée géospatiale à la décision opérationnelle</a:t>
            </a:r>
          </a:p>
        </p:txBody>
      </p:sp>
      <p:sp>
        <p:nvSpPr>
          <p:cNvPr id="7" name="Rectangle 6"/>
          <p:cNvSpPr/>
          <p:nvPr/>
        </p:nvSpPr>
        <p:spPr>
          <a:xfrm>
            <a:off x="1005840" y="3703320"/>
            <a:ext cx="1371600" cy="3657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4023360"/>
            <a:ext cx="5486400" cy="1463040"/>
          </a:xfrm>
          <a:prstGeom prst="rect">
            <a:avLst/>
          </a:prstGeom>
          <a:noFill/>
        </p:spPr>
        <p:txBody>
          <a:bodyPr wrap="square">
            <a:spAutoFit/>
          </a:bodyPr>
          <a:lstStyle/>
          <a:p>
            <a:pPr algn="l">
              <a:spcAft>
                <a:spcPts val="1000"/>
              </a:spcAft>
            </a:pPr>
            <a:r>
              <a:rPr sz="1700" b="0">
                <a:solidFill>
                  <a:srgbClr val="93AEC6"/>
                </a:solidFill>
                <a:latin typeface="Segoe UI"/>
              </a:rPr>
              <a:t>Réalisé par : </a:t>
            </a:r>
            <a:r>
              <a:rPr sz="1700" b="1">
                <a:solidFill>
                  <a:srgbClr val="FFFFFF"/>
                </a:solidFill>
                <a:latin typeface="Segoe UI"/>
              </a:rPr>
              <a:t>Anass</a:t>
            </a:r>
          </a:p>
          <a:p>
            <a:pPr algn="l">
              <a:spcAft>
                <a:spcPts val="1000"/>
              </a:spcAft>
            </a:pPr>
            <a:r>
              <a:rPr sz="1700" b="0">
                <a:solidFill>
                  <a:srgbClr val="93AEC6"/>
                </a:solidFill>
                <a:latin typeface="Segoe UI"/>
              </a:rPr>
              <a:t>Encadré par : </a:t>
            </a:r>
            <a:r>
              <a:rPr sz="1700" b="1">
                <a:solidFill>
                  <a:srgbClr val="FFFFFF"/>
                </a:solidFill>
                <a:latin typeface="Segoe UI"/>
              </a:rPr>
              <a:t>Pr. Ali Bekri</a:t>
            </a:r>
          </a:p>
        </p:txBody>
      </p:sp>
      <p:sp>
        <p:nvSpPr>
          <p:cNvPr id="9" name="TextBox 8"/>
          <p:cNvSpPr txBox="1"/>
          <p:nvPr/>
        </p:nvSpPr>
        <p:spPr>
          <a:xfrm>
            <a:off x="987552" y="5074920"/>
            <a:ext cx="7315200" cy="822960"/>
          </a:xfrm>
          <a:prstGeom prst="rect">
            <a:avLst/>
          </a:prstGeom>
          <a:noFill/>
        </p:spPr>
        <p:txBody>
          <a:bodyPr wrap="square">
            <a:spAutoFit/>
          </a:bodyPr>
          <a:lstStyle/>
          <a:p>
            <a:pPr algn="l">
              <a:spcAft>
                <a:spcPts val="0"/>
              </a:spcAft>
            </a:pPr>
            <a:r>
              <a:rPr sz="1500" b="0" i="0">
                <a:solidFill>
                  <a:srgbClr val="93AEC6"/>
                </a:solidFill>
                <a:latin typeface="Segoe UI"/>
              </a:rPr>
              <a:t>Faculté des Sciences Moulay Ismail — Meknès
Année universitaire 2025 / 2026</a:t>
            </a:r>
          </a:p>
        </p:txBody>
      </p:sp>
      <p:sp>
        <p:nvSpPr>
          <p:cNvPr id="10" name="Rectangle 9"/>
          <p:cNvSpPr/>
          <p:nvPr/>
        </p:nvSpPr>
        <p:spPr>
          <a:xfrm>
            <a:off x="7863840" y="3977639"/>
            <a:ext cx="3291840" cy="1600200"/>
          </a:xfrm>
          <a:prstGeom prst="rect">
            <a:avLst/>
          </a:prstGeom>
          <a:solidFill>
            <a:srgbClr val="1B3E5E"/>
          </a:solidFill>
          <a:ln w="12700">
            <a:solidFill>
              <a:srgbClr val="2C5A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4160520"/>
            <a:ext cx="2926080" cy="274320"/>
          </a:xfrm>
          <a:prstGeom prst="rect">
            <a:avLst/>
          </a:prstGeom>
          <a:noFill/>
        </p:spPr>
        <p:txBody>
          <a:bodyPr wrap="square">
            <a:spAutoFit/>
          </a:bodyPr>
          <a:lstStyle/>
          <a:p>
            <a:pPr algn="l">
              <a:spcAft>
                <a:spcPts val="0"/>
              </a:spcAft>
            </a:pPr>
            <a:r>
              <a:rPr sz="1100" b="1" i="0">
                <a:solidFill>
                  <a:srgbClr val="7DD3E0"/>
                </a:solidFill>
                <a:latin typeface="Segoe UI"/>
              </a:rPr>
              <a:t>LE SYSTÈME EN 4 CHIFFRES</a:t>
            </a:r>
          </a:p>
        </p:txBody>
      </p:sp>
      <p:sp>
        <p:nvSpPr>
          <p:cNvPr id="12" name="TextBox 11"/>
          <p:cNvSpPr txBox="1"/>
          <p:nvPr/>
        </p:nvSpPr>
        <p:spPr>
          <a:xfrm>
            <a:off x="8092440" y="4526280"/>
            <a:ext cx="2926080" cy="1005840"/>
          </a:xfrm>
          <a:prstGeom prst="rect">
            <a:avLst/>
          </a:prstGeom>
          <a:noFill/>
        </p:spPr>
        <p:txBody>
          <a:bodyPr wrap="square">
            <a:spAutoFit/>
          </a:bodyPr>
          <a:lstStyle/>
          <a:p>
            <a:pPr algn="l">
              <a:spcAft>
                <a:spcPts val="600"/>
              </a:spcAft>
            </a:pPr>
            <a:r>
              <a:rPr sz="1500" b="1">
                <a:solidFill>
                  <a:srgbClr val="FFFFFF"/>
                </a:solidFill>
                <a:latin typeface="Segoe UI"/>
              </a:rPr>
              <a:t>300</a:t>
            </a:r>
            <a:r>
              <a:rPr sz="1500" b="0">
                <a:solidFill>
                  <a:srgbClr val="B9CEE0"/>
                </a:solidFill>
                <a:latin typeface="Segoe UI"/>
              </a:rPr>
              <a:t>  élèves géolocalisés</a:t>
            </a:r>
          </a:p>
          <a:p>
            <a:pPr algn="l">
              <a:spcAft>
                <a:spcPts val="600"/>
              </a:spcAft>
            </a:pPr>
            <a:r>
              <a:rPr sz="1500" b="1">
                <a:solidFill>
                  <a:srgbClr val="FFFFFF"/>
                </a:solidFill>
                <a:latin typeface="Segoe UI"/>
              </a:rPr>
              <a:t>13</a:t>
            </a:r>
            <a:r>
              <a:rPr sz="1500" b="0">
                <a:solidFill>
                  <a:srgbClr val="B9CEE0"/>
                </a:solidFill>
                <a:latin typeface="Segoe UI"/>
              </a:rPr>
              <a:t>  microservices</a:t>
            </a:r>
          </a:p>
          <a:p>
            <a:pPr algn="l">
              <a:spcAft>
                <a:spcPts val="600"/>
              </a:spcAft>
            </a:pPr>
            <a:r>
              <a:rPr sz="1500" b="1">
                <a:solidFill>
                  <a:srgbClr val="0E7490"/>
                </a:solidFill>
                <a:latin typeface="Segoe UI"/>
              </a:rPr>
              <a:t>5</a:t>
            </a:r>
            <a:r>
              <a:rPr sz="1500" b="0">
                <a:solidFill>
                  <a:srgbClr val="B9CEE0"/>
                </a:solidFill>
                <a:latin typeface="Segoe UI"/>
              </a:rPr>
              <a:t>  briques Data Science / 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CONTEXTE ET PROBLÉMATIQUE</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Quatre décisions à prendre chaque matin</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300 élèves à transporter vers l'école Al Massira, à Meknès — avec une flotte finie et une ville réelle.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Cadrage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a:t>
            </a:r>
          </a:p>
        </p:txBody>
      </p:sp>
      <p:pic>
        <p:nvPicPr>
          <p:cNvPr id="10" name="Picture 9" descr="02_distribution_spatiale.png"/>
          <p:cNvPicPr>
            <a:picLocks noChangeAspect="1"/>
          </p:cNvPicPr>
          <p:nvPr/>
        </p:nvPicPr>
        <p:blipFill>
          <a:blip r:embed="rId2"/>
          <a:stretch>
            <a:fillRect/>
          </a:stretch>
        </p:blipFill>
        <p:spPr>
          <a:xfrm>
            <a:off x="566928" y="2148840"/>
            <a:ext cx="5120640" cy="3949194"/>
          </a:xfrm>
          <a:prstGeom prst="rect">
            <a:avLst/>
          </a:prstGeom>
        </p:spPr>
      </p:pic>
      <p:sp>
        <p:nvSpPr>
          <p:cNvPr id="11" name="Rectangle 10"/>
          <p:cNvSpPr/>
          <p:nvPr/>
        </p:nvSpPr>
        <p:spPr>
          <a:xfrm>
            <a:off x="5989320" y="2148840"/>
            <a:ext cx="5669280" cy="969264"/>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89320" y="2148840"/>
            <a:ext cx="45720" cy="9692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2231136"/>
            <a:ext cx="365760" cy="365760"/>
          </a:xfrm>
          <a:prstGeom prst="rect">
            <a:avLst/>
          </a:prstGeom>
          <a:noFill/>
        </p:spPr>
        <p:txBody>
          <a:bodyPr wrap="square">
            <a:spAutoFit/>
          </a:bodyPr>
          <a:lstStyle/>
          <a:p>
            <a:pPr algn="l">
              <a:spcAft>
                <a:spcPts val="0"/>
              </a:spcAft>
            </a:pPr>
            <a:r>
              <a:rPr sz="2000" b="1" i="0">
                <a:solidFill>
                  <a:srgbClr val="B6C4D2"/>
                </a:solidFill>
                <a:latin typeface="Segoe UI"/>
              </a:rPr>
              <a:t>1</a:t>
            </a:r>
          </a:p>
        </p:txBody>
      </p:sp>
      <p:sp>
        <p:nvSpPr>
          <p:cNvPr id="14" name="TextBox 13"/>
          <p:cNvSpPr txBox="1"/>
          <p:nvPr/>
        </p:nvSpPr>
        <p:spPr>
          <a:xfrm>
            <a:off x="6583680" y="2221992"/>
            <a:ext cx="4846320" cy="320040"/>
          </a:xfrm>
          <a:prstGeom prst="rect">
            <a:avLst/>
          </a:prstGeom>
          <a:noFill/>
        </p:spPr>
        <p:txBody>
          <a:bodyPr wrap="square">
            <a:spAutoFit/>
          </a:bodyPr>
          <a:lstStyle/>
          <a:p>
            <a:pPr algn="l">
              <a:spcAft>
                <a:spcPts val="0"/>
              </a:spcAft>
            </a:pPr>
            <a:r>
              <a:rPr sz="1800" b="1" i="0">
                <a:solidFill>
                  <a:srgbClr val="0F2942"/>
                </a:solidFill>
                <a:latin typeface="Segoe UI"/>
              </a:rPr>
              <a:t>Quel bus ?</a:t>
            </a:r>
          </a:p>
        </p:txBody>
      </p:sp>
      <p:sp>
        <p:nvSpPr>
          <p:cNvPr id="15" name="TextBox 14"/>
          <p:cNvSpPr txBox="1"/>
          <p:nvPr/>
        </p:nvSpPr>
        <p:spPr>
          <a:xfrm>
            <a:off x="6583680" y="2514600"/>
            <a:ext cx="4937760" cy="274320"/>
          </a:xfrm>
          <a:prstGeom prst="rect">
            <a:avLst/>
          </a:prstGeom>
          <a:noFill/>
        </p:spPr>
        <p:txBody>
          <a:bodyPr wrap="square">
            <a:spAutoFit/>
          </a:bodyPr>
          <a:lstStyle/>
          <a:p>
            <a:pPr algn="l">
              <a:spcAft>
                <a:spcPts val="0"/>
              </a:spcAft>
            </a:pPr>
            <a:r>
              <a:rPr sz="1300" b="0" i="0">
                <a:solidFill>
                  <a:srgbClr val="64748B"/>
                </a:solidFill>
                <a:latin typeface="Segoe UI"/>
              </a:rPr>
              <a:t>Regrouper 300 élèves sous contrainte de 50 places</a:t>
            </a:r>
          </a:p>
        </p:txBody>
      </p:sp>
      <p:sp>
        <p:nvSpPr>
          <p:cNvPr id="16" name="TextBox 15"/>
          <p:cNvSpPr txBox="1"/>
          <p:nvPr/>
        </p:nvSpPr>
        <p:spPr>
          <a:xfrm>
            <a:off x="6583680" y="2770632"/>
            <a:ext cx="4937760" cy="274320"/>
          </a:xfrm>
          <a:prstGeom prst="rect">
            <a:avLst/>
          </a:prstGeom>
          <a:noFill/>
        </p:spPr>
        <p:txBody>
          <a:bodyPr wrap="square">
            <a:spAutoFit/>
          </a:bodyPr>
          <a:lstStyle/>
          <a:p>
            <a:pPr algn="l">
              <a:spcAft>
                <a:spcPts val="0"/>
              </a:spcAft>
            </a:pPr>
            <a:r>
              <a:rPr sz="1300" b="1" i="0">
                <a:solidFill>
                  <a:srgbClr val="0E7490"/>
                </a:solidFill>
                <a:latin typeface="Segoe UI"/>
              </a:rPr>
              <a:t>→  Clustering géospatial capacitaire</a:t>
            </a:r>
          </a:p>
        </p:txBody>
      </p:sp>
      <p:sp>
        <p:nvSpPr>
          <p:cNvPr id="17" name="Rectangle 16"/>
          <p:cNvSpPr/>
          <p:nvPr/>
        </p:nvSpPr>
        <p:spPr>
          <a:xfrm>
            <a:off x="5989320" y="3209544"/>
            <a:ext cx="5669280" cy="969264"/>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89320" y="3209544"/>
            <a:ext cx="45720" cy="9692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3291840"/>
            <a:ext cx="365760" cy="365760"/>
          </a:xfrm>
          <a:prstGeom prst="rect">
            <a:avLst/>
          </a:prstGeom>
          <a:noFill/>
        </p:spPr>
        <p:txBody>
          <a:bodyPr wrap="square">
            <a:spAutoFit/>
          </a:bodyPr>
          <a:lstStyle/>
          <a:p>
            <a:pPr algn="l">
              <a:spcAft>
                <a:spcPts val="0"/>
              </a:spcAft>
            </a:pPr>
            <a:r>
              <a:rPr sz="2000" b="1" i="0">
                <a:solidFill>
                  <a:srgbClr val="B6C4D2"/>
                </a:solidFill>
                <a:latin typeface="Segoe UI"/>
              </a:rPr>
              <a:t>2</a:t>
            </a:r>
          </a:p>
        </p:txBody>
      </p:sp>
      <p:sp>
        <p:nvSpPr>
          <p:cNvPr id="20" name="TextBox 19"/>
          <p:cNvSpPr txBox="1"/>
          <p:nvPr/>
        </p:nvSpPr>
        <p:spPr>
          <a:xfrm>
            <a:off x="6583680" y="3282696"/>
            <a:ext cx="4846320" cy="320040"/>
          </a:xfrm>
          <a:prstGeom prst="rect">
            <a:avLst/>
          </a:prstGeom>
          <a:noFill/>
        </p:spPr>
        <p:txBody>
          <a:bodyPr wrap="square">
            <a:spAutoFit/>
          </a:bodyPr>
          <a:lstStyle/>
          <a:p>
            <a:pPr algn="l">
              <a:spcAft>
                <a:spcPts val="0"/>
              </a:spcAft>
            </a:pPr>
            <a:r>
              <a:rPr sz="1800" b="1" i="0">
                <a:solidFill>
                  <a:srgbClr val="0F2942"/>
                </a:solidFill>
                <a:latin typeface="Segoe UI"/>
              </a:rPr>
              <a:t>Dans quel ordre ?</a:t>
            </a:r>
          </a:p>
        </p:txBody>
      </p:sp>
      <p:sp>
        <p:nvSpPr>
          <p:cNvPr id="21" name="TextBox 20"/>
          <p:cNvSpPr txBox="1"/>
          <p:nvPr/>
        </p:nvSpPr>
        <p:spPr>
          <a:xfrm>
            <a:off x="6583680" y="3575304"/>
            <a:ext cx="4937760" cy="274320"/>
          </a:xfrm>
          <a:prstGeom prst="rect">
            <a:avLst/>
          </a:prstGeom>
          <a:noFill/>
        </p:spPr>
        <p:txBody>
          <a:bodyPr wrap="square">
            <a:spAutoFit/>
          </a:bodyPr>
          <a:lstStyle/>
          <a:p>
            <a:pPr algn="l">
              <a:spcAft>
                <a:spcPts val="0"/>
              </a:spcAft>
            </a:pPr>
            <a:r>
              <a:rPr sz="1300" b="0" i="0">
                <a:solidFill>
                  <a:srgbClr val="64748B"/>
                </a:solidFill>
                <a:latin typeface="Segoe UI"/>
              </a:rPr>
              <a:t>Ordonner les 50 arrêts d'une tournée</a:t>
            </a:r>
          </a:p>
        </p:txBody>
      </p:sp>
      <p:sp>
        <p:nvSpPr>
          <p:cNvPr id="22" name="TextBox 21"/>
          <p:cNvSpPr txBox="1"/>
          <p:nvPr/>
        </p:nvSpPr>
        <p:spPr>
          <a:xfrm>
            <a:off x="6583680" y="3831336"/>
            <a:ext cx="4937760" cy="274320"/>
          </a:xfrm>
          <a:prstGeom prst="rect">
            <a:avLst/>
          </a:prstGeom>
          <a:noFill/>
        </p:spPr>
        <p:txBody>
          <a:bodyPr wrap="square">
            <a:spAutoFit/>
          </a:bodyPr>
          <a:lstStyle/>
          <a:p>
            <a:pPr algn="l">
              <a:spcAft>
                <a:spcPts val="0"/>
              </a:spcAft>
            </a:pPr>
            <a:r>
              <a:rPr sz="1300" b="1" i="0">
                <a:solidFill>
                  <a:srgbClr val="0E7490"/>
                </a:solidFill>
                <a:latin typeface="Segoe UI"/>
              </a:rPr>
              <a:t>→  Optimisation combinatoire (VRP)</a:t>
            </a:r>
          </a:p>
        </p:txBody>
      </p:sp>
      <p:sp>
        <p:nvSpPr>
          <p:cNvPr id="23" name="Rectangle 22"/>
          <p:cNvSpPr/>
          <p:nvPr/>
        </p:nvSpPr>
        <p:spPr>
          <a:xfrm>
            <a:off x="5989320" y="4270248"/>
            <a:ext cx="5669280" cy="969264"/>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89320" y="4270248"/>
            <a:ext cx="45720" cy="9692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4352544"/>
            <a:ext cx="365760" cy="365760"/>
          </a:xfrm>
          <a:prstGeom prst="rect">
            <a:avLst/>
          </a:prstGeom>
          <a:noFill/>
        </p:spPr>
        <p:txBody>
          <a:bodyPr wrap="square">
            <a:spAutoFit/>
          </a:bodyPr>
          <a:lstStyle/>
          <a:p>
            <a:pPr algn="l">
              <a:spcAft>
                <a:spcPts val="0"/>
              </a:spcAft>
            </a:pPr>
            <a:r>
              <a:rPr sz="2000" b="1" i="0">
                <a:solidFill>
                  <a:srgbClr val="B6C4D2"/>
                </a:solidFill>
                <a:latin typeface="Segoe UI"/>
              </a:rPr>
              <a:t>3</a:t>
            </a:r>
          </a:p>
        </p:txBody>
      </p:sp>
      <p:sp>
        <p:nvSpPr>
          <p:cNvPr id="26" name="TextBox 25"/>
          <p:cNvSpPr txBox="1"/>
          <p:nvPr/>
        </p:nvSpPr>
        <p:spPr>
          <a:xfrm>
            <a:off x="6583680" y="4343400"/>
            <a:ext cx="4846320" cy="320040"/>
          </a:xfrm>
          <a:prstGeom prst="rect">
            <a:avLst/>
          </a:prstGeom>
          <a:noFill/>
        </p:spPr>
        <p:txBody>
          <a:bodyPr wrap="square">
            <a:spAutoFit/>
          </a:bodyPr>
          <a:lstStyle/>
          <a:p>
            <a:pPr algn="l">
              <a:spcAft>
                <a:spcPts val="0"/>
              </a:spcAft>
            </a:pPr>
            <a:r>
              <a:rPr sz="1800" b="1" i="0">
                <a:solidFill>
                  <a:srgbClr val="0F2942"/>
                </a:solidFill>
                <a:latin typeface="Segoe UI"/>
              </a:rPr>
              <a:t>À quelle heure ?</a:t>
            </a:r>
          </a:p>
        </p:txBody>
      </p:sp>
      <p:sp>
        <p:nvSpPr>
          <p:cNvPr id="27" name="TextBox 26"/>
          <p:cNvSpPr txBox="1"/>
          <p:nvPr/>
        </p:nvSpPr>
        <p:spPr>
          <a:xfrm>
            <a:off x="6583680" y="4636008"/>
            <a:ext cx="4937760" cy="274320"/>
          </a:xfrm>
          <a:prstGeom prst="rect">
            <a:avLst/>
          </a:prstGeom>
          <a:noFill/>
        </p:spPr>
        <p:txBody>
          <a:bodyPr wrap="square">
            <a:spAutoFit/>
          </a:bodyPr>
          <a:lstStyle/>
          <a:p>
            <a:pPr algn="l">
              <a:spcAft>
                <a:spcPts val="0"/>
              </a:spcAft>
            </a:pPr>
            <a:r>
              <a:rPr sz="1300" b="0" i="0">
                <a:solidFill>
                  <a:srgbClr val="64748B"/>
                </a:solidFill>
                <a:latin typeface="Segoe UI"/>
              </a:rPr>
              <a:t>Annoncer l'arrivée aux familles</a:t>
            </a:r>
          </a:p>
        </p:txBody>
      </p:sp>
      <p:sp>
        <p:nvSpPr>
          <p:cNvPr id="28" name="TextBox 27"/>
          <p:cNvSpPr txBox="1"/>
          <p:nvPr/>
        </p:nvSpPr>
        <p:spPr>
          <a:xfrm>
            <a:off x="6583680" y="4892040"/>
            <a:ext cx="4937760" cy="274320"/>
          </a:xfrm>
          <a:prstGeom prst="rect">
            <a:avLst/>
          </a:prstGeom>
          <a:noFill/>
        </p:spPr>
        <p:txBody>
          <a:bodyPr wrap="square">
            <a:spAutoFit/>
          </a:bodyPr>
          <a:lstStyle/>
          <a:p>
            <a:pPr algn="l">
              <a:spcAft>
                <a:spcPts val="0"/>
              </a:spcAft>
            </a:pPr>
            <a:r>
              <a:rPr sz="1300" b="1" i="0">
                <a:solidFill>
                  <a:srgbClr val="0E7490"/>
                </a:solidFill>
                <a:latin typeface="Segoe UI"/>
              </a:rPr>
              <a:t>→  Régression supervisée</a:t>
            </a:r>
          </a:p>
        </p:txBody>
      </p:sp>
      <p:sp>
        <p:nvSpPr>
          <p:cNvPr id="29" name="Rectangle 28"/>
          <p:cNvSpPr/>
          <p:nvPr/>
        </p:nvSpPr>
        <p:spPr>
          <a:xfrm>
            <a:off x="5989320" y="5330952"/>
            <a:ext cx="5669280" cy="969264"/>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89320" y="5330952"/>
            <a:ext cx="45720" cy="9692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5413248"/>
            <a:ext cx="365760" cy="365760"/>
          </a:xfrm>
          <a:prstGeom prst="rect">
            <a:avLst/>
          </a:prstGeom>
          <a:noFill/>
        </p:spPr>
        <p:txBody>
          <a:bodyPr wrap="square">
            <a:spAutoFit/>
          </a:bodyPr>
          <a:lstStyle/>
          <a:p>
            <a:pPr algn="l">
              <a:spcAft>
                <a:spcPts val="0"/>
              </a:spcAft>
            </a:pPr>
            <a:r>
              <a:rPr sz="2000" b="1" i="0">
                <a:solidFill>
                  <a:srgbClr val="B6C4D2"/>
                </a:solidFill>
                <a:latin typeface="Segoe UI"/>
              </a:rPr>
              <a:t>4</a:t>
            </a:r>
          </a:p>
        </p:txBody>
      </p:sp>
      <p:sp>
        <p:nvSpPr>
          <p:cNvPr id="32" name="TextBox 31"/>
          <p:cNvSpPr txBox="1"/>
          <p:nvPr/>
        </p:nvSpPr>
        <p:spPr>
          <a:xfrm>
            <a:off x="6583680" y="5404104"/>
            <a:ext cx="4846320" cy="320040"/>
          </a:xfrm>
          <a:prstGeom prst="rect">
            <a:avLst/>
          </a:prstGeom>
          <a:noFill/>
        </p:spPr>
        <p:txBody>
          <a:bodyPr wrap="square">
            <a:spAutoFit/>
          </a:bodyPr>
          <a:lstStyle/>
          <a:p>
            <a:pPr algn="l">
              <a:spcAft>
                <a:spcPts val="0"/>
              </a:spcAft>
            </a:pPr>
            <a:r>
              <a:rPr sz="1800" b="1" i="0">
                <a:solidFill>
                  <a:srgbClr val="0F2942"/>
                </a:solidFill>
                <a:latin typeface="Segoe UI"/>
              </a:rPr>
              <a:t>Qu'est-ce qui cloche ?</a:t>
            </a:r>
          </a:p>
        </p:txBody>
      </p:sp>
      <p:sp>
        <p:nvSpPr>
          <p:cNvPr id="33" name="TextBox 32"/>
          <p:cNvSpPr txBox="1"/>
          <p:nvPr/>
        </p:nvSpPr>
        <p:spPr>
          <a:xfrm>
            <a:off x="6583680" y="5696712"/>
            <a:ext cx="4937760" cy="274320"/>
          </a:xfrm>
          <a:prstGeom prst="rect">
            <a:avLst/>
          </a:prstGeom>
          <a:noFill/>
        </p:spPr>
        <p:txBody>
          <a:bodyPr wrap="square">
            <a:spAutoFit/>
          </a:bodyPr>
          <a:lstStyle/>
          <a:p>
            <a:pPr algn="l">
              <a:spcAft>
                <a:spcPts val="0"/>
              </a:spcAft>
            </a:pPr>
            <a:r>
              <a:rPr sz="1300" b="0" i="0">
                <a:solidFill>
                  <a:srgbClr val="64748B"/>
                </a:solidFill>
                <a:latin typeface="Segoe UI"/>
              </a:rPr>
              <a:t>Repérer l'anormal sans l'avoir étiqueté</a:t>
            </a:r>
          </a:p>
        </p:txBody>
      </p:sp>
      <p:sp>
        <p:nvSpPr>
          <p:cNvPr id="34" name="TextBox 33"/>
          <p:cNvSpPr txBox="1"/>
          <p:nvPr/>
        </p:nvSpPr>
        <p:spPr>
          <a:xfrm>
            <a:off x="6583680" y="5952744"/>
            <a:ext cx="4937760" cy="274320"/>
          </a:xfrm>
          <a:prstGeom prst="rect">
            <a:avLst/>
          </a:prstGeom>
          <a:noFill/>
        </p:spPr>
        <p:txBody>
          <a:bodyPr wrap="square">
            <a:spAutoFit/>
          </a:bodyPr>
          <a:lstStyle/>
          <a:p>
            <a:pPr algn="l">
              <a:spcAft>
                <a:spcPts val="0"/>
              </a:spcAft>
            </a:pPr>
            <a:r>
              <a:rPr sz="1300" b="1" i="0">
                <a:solidFill>
                  <a:srgbClr val="0E7490"/>
                </a:solidFill>
                <a:latin typeface="Segoe UI"/>
              </a:rPr>
              <a:t>→  Détection d'anomalies non supervisée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CE QUE LE TRAVAIL CHERCHE À ÉTABLIR</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Objectifs et périmètre</a:t>
            </a:r>
          </a:p>
        </p:txBody>
      </p:sp>
      <p:sp>
        <p:nvSpPr>
          <p:cNvPr id="5" name="Rectangle 4"/>
          <p:cNvSpPr/>
          <p:nvPr/>
        </p:nvSpPr>
        <p:spPr>
          <a:xfrm>
            <a:off x="566928" y="1389888"/>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Cadrage</a:t>
            </a:r>
          </a:p>
        </p:txBody>
      </p:sp>
      <p:sp>
        <p:nvSpPr>
          <p:cNvPr id="8" name="TextBox 7"/>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a:t>
            </a:r>
          </a:p>
        </p:txBody>
      </p:sp>
      <p:sp>
        <p:nvSpPr>
          <p:cNvPr id="9" name="Rectangle 8"/>
          <p:cNvSpPr/>
          <p:nvPr/>
        </p:nvSpPr>
        <p:spPr>
          <a:xfrm>
            <a:off x="566928" y="1700784"/>
            <a:ext cx="3566160" cy="16916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700784"/>
            <a:ext cx="50292" cy="1691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828800"/>
            <a:ext cx="3200400" cy="548640"/>
          </a:xfrm>
          <a:prstGeom prst="rect">
            <a:avLst/>
          </a:prstGeom>
          <a:noFill/>
        </p:spPr>
        <p:txBody>
          <a:bodyPr wrap="square">
            <a:spAutoFit/>
          </a:bodyPr>
          <a:lstStyle/>
          <a:p>
            <a:pPr algn="l">
              <a:spcAft>
                <a:spcPts val="0"/>
              </a:spcAft>
            </a:pPr>
            <a:r>
              <a:rPr sz="2600" b="1" i="0">
                <a:solidFill>
                  <a:srgbClr val="0E7490"/>
                </a:solidFill>
                <a:latin typeface="Segoe UI"/>
              </a:rPr>
              <a:t>Décider</a:t>
            </a:r>
          </a:p>
        </p:txBody>
      </p:sp>
      <p:sp>
        <p:nvSpPr>
          <p:cNvPr id="12" name="TextBox 11"/>
          <p:cNvSpPr txBox="1"/>
          <p:nvPr/>
        </p:nvSpPr>
        <p:spPr>
          <a:xfrm>
            <a:off x="786384" y="2359152"/>
            <a:ext cx="3200400" cy="457200"/>
          </a:xfrm>
          <a:prstGeom prst="rect">
            <a:avLst/>
          </a:prstGeom>
          <a:noFill/>
        </p:spPr>
        <p:txBody>
          <a:bodyPr wrap="square">
            <a:spAutoFit/>
          </a:bodyPr>
          <a:lstStyle/>
          <a:p>
            <a:pPr algn="l">
              <a:spcAft>
                <a:spcPts val="0"/>
              </a:spcAft>
            </a:pPr>
            <a:r>
              <a:rPr sz="1400" b="1" i="0">
                <a:solidFill>
                  <a:srgbClr val="1F2937"/>
                </a:solidFill>
                <a:latin typeface="Segoe UI"/>
              </a:rPr>
              <a:t>Affecter et ordonner</a:t>
            </a:r>
          </a:p>
        </p:txBody>
      </p:sp>
      <p:sp>
        <p:nvSpPr>
          <p:cNvPr id="13" name="TextBox 12"/>
          <p:cNvSpPr txBox="1"/>
          <p:nvPr/>
        </p:nvSpPr>
        <p:spPr>
          <a:xfrm>
            <a:off x="786384" y="2670048"/>
            <a:ext cx="3182112" cy="640080"/>
          </a:xfrm>
          <a:prstGeom prst="rect">
            <a:avLst/>
          </a:prstGeom>
          <a:noFill/>
        </p:spPr>
        <p:txBody>
          <a:bodyPr wrap="square">
            <a:spAutoFit/>
          </a:bodyPr>
          <a:lstStyle/>
          <a:p>
            <a:pPr algn="l">
              <a:spcAft>
                <a:spcPts val="0"/>
              </a:spcAft>
            </a:pPr>
            <a:r>
              <a:rPr sz="1200" b="0" i="0">
                <a:solidFill>
                  <a:srgbClr val="64748B"/>
                </a:solidFill>
                <a:latin typeface="Segoe UI"/>
              </a:rPr>
              <a:t>Produire une affectation faisable par construction, et des tournées optimisées sur le réseau routier réel.</a:t>
            </a:r>
          </a:p>
        </p:txBody>
      </p:sp>
      <p:sp>
        <p:nvSpPr>
          <p:cNvPr id="14" name="Rectangle 13"/>
          <p:cNvSpPr/>
          <p:nvPr/>
        </p:nvSpPr>
        <p:spPr>
          <a:xfrm>
            <a:off x="4315968" y="1700784"/>
            <a:ext cx="3566160" cy="16916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1700784"/>
            <a:ext cx="50292" cy="1691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1828800"/>
            <a:ext cx="3200400" cy="548640"/>
          </a:xfrm>
          <a:prstGeom prst="rect">
            <a:avLst/>
          </a:prstGeom>
          <a:noFill/>
        </p:spPr>
        <p:txBody>
          <a:bodyPr wrap="square">
            <a:spAutoFit/>
          </a:bodyPr>
          <a:lstStyle/>
          <a:p>
            <a:pPr algn="l">
              <a:spcAft>
                <a:spcPts val="0"/>
              </a:spcAft>
            </a:pPr>
            <a:r>
              <a:rPr sz="2600" b="1" i="0">
                <a:solidFill>
                  <a:srgbClr val="0E7490"/>
                </a:solidFill>
                <a:latin typeface="Segoe UI"/>
              </a:rPr>
              <a:t>Prédire</a:t>
            </a:r>
          </a:p>
        </p:txBody>
      </p:sp>
      <p:sp>
        <p:nvSpPr>
          <p:cNvPr id="17" name="TextBox 16"/>
          <p:cNvSpPr txBox="1"/>
          <p:nvPr/>
        </p:nvSpPr>
        <p:spPr>
          <a:xfrm>
            <a:off x="4535424" y="2359152"/>
            <a:ext cx="3200400" cy="457200"/>
          </a:xfrm>
          <a:prstGeom prst="rect">
            <a:avLst/>
          </a:prstGeom>
          <a:noFill/>
        </p:spPr>
        <p:txBody>
          <a:bodyPr wrap="square">
            <a:spAutoFit/>
          </a:bodyPr>
          <a:lstStyle/>
          <a:p>
            <a:pPr algn="l">
              <a:spcAft>
                <a:spcPts val="0"/>
              </a:spcAft>
            </a:pPr>
            <a:r>
              <a:rPr sz="1400" b="1" i="0">
                <a:solidFill>
                  <a:srgbClr val="1F2937"/>
                </a:solidFill>
                <a:latin typeface="Segoe UI"/>
              </a:rPr>
              <a:t>Annoncer une heure</a:t>
            </a:r>
          </a:p>
        </p:txBody>
      </p:sp>
      <p:sp>
        <p:nvSpPr>
          <p:cNvPr id="18" name="TextBox 17"/>
          <p:cNvSpPr txBox="1"/>
          <p:nvPr/>
        </p:nvSpPr>
        <p:spPr>
          <a:xfrm>
            <a:off x="4535424" y="2670048"/>
            <a:ext cx="3182112" cy="640080"/>
          </a:xfrm>
          <a:prstGeom prst="rect">
            <a:avLst/>
          </a:prstGeom>
          <a:noFill/>
        </p:spPr>
        <p:txBody>
          <a:bodyPr wrap="square">
            <a:spAutoFit/>
          </a:bodyPr>
          <a:lstStyle/>
          <a:p>
            <a:pPr algn="l">
              <a:spcAft>
                <a:spcPts val="0"/>
              </a:spcAft>
            </a:pPr>
            <a:r>
              <a:rPr sz="1200" b="0" i="0">
                <a:solidFill>
                  <a:srgbClr val="64748B"/>
                </a:solidFill>
                <a:latin typeface="Segoe UI"/>
              </a:rPr>
              <a:t>Estimer l'heure d'arrivée avec une incertitude quantifiée, et savoir quand le modèle sort de son domaine.</a:t>
            </a:r>
          </a:p>
        </p:txBody>
      </p:sp>
      <p:sp>
        <p:nvSpPr>
          <p:cNvPr id="19" name="Rectangle 18"/>
          <p:cNvSpPr/>
          <p:nvPr/>
        </p:nvSpPr>
        <p:spPr>
          <a:xfrm>
            <a:off x="8065008" y="1700784"/>
            <a:ext cx="3566160" cy="16916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1700784"/>
            <a:ext cx="50292" cy="1691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4464" y="1828800"/>
            <a:ext cx="3200400" cy="548640"/>
          </a:xfrm>
          <a:prstGeom prst="rect">
            <a:avLst/>
          </a:prstGeom>
          <a:noFill/>
        </p:spPr>
        <p:txBody>
          <a:bodyPr wrap="square">
            <a:spAutoFit/>
          </a:bodyPr>
          <a:lstStyle/>
          <a:p>
            <a:pPr algn="l">
              <a:spcAft>
                <a:spcPts val="0"/>
              </a:spcAft>
            </a:pPr>
            <a:r>
              <a:rPr sz="2600" b="1" i="0">
                <a:solidFill>
                  <a:srgbClr val="0E7490"/>
                </a:solidFill>
                <a:latin typeface="Segoe UI"/>
              </a:rPr>
              <a:t>Surveiller</a:t>
            </a:r>
          </a:p>
        </p:txBody>
      </p:sp>
      <p:sp>
        <p:nvSpPr>
          <p:cNvPr id="22" name="TextBox 21"/>
          <p:cNvSpPr txBox="1"/>
          <p:nvPr/>
        </p:nvSpPr>
        <p:spPr>
          <a:xfrm>
            <a:off x="8284464" y="2359152"/>
            <a:ext cx="3200400" cy="457200"/>
          </a:xfrm>
          <a:prstGeom prst="rect">
            <a:avLst/>
          </a:prstGeom>
          <a:noFill/>
        </p:spPr>
        <p:txBody>
          <a:bodyPr wrap="square">
            <a:spAutoFit/>
          </a:bodyPr>
          <a:lstStyle/>
          <a:p>
            <a:pPr algn="l">
              <a:spcAft>
                <a:spcPts val="0"/>
              </a:spcAft>
            </a:pPr>
            <a:r>
              <a:rPr sz="1400" b="1" i="0">
                <a:solidFill>
                  <a:srgbClr val="1F2937"/>
                </a:solidFill>
                <a:latin typeface="Segoe UI"/>
              </a:rPr>
              <a:t>Détecter l'anormal</a:t>
            </a:r>
          </a:p>
        </p:txBody>
      </p:sp>
      <p:sp>
        <p:nvSpPr>
          <p:cNvPr id="23" name="TextBox 22"/>
          <p:cNvSpPr txBox="1"/>
          <p:nvPr/>
        </p:nvSpPr>
        <p:spPr>
          <a:xfrm>
            <a:off x="8284464" y="2670048"/>
            <a:ext cx="3182112" cy="640080"/>
          </a:xfrm>
          <a:prstGeom prst="rect">
            <a:avLst/>
          </a:prstGeom>
          <a:noFill/>
        </p:spPr>
        <p:txBody>
          <a:bodyPr wrap="square">
            <a:spAutoFit/>
          </a:bodyPr>
          <a:lstStyle/>
          <a:p>
            <a:pPr algn="l">
              <a:spcAft>
                <a:spcPts val="0"/>
              </a:spcAft>
            </a:pPr>
            <a:r>
              <a:rPr sz="1200" b="0" i="0">
                <a:solidFill>
                  <a:srgbClr val="64748B"/>
                </a:solidFill>
                <a:latin typeface="Segoe UI"/>
              </a:rPr>
              <a:t>Repérer en temps réel ce qui dévie, sans disposer d'anomalies étiquetées en production.</a:t>
            </a:r>
          </a:p>
        </p:txBody>
      </p:sp>
      <p:sp>
        <p:nvSpPr>
          <p:cNvPr id="24" name="Rectangle 23"/>
          <p:cNvSpPr/>
          <p:nvPr/>
        </p:nvSpPr>
        <p:spPr>
          <a:xfrm>
            <a:off x="566928" y="3621024"/>
            <a:ext cx="11064240" cy="96012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739896"/>
            <a:ext cx="10698480" cy="292608"/>
          </a:xfrm>
          <a:prstGeom prst="rect">
            <a:avLst/>
          </a:prstGeom>
          <a:noFill/>
        </p:spPr>
        <p:txBody>
          <a:bodyPr wrap="square">
            <a:spAutoFit/>
          </a:bodyPr>
          <a:lstStyle/>
          <a:p>
            <a:pPr algn="l">
              <a:spcAft>
                <a:spcPts val="0"/>
              </a:spcAft>
            </a:pPr>
            <a:r>
              <a:rPr sz="1500" b="1" i="0">
                <a:solidFill>
                  <a:srgbClr val="0E7490"/>
                </a:solidFill>
                <a:latin typeface="Segoe UI"/>
              </a:rPr>
              <a:t>Un choix de périmètre à énoncer d'emblée : pas de deep learning</a:t>
            </a:r>
          </a:p>
        </p:txBody>
      </p:sp>
      <p:sp>
        <p:nvSpPr>
          <p:cNvPr id="26" name="TextBox 25"/>
          <p:cNvSpPr txBox="1"/>
          <p:nvPr/>
        </p:nvSpPr>
        <p:spPr>
          <a:xfrm>
            <a:off x="768096" y="4096512"/>
            <a:ext cx="10680192" cy="411480"/>
          </a:xfrm>
          <a:prstGeom prst="rect">
            <a:avLst/>
          </a:prstGeom>
          <a:noFill/>
        </p:spPr>
        <p:txBody>
          <a:bodyPr wrap="square">
            <a:spAutoFit/>
          </a:bodyPr>
          <a:lstStyle/>
          <a:p>
            <a:pPr algn="l">
              <a:spcAft>
                <a:spcPts val="0"/>
              </a:spcAft>
            </a:pPr>
            <a:r>
              <a:rPr sz="1500" b="0" i="0">
                <a:solidFill>
                  <a:srgbClr val="1F2937"/>
                </a:solidFill>
                <a:latin typeface="Segoe UI"/>
              </a:rPr>
              <a:t>Les données sont tabulaires et de faible volume (4 320 observations). Le benchmark montre qu'un modèle linéaire régularisé
bat XGBoost et LightGBM — y compris après réglage d'hyperparamètres. Ce n'est pas un renoncement, c'est un résultat mesuré.</a:t>
            </a:r>
          </a:p>
        </p:txBody>
      </p:sp>
      <p:sp>
        <p:nvSpPr>
          <p:cNvPr id="27" name="TextBox 26"/>
          <p:cNvSpPr txBox="1"/>
          <p:nvPr/>
        </p:nvSpPr>
        <p:spPr>
          <a:xfrm>
            <a:off x="566928" y="4764024"/>
            <a:ext cx="11064240" cy="365760"/>
          </a:xfrm>
          <a:prstGeom prst="rect">
            <a:avLst/>
          </a:prstGeom>
          <a:noFill/>
        </p:spPr>
        <p:txBody>
          <a:bodyPr wrap="square">
            <a:spAutoFit/>
          </a:bodyPr>
          <a:lstStyle/>
          <a:p>
            <a:pPr algn="l">
              <a:spcAft>
                <a:spcPts val="0"/>
              </a:spcAft>
            </a:pPr>
            <a:r>
              <a:rPr sz="1700" b="1" i="0">
                <a:solidFill>
                  <a:srgbClr val="0F2942"/>
                </a:solidFill>
                <a:latin typeface="Segoe UI"/>
              </a:rPr>
              <a:t>Fil rouge  ·  Contexte  →  Architecture  →  Données  →  4 briques IA  →  Ce qui est vérifié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VUE D'ENSEMBLE</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Une architecture au service de quatre modèles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13 microservices en deux écosystèmes — les cinq services qui portent l'IA sont mis en évidence.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Architecture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3</a:t>
            </a:r>
          </a:p>
        </p:txBody>
      </p:sp>
      <p:sp>
        <p:nvSpPr>
          <p:cNvPr id="10" name="TextBox 9"/>
          <p:cNvSpPr txBox="1"/>
          <p:nvPr/>
        </p:nvSpPr>
        <p:spPr>
          <a:xfrm>
            <a:off x="566928" y="2103120"/>
            <a:ext cx="2743200" cy="274320"/>
          </a:xfrm>
          <a:prstGeom prst="rect">
            <a:avLst/>
          </a:prstGeom>
          <a:noFill/>
        </p:spPr>
        <p:txBody>
          <a:bodyPr wrap="square">
            <a:spAutoFit/>
          </a:bodyPr>
          <a:lstStyle/>
          <a:p>
            <a:pPr algn="l">
              <a:spcAft>
                <a:spcPts val="0"/>
              </a:spcAft>
            </a:pPr>
            <a:r>
              <a:rPr sz="1100" b="1" i="0">
                <a:solidFill>
                  <a:srgbClr val="64748B"/>
                </a:solidFill>
                <a:latin typeface="Segoe UI"/>
              </a:rPr>
              <a:t>CLIENTS</a:t>
            </a:r>
          </a:p>
        </p:txBody>
      </p:sp>
      <p:sp>
        <p:nvSpPr>
          <p:cNvPr id="11" name="Rectangle 10"/>
          <p:cNvSpPr/>
          <p:nvPr/>
        </p:nvSpPr>
        <p:spPr>
          <a:xfrm>
            <a:off x="566928" y="2377440"/>
            <a:ext cx="3383280" cy="658368"/>
          </a:xfrm>
          <a:prstGeom prst="rect">
            <a:avLst/>
          </a:prstGeom>
          <a:solidFill>
            <a:srgbClr val="1B3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2459736"/>
            <a:ext cx="3200400" cy="274320"/>
          </a:xfrm>
          <a:prstGeom prst="rect">
            <a:avLst/>
          </a:prstGeom>
          <a:noFill/>
        </p:spPr>
        <p:txBody>
          <a:bodyPr wrap="square">
            <a:spAutoFit/>
          </a:bodyPr>
          <a:lstStyle/>
          <a:p>
            <a:pPr algn="ctr">
              <a:spcAft>
                <a:spcPts val="0"/>
              </a:spcAft>
            </a:pPr>
            <a:r>
              <a:rPr sz="1500" b="1" i="0">
                <a:solidFill>
                  <a:srgbClr val="FFFFFF"/>
                </a:solidFill>
                <a:latin typeface="Segoe UI"/>
              </a:rPr>
              <a:t>Console web  ·  React 19</a:t>
            </a:r>
          </a:p>
        </p:txBody>
      </p:sp>
      <p:sp>
        <p:nvSpPr>
          <p:cNvPr id="13" name="TextBox 12"/>
          <p:cNvSpPr txBox="1"/>
          <p:nvPr/>
        </p:nvSpPr>
        <p:spPr>
          <a:xfrm>
            <a:off x="658368" y="2706624"/>
            <a:ext cx="3236976" cy="274320"/>
          </a:xfrm>
          <a:prstGeom prst="rect">
            <a:avLst/>
          </a:prstGeom>
          <a:noFill/>
        </p:spPr>
        <p:txBody>
          <a:bodyPr wrap="square">
            <a:spAutoFit/>
          </a:bodyPr>
          <a:lstStyle/>
          <a:p>
            <a:pPr algn="ctr">
              <a:spcAft>
                <a:spcPts val="0"/>
              </a:spcAft>
            </a:pPr>
            <a:r>
              <a:rPr sz="1100" b="0" i="0">
                <a:solidFill>
                  <a:srgbClr val="FFFFFF"/>
                </a:solidFill>
                <a:latin typeface="Segoe UI"/>
              </a:rPr>
              <a:t>3 rôles · 27 routes</a:t>
            </a:r>
          </a:p>
        </p:txBody>
      </p:sp>
      <p:sp>
        <p:nvSpPr>
          <p:cNvPr id="14" name="Rectangle 13"/>
          <p:cNvSpPr/>
          <p:nvPr/>
        </p:nvSpPr>
        <p:spPr>
          <a:xfrm>
            <a:off x="4133087" y="2377440"/>
            <a:ext cx="3383280" cy="658368"/>
          </a:xfrm>
          <a:prstGeom prst="rect">
            <a:avLst/>
          </a:prstGeom>
          <a:solidFill>
            <a:srgbClr val="1B3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42815" y="2459736"/>
            <a:ext cx="3200400" cy="274320"/>
          </a:xfrm>
          <a:prstGeom prst="rect">
            <a:avLst/>
          </a:prstGeom>
          <a:noFill/>
        </p:spPr>
        <p:txBody>
          <a:bodyPr wrap="square">
            <a:spAutoFit/>
          </a:bodyPr>
          <a:lstStyle/>
          <a:p>
            <a:pPr algn="ctr">
              <a:spcAft>
                <a:spcPts val="0"/>
              </a:spcAft>
            </a:pPr>
            <a:r>
              <a:rPr sz="1500" b="1" i="0">
                <a:solidFill>
                  <a:srgbClr val="FFFFFF"/>
                </a:solidFill>
                <a:latin typeface="Segoe UI"/>
              </a:rPr>
              <a:t>App parent  ·  Flutter</a:t>
            </a:r>
          </a:p>
        </p:txBody>
      </p:sp>
      <p:sp>
        <p:nvSpPr>
          <p:cNvPr id="16" name="TextBox 15"/>
          <p:cNvSpPr txBox="1"/>
          <p:nvPr/>
        </p:nvSpPr>
        <p:spPr>
          <a:xfrm>
            <a:off x="4224527" y="2706624"/>
            <a:ext cx="3236976" cy="274320"/>
          </a:xfrm>
          <a:prstGeom prst="rect">
            <a:avLst/>
          </a:prstGeom>
          <a:noFill/>
        </p:spPr>
        <p:txBody>
          <a:bodyPr wrap="square">
            <a:spAutoFit/>
          </a:bodyPr>
          <a:lstStyle/>
          <a:p>
            <a:pPr algn="ctr">
              <a:spcAft>
                <a:spcPts val="0"/>
              </a:spcAft>
            </a:pPr>
            <a:r>
              <a:rPr sz="1100" b="0" i="0">
                <a:solidFill>
                  <a:srgbClr val="FFFFFF"/>
                </a:solidFill>
                <a:latin typeface="Segoe UI"/>
              </a:rPr>
              <a:t>8 écrans</a:t>
            </a:r>
          </a:p>
        </p:txBody>
      </p:sp>
      <p:sp>
        <p:nvSpPr>
          <p:cNvPr id="17" name="Rectangle 16"/>
          <p:cNvSpPr/>
          <p:nvPr/>
        </p:nvSpPr>
        <p:spPr>
          <a:xfrm>
            <a:off x="7699248" y="2377440"/>
            <a:ext cx="3931920" cy="658368"/>
          </a:xfrm>
          <a:prstGeom prst="rect">
            <a:avLst/>
          </a:prstGeom>
          <a:solidFill>
            <a:srgbClr val="1B3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08976" y="2459736"/>
            <a:ext cx="3749040" cy="274320"/>
          </a:xfrm>
          <a:prstGeom prst="rect">
            <a:avLst/>
          </a:prstGeom>
          <a:noFill/>
        </p:spPr>
        <p:txBody>
          <a:bodyPr wrap="square">
            <a:spAutoFit/>
          </a:bodyPr>
          <a:lstStyle/>
          <a:p>
            <a:pPr algn="ctr">
              <a:spcAft>
                <a:spcPts val="0"/>
              </a:spcAft>
            </a:pPr>
            <a:r>
              <a:rPr sz="1500" b="1" i="0">
                <a:solidFill>
                  <a:srgbClr val="FFFFFF"/>
                </a:solidFill>
                <a:latin typeface="Segoe UI"/>
              </a:rPr>
              <a:t>App chauffeur  ·  Flutter</a:t>
            </a:r>
          </a:p>
        </p:txBody>
      </p:sp>
      <p:sp>
        <p:nvSpPr>
          <p:cNvPr id="19" name="TextBox 18"/>
          <p:cNvSpPr txBox="1"/>
          <p:nvPr/>
        </p:nvSpPr>
        <p:spPr>
          <a:xfrm>
            <a:off x="7790688" y="2706624"/>
            <a:ext cx="3785616" cy="274320"/>
          </a:xfrm>
          <a:prstGeom prst="rect">
            <a:avLst/>
          </a:prstGeom>
          <a:noFill/>
        </p:spPr>
        <p:txBody>
          <a:bodyPr wrap="square">
            <a:spAutoFit/>
          </a:bodyPr>
          <a:lstStyle/>
          <a:p>
            <a:pPr algn="ctr">
              <a:spcAft>
                <a:spcPts val="0"/>
              </a:spcAft>
            </a:pPr>
            <a:r>
              <a:rPr sz="1100" b="0" i="0">
                <a:solidFill>
                  <a:srgbClr val="FFFFFF"/>
                </a:solidFill>
                <a:latin typeface="Segoe UI"/>
              </a:rPr>
              <a:t>9 écrans · source GPS</a:t>
            </a:r>
          </a:p>
        </p:txBody>
      </p:sp>
      <p:sp>
        <p:nvSpPr>
          <p:cNvPr id="20" name="Rectangle 19"/>
          <p:cNvSpPr/>
          <p:nvPr/>
        </p:nvSpPr>
        <p:spPr>
          <a:xfrm>
            <a:off x="566928" y="3218688"/>
            <a:ext cx="11064240" cy="603504"/>
          </a:xfrm>
          <a:prstGeom prst="rect">
            <a:avLst/>
          </a:prstGeom>
          <a:solidFill>
            <a:srgbClr val="0F2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3300984"/>
            <a:ext cx="10881360" cy="274320"/>
          </a:xfrm>
          <a:prstGeom prst="rect">
            <a:avLst/>
          </a:prstGeom>
          <a:noFill/>
        </p:spPr>
        <p:txBody>
          <a:bodyPr wrap="square">
            <a:spAutoFit/>
          </a:bodyPr>
          <a:lstStyle/>
          <a:p>
            <a:pPr algn="ctr">
              <a:spcAft>
                <a:spcPts val="0"/>
              </a:spcAft>
            </a:pPr>
            <a:r>
              <a:rPr sz="1600" b="1" i="0">
                <a:solidFill>
                  <a:srgbClr val="FFFFFF"/>
                </a:solidFill>
                <a:latin typeface="Segoe UI"/>
              </a:rPr>
              <a:t>API GATEWAY  ·  Spring Cloud  ·  JWT + rate limiting Redis</a:t>
            </a:r>
          </a:p>
        </p:txBody>
      </p:sp>
      <p:sp>
        <p:nvSpPr>
          <p:cNvPr id="22" name="TextBox 21"/>
          <p:cNvSpPr txBox="1"/>
          <p:nvPr/>
        </p:nvSpPr>
        <p:spPr>
          <a:xfrm>
            <a:off x="566928" y="3977639"/>
            <a:ext cx="4572000" cy="274320"/>
          </a:xfrm>
          <a:prstGeom prst="rect">
            <a:avLst/>
          </a:prstGeom>
          <a:noFill/>
        </p:spPr>
        <p:txBody>
          <a:bodyPr wrap="square">
            <a:spAutoFit/>
          </a:bodyPr>
          <a:lstStyle/>
          <a:p>
            <a:pPr algn="l">
              <a:spcAft>
                <a:spcPts val="0"/>
              </a:spcAft>
            </a:pPr>
            <a:r>
              <a:rPr sz="1100" b="1" i="0">
                <a:solidFill>
                  <a:srgbClr val="64748B"/>
                </a:solidFill>
                <a:latin typeface="Segoe UI"/>
              </a:rPr>
              <a:t>SERVICES MÉTIER  ·  Java / Spring Boot</a:t>
            </a:r>
          </a:p>
        </p:txBody>
      </p:sp>
      <p:sp>
        <p:nvSpPr>
          <p:cNvPr id="23" name="Rectangle 22"/>
          <p:cNvSpPr/>
          <p:nvPr/>
        </p:nvSpPr>
        <p:spPr>
          <a:xfrm>
            <a:off x="566928" y="4251960"/>
            <a:ext cx="713232" cy="603504"/>
          </a:xfrm>
          <a:prstGeom prst="rect">
            <a:avLst/>
          </a:prstGeom>
          <a:solidFill>
            <a:srgbClr val="335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4334256"/>
            <a:ext cx="530352" cy="274320"/>
          </a:xfrm>
          <a:prstGeom prst="rect">
            <a:avLst/>
          </a:prstGeom>
          <a:noFill/>
        </p:spPr>
        <p:txBody>
          <a:bodyPr wrap="square">
            <a:spAutoFit/>
          </a:bodyPr>
          <a:lstStyle/>
          <a:p>
            <a:pPr algn="ctr">
              <a:spcAft>
                <a:spcPts val="0"/>
              </a:spcAft>
            </a:pPr>
            <a:r>
              <a:rPr sz="1100" b="1" i="0">
                <a:solidFill>
                  <a:srgbClr val="FFFFFF"/>
                </a:solidFill>
                <a:latin typeface="Segoe UI"/>
              </a:rPr>
              <a:t>MS7</a:t>
            </a:r>
          </a:p>
        </p:txBody>
      </p:sp>
      <p:sp>
        <p:nvSpPr>
          <p:cNvPr id="25" name="TextBox 24"/>
          <p:cNvSpPr txBox="1"/>
          <p:nvPr/>
        </p:nvSpPr>
        <p:spPr>
          <a:xfrm>
            <a:off x="658368" y="4581144"/>
            <a:ext cx="566928" cy="274320"/>
          </a:xfrm>
          <a:prstGeom prst="rect">
            <a:avLst/>
          </a:prstGeom>
          <a:noFill/>
        </p:spPr>
        <p:txBody>
          <a:bodyPr wrap="square">
            <a:spAutoFit/>
          </a:bodyPr>
          <a:lstStyle/>
          <a:p>
            <a:pPr algn="ctr">
              <a:spcAft>
                <a:spcPts val="0"/>
              </a:spcAft>
            </a:pPr>
            <a:r>
              <a:rPr sz="1100" b="0" i="0">
                <a:solidFill>
                  <a:srgbClr val="FFFFFF"/>
                </a:solidFill>
                <a:latin typeface="Segoe UI"/>
              </a:rPr>
              <a:t>Auth</a:t>
            </a:r>
          </a:p>
        </p:txBody>
      </p:sp>
      <p:sp>
        <p:nvSpPr>
          <p:cNvPr id="26" name="Rectangle 25"/>
          <p:cNvSpPr/>
          <p:nvPr/>
        </p:nvSpPr>
        <p:spPr>
          <a:xfrm>
            <a:off x="1344168" y="4251960"/>
            <a:ext cx="713232" cy="603504"/>
          </a:xfrm>
          <a:prstGeom prst="rect">
            <a:avLst/>
          </a:prstGeom>
          <a:solidFill>
            <a:srgbClr val="335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3896" y="4334256"/>
            <a:ext cx="530352" cy="274320"/>
          </a:xfrm>
          <a:prstGeom prst="rect">
            <a:avLst/>
          </a:prstGeom>
          <a:noFill/>
        </p:spPr>
        <p:txBody>
          <a:bodyPr wrap="square">
            <a:spAutoFit/>
          </a:bodyPr>
          <a:lstStyle/>
          <a:p>
            <a:pPr algn="ctr">
              <a:spcAft>
                <a:spcPts val="0"/>
              </a:spcAft>
            </a:pPr>
            <a:r>
              <a:rPr sz="1100" b="1" i="0">
                <a:solidFill>
                  <a:srgbClr val="FFFFFF"/>
                </a:solidFill>
                <a:latin typeface="Segoe UI"/>
              </a:rPr>
              <a:t>MS1</a:t>
            </a:r>
          </a:p>
        </p:txBody>
      </p:sp>
      <p:sp>
        <p:nvSpPr>
          <p:cNvPr id="28" name="TextBox 27"/>
          <p:cNvSpPr txBox="1"/>
          <p:nvPr/>
        </p:nvSpPr>
        <p:spPr>
          <a:xfrm>
            <a:off x="1435608" y="4581144"/>
            <a:ext cx="566928" cy="274320"/>
          </a:xfrm>
          <a:prstGeom prst="rect">
            <a:avLst/>
          </a:prstGeom>
          <a:noFill/>
        </p:spPr>
        <p:txBody>
          <a:bodyPr wrap="square">
            <a:spAutoFit/>
          </a:bodyPr>
          <a:lstStyle/>
          <a:p>
            <a:pPr algn="ctr">
              <a:spcAft>
                <a:spcPts val="0"/>
              </a:spcAft>
            </a:pPr>
            <a:r>
              <a:rPr sz="1100" b="0" i="0">
                <a:solidFill>
                  <a:srgbClr val="FFFFFF"/>
                </a:solidFill>
                <a:latin typeface="Segoe UI"/>
              </a:rPr>
              <a:t>Bus</a:t>
            </a:r>
          </a:p>
        </p:txBody>
      </p:sp>
      <p:sp>
        <p:nvSpPr>
          <p:cNvPr id="29" name="Rectangle 28"/>
          <p:cNvSpPr/>
          <p:nvPr/>
        </p:nvSpPr>
        <p:spPr>
          <a:xfrm>
            <a:off x="2121408" y="4251960"/>
            <a:ext cx="713232" cy="603504"/>
          </a:xfrm>
          <a:prstGeom prst="rect">
            <a:avLst/>
          </a:prstGeom>
          <a:solidFill>
            <a:srgbClr val="335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31136" y="4334256"/>
            <a:ext cx="530352" cy="274320"/>
          </a:xfrm>
          <a:prstGeom prst="rect">
            <a:avLst/>
          </a:prstGeom>
          <a:noFill/>
        </p:spPr>
        <p:txBody>
          <a:bodyPr wrap="square">
            <a:spAutoFit/>
          </a:bodyPr>
          <a:lstStyle/>
          <a:p>
            <a:pPr algn="ctr">
              <a:spcAft>
                <a:spcPts val="0"/>
              </a:spcAft>
            </a:pPr>
            <a:r>
              <a:rPr sz="1100" b="1" i="0">
                <a:solidFill>
                  <a:srgbClr val="FFFFFF"/>
                </a:solidFill>
                <a:latin typeface="Segoe UI"/>
              </a:rPr>
              <a:t>MS2</a:t>
            </a:r>
          </a:p>
        </p:txBody>
      </p:sp>
      <p:sp>
        <p:nvSpPr>
          <p:cNvPr id="31" name="TextBox 30"/>
          <p:cNvSpPr txBox="1"/>
          <p:nvPr/>
        </p:nvSpPr>
        <p:spPr>
          <a:xfrm>
            <a:off x="2212848" y="4581144"/>
            <a:ext cx="566928" cy="274320"/>
          </a:xfrm>
          <a:prstGeom prst="rect">
            <a:avLst/>
          </a:prstGeom>
          <a:noFill/>
        </p:spPr>
        <p:txBody>
          <a:bodyPr wrap="square">
            <a:spAutoFit/>
          </a:bodyPr>
          <a:lstStyle/>
          <a:p>
            <a:pPr algn="ctr">
              <a:spcAft>
                <a:spcPts val="0"/>
              </a:spcAft>
            </a:pPr>
            <a:r>
              <a:rPr sz="1100" b="0" i="0">
                <a:solidFill>
                  <a:srgbClr val="FFFFFF"/>
                </a:solidFill>
                <a:latin typeface="Segoe UI"/>
              </a:rPr>
              <a:t>Élèves</a:t>
            </a:r>
          </a:p>
        </p:txBody>
      </p:sp>
      <p:sp>
        <p:nvSpPr>
          <p:cNvPr id="32" name="Rectangle 31"/>
          <p:cNvSpPr/>
          <p:nvPr/>
        </p:nvSpPr>
        <p:spPr>
          <a:xfrm>
            <a:off x="2898648" y="4251960"/>
            <a:ext cx="713232" cy="603504"/>
          </a:xfrm>
          <a:prstGeom prst="rect">
            <a:avLst/>
          </a:prstGeom>
          <a:solidFill>
            <a:srgbClr val="335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08376" y="4334256"/>
            <a:ext cx="530352" cy="274320"/>
          </a:xfrm>
          <a:prstGeom prst="rect">
            <a:avLst/>
          </a:prstGeom>
          <a:noFill/>
        </p:spPr>
        <p:txBody>
          <a:bodyPr wrap="square">
            <a:spAutoFit/>
          </a:bodyPr>
          <a:lstStyle/>
          <a:p>
            <a:pPr algn="ctr">
              <a:spcAft>
                <a:spcPts val="0"/>
              </a:spcAft>
            </a:pPr>
            <a:r>
              <a:rPr sz="1100" b="1" i="0">
                <a:solidFill>
                  <a:srgbClr val="FFFFFF"/>
                </a:solidFill>
                <a:latin typeface="Segoe UI"/>
              </a:rPr>
              <a:t>MS3</a:t>
            </a:r>
          </a:p>
        </p:txBody>
      </p:sp>
      <p:sp>
        <p:nvSpPr>
          <p:cNvPr id="34" name="TextBox 33"/>
          <p:cNvSpPr txBox="1"/>
          <p:nvPr/>
        </p:nvSpPr>
        <p:spPr>
          <a:xfrm>
            <a:off x="2990088" y="4581144"/>
            <a:ext cx="566928" cy="274320"/>
          </a:xfrm>
          <a:prstGeom prst="rect">
            <a:avLst/>
          </a:prstGeom>
          <a:noFill/>
        </p:spPr>
        <p:txBody>
          <a:bodyPr wrap="square">
            <a:spAutoFit/>
          </a:bodyPr>
          <a:lstStyle/>
          <a:p>
            <a:pPr algn="ctr">
              <a:spcAft>
                <a:spcPts val="0"/>
              </a:spcAft>
            </a:pPr>
            <a:r>
              <a:rPr sz="1100" b="0" i="0">
                <a:solidFill>
                  <a:srgbClr val="FFFFFF"/>
                </a:solidFill>
                <a:latin typeface="Segoe UI"/>
              </a:rPr>
              <a:t>GPS</a:t>
            </a:r>
          </a:p>
        </p:txBody>
      </p:sp>
      <p:sp>
        <p:nvSpPr>
          <p:cNvPr id="35" name="Rectangle 34"/>
          <p:cNvSpPr/>
          <p:nvPr/>
        </p:nvSpPr>
        <p:spPr>
          <a:xfrm>
            <a:off x="3675888" y="4251960"/>
            <a:ext cx="713232" cy="603504"/>
          </a:xfrm>
          <a:prstGeom prst="rect">
            <a:avLst/>
          </a:prstGeom>
          <a:solidFill>
            <a:srgbClr val="335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85616" y="4334256"/>
            <a:ext cx="530352" cy="274320"/>
          </a:xfrm>
          <a:prstGeom prst="rect">
            <a:avLst/>
          </a:prstGeom>
          <a:noFill/>
        </p:spPr>
        <p:txBody>
          <a:bodyPr wrap="square">
            <a:spAutoFit/>
          </a:bodyPr>
          <a:lstStyle/>
          <a:p>
            <a:pPr algn="ctr">
              <a:spcAft>
                <a:spcPts val="0"/>
              </a:spcAft>
            </a:pPr>
            <a:r>
              <a:rPr sz="1100" b="1" i="0">
                <a:solidFill>
                  <a:srgbClr val="FFFFFF"/>
                </a:solidFill>
                <a:latin typeface="Segoe UI"/>
              </a:rPr>
              <a:t>MS4</a:t>
            </a:r>
          </a:p>
        </p:txBody>
      </p:sp>
      <p:sp>
        <p:nvSpPr>
          <p:cNvPr id="37" name="TextBox 36"/>
          <p:cNvSpPr txBox="1"/>
          <p:nvPr/>
        </p:nvSpPr>
        <p:spPr>
          <a:xfrm>
            <a:off x="3767328" y="4581144"/>
            <a:ext cx="566928" cy="274320"/>
          </a:xfrm>
          <a:prstGeom prst="rect">
            <a:avLst/>
          </a:prstGeom>
          <a:noFill/>
        </p:spPr>
        <p:txBody>
          <a:bodyPr wrap="square">
            <a:spAutoFit/>
          </a:bodyPr>
          <a:lstStyle/>
          <a:p>
            <a:pPr algn="ctr">
              <a:spcAft>
                <a:spcPts val="0"/>
              </a:spcAft>
            </a:pPr>
            <a:r>
              <a:rPr sz="1100" b="0" i="0">
                <a:solidFill>
                  <a:srgbClr val="FFFFFF"/>
                </a:solidFill>
                <a:latin typeface="Segoe UI"/>
              </a:rPr>
              <a:t>Notif.</a:t>
            </a:r>
          </a:p>
        </p:txBody>
      </p:sp>
      <p:sp>
        <p:nvSpPr>
          <p:cNvPr id="38" name="Rectangle 37"/>
          <p:cNvSpPr/>
          <p:nvPr/>
        </p:nvSpPr>
        <p:spPr>
          <a:xfrm>
            <a:off x="4453128" y="4251960"/>
            <a:ext cx="713232" cy="603504"/>
          </a:xfrm>
          <a:prstGeom prst="rect">
            <a:avLst/>
          </a:prstGeom>
          <a:solidFill>
            <a:srgbClr val="335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62856" y="4334256"/>
            <a:ext cx="530352" cy="274320"/>
          </a:xfrm>
          <a:prstGeom prst="rect">
            <a:avLst/>
          </a:prstGeom>
          <a:noFill/>
        </p:spPr>
        <p:txBody>
          <a:bodyPr wrap="square">
            <a:spAutoFit/>
          </a:bodyPr>
          <a:lstStyle/>
          <a:p>
            <a:pPr algn="ctr">
              <a:spcAft>
                <a:spcPts val="0"/>
              </a:spcAft>
            </a:pPr>
            <a:r>
              <a:rPr sz="1100" b="1" i="0">
                <a:solidFill>
                  <a:srgbClr val="FFFFFF"/>
                </a:solidFill>
                <a:latin typeface="Segoe UI"/>
              </a:rPr>
              <a:t>MS10</a:t>
            </a:r>
          </a:p>
        </p:txBody>
      </p:sp>
      <p:sp>
        <p:nvSpPr>
          <p:cNvPr id="40" name="TextBox 39"/>
          <p:cNvSpPr txBox="1"/>
          <p:nvPr/>
        </p:nvSpPr>
        <p:spPr>
          <a:xfrm>
            <a:off x="4544568" y="4581144"/>
            <a:ext cx="566928" cy="274320"/>
          </a:xfrm>
          <a:prstGeom prst="rect">
            <a:avLst/>
          </a:prstGeom>
          <a:noFill/>
        </p:spPr>
        <p:txBody>
          <a:bodyPr wrap="square">
            <a:spAutoFit/>
          </a:bodyPr>
          <a:lstStyle/>
          <a:p>
            <a:pPr algn="ctr">
              <a:spcAft>
                <a:spcPts val="0"/>
              </a:spcAft>
            </a:pPr>
            <a:r>
              <a:rPr sz="1100" b="0" i="0">
                <a:solidFill>
                  <a:srgbClr val="FFFFFF"/>
                </a:solidFill>
                <a:latin typeface="Segoe UI"/>
              </a:rPr>
              <a:t>Incid.</a:t>
            </a:r>
          </a:p>
        </p:txBody>
      </p:sp>
      <p:sp>
        <p:nvSpPr>
          <p:cNvPr id="41" name="Rectangle 40"/>
          <p:cNvSpPr/>
          <p:nvPr/>
        </p:nvSpPr>
        <p:spPr>
          <a:xfrm>
            <a:off x="5230368" y="4251960"/>
            <a:ext cx="713232" cy="603504"/>
          </a:xfrm>
          <a:prstGeom prst="rect">
            <a:avLst/>
          </a:prstGeom>
          <a:solidFill>
            <a:srgbClr val="335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40096" y="4334256"/>
            <a:ext cx="530352" cy="274320"/>
          </a:xfrm>
          <a:prstGeom prst="rect">
            <a:avLst/>
          </a:prstGeom>
          <a:noFill/>
        </p:spPr>
        <p:txBody>
          <a:bodyPr wrap="square">
            <a:spAutoFit/>
          </a:bodyPr>
          <a:lstStyle/>
          <a:p>
            <a:pPr algn="ctr">
              <a:spcAft>
                <a:spcPts val="0"/>
              </a:spcAft>
            </a:pPr>
            <a:r>
              <a:rPr sz="1100" b="1" i="0">
                <a:solidFill>
                  <a:srgbClr val="FFFFFF"/>
                </a:solidFill>
                <a:latin typeface="Segoe UI"/>
              </a:rPr>
              <a:t>MS13</a:t>
            </a:r>
          </a:p>
        </p:txBody>
      </p:sp>
      <p:sp>
        <p:nvSpPr>
          <p:cNvPr id="43" name="TextBox 42"/>
          <p:cNvSpPr txBox="1"/>
          <p:nvPr/>
        </p:nvSpPr>
        <p:spPr>
          <a:xfrm>
            <a:off x="5321808" y="4581144"/>
            <a:ext cx="566928" cy="274320"/>
          </a:xfrm>
          <a:prstGeom prst="rect">
            <a:avLst/>
          </a:prstGeom>
          <a:noFill/>
        </p:spPr>
        <p:txBody>
          <a:bodyPr wrap="square">
            <a:spAutoFit/>
          </a:bodyPr>
          <a:lstStyle/>
          <a:p>
            <a:pPr algn="ctr">
              <a:spcAft>
                <a:spcPts val="0"/>
              </a:spcAft>
            </a:pPr>
            <a:r>
              <a:rPr sz="1100" b="0" i="0">
                <a:solidFill>
                  <a:srgbClr val="FFFFFF"/>
                </a:solidFill>
                <a:latin typeface="Segoe UI"/>
              </a:rPr>
              <a:t>Config</a:t>
            </a:r>
          </a:p>
        </p:txBody>
      </p:sp>
      <p:sp>
        <p:nvSpPr>
          <p:cNvPr id="44" name="TextBox 43"/>
          <p:cNvSpPr txBox="1"/>
          <p:nvPr/>
        </p:nvSpPr>
        <p:spPr>
          <a:xfrm>
            <a:off x="6309360" y="3977639"/>
            <a:ext cx="5486400" cy="274320"/>
          </a:xfrm>
          <a:prstGeom prst="rect">
            <a:avLst/>
          </a:prstGeom>
          <a:noFill/>
        </p:spPr>
        <p:txBody>
          <a:bodyPr wrap="square">
            <a:spAutoFit/>
          </a:bodyPr>
          <a:lstStyle/>
          <a:p>
            <a:pPr algn="l">
              <a:spcAft>
                <a:spcPts val="0"/>
              </a:spcAft>
            </a:pPr>
            <a:r>
              <a:rPr sz="1100" b="1" i="0">
                <a:solidFill>
                  <a:srgbClr val="0E7490"/>
                </a:solidFill>
                <a:latin typeface="Segoe UI"/>
              </a:rPr>
              <a:t>SERVICES IA  ·  Python / FastAPI</a:t>
            </a:r>
          </a:p>
        </p:txBody>
      </p:sp>
      <p:sp>
        <p:nvSpPr>
          <p:cNvPr id="45" name="Rectangle 44"/>
          <p:cNvSpPr/>
          <p:nvPr/>
        </p:nvSpPr>
        <p:spPr>
          <a:xfrm>
            <a:off x="6309360" y="4251960"/>
            <a:ext cx="1005840" cy="6035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9088" y="4334256"/>
            <a:ext cx="822960" cy="274320"/>
          </a:xfrm>
          <a:prstGeom prst="rect">
            <a:avLst/>
          </a:prstGeom>
          <a:noFill/>
        </p:spPr>
        <p:txBody>
          <a:bodyPr wrap="square">
            <a:spAutoFit/>
          </a:bodyPr>
          <a:lstStyle/>
          <a:p>
            <a:pPr algn="ctr">
              <a:spcAft>
                <a:spcPts val="0"/>
              </a:spcAft>
            </a:pPr>
            <a:r>
              <a:rPr sz="1400" b="1" i="0">
                <a:solidFill>
                  <a:srgbClr val="FFFFFF"/>
                </a:solidFill>
                <a:latin typeface="Segoe UI"/>
              </a:rPr>
              <a:t>MS6</a:t>
            </a:r>
          </a:p>
        </p:txBody>
      </p:sp>
      <p:sp>
        <p:nvSpPr>
          <p:cNvPr id="47" name="TextBox 46"/>
          <p:cNvSpPr txBox="1"/>
          <p:nvPr/>
        </p:nvSpPr>
        <p:spPr>
          <a:xfrm>
            <a:off x="6400800" y="4581144"/>
            <a:ext cx="859536" cy="274320"/>
          </a:xfrm>
          <a:prstGeom prst="rect">
            <a:avLst/>
          </a:prstGeom>
          <a:noFill/>
        </p:spPr>
        <p:txBody>
          <a:bodyPr wrap="square">
            <a:spAutoFit/>
          </a:bodyPr>
          <a:lstStyle/>
          <a:p>
            <a:pPr algn="ctr">
              <a:spcAft>
                <a:spcPts val="0"/>
              </a:spcAft>
            </a:pPr>
            <a:r>
              <a:rPr sz="1100" b="0" i="0">
                <a:solidFill>
                  <a:srgbClr val="FFFFFF"/>
                </a:solidFill>
                <a:latin typeface="Segoe UI"/>
              </a:rPr>
              <a:t>clustering</a:t>
            </a:r>
          </a:p>
        </p:txBody>
      </p:sp>
      <p:sp>
        <p:nvSpPr>
          <p:cNvPr id="48" name="Rectangle 47"/>
          <p:cNvSpPr/>
          <p:nvPr/>
        </p:nvSpPr>
        <p:spPr>
          <a:xfrm>
            <a:off x="7397496" y="4251960"/>
            <a:ext cx="1005840" cy="6035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507224" y="4334256"/>
            <a:ext cx="822960" cy="274320"/>
          </a:xfrm>
          <a:prstGeom prst="rect">
            <a:avLst/>
          </a:prstGeom>
          <a:noFill/>
        </p:spPr>
        <p:txBody>
          <a:bodyPr wrap="square">
            <a:spAutoFit/>
          </a:bodyPr>
          <a:lstStyle/>
          <a:p>
            <a:pPr algn="ctr">
              <a:spcAft>
                <a:spcPts val="0"/>
              </a:spcAft>
            </a:pPr>
            <a:r>
              <a:rPr sz="1400" b="1" i="0">
                <a:solidFill>
                  <a:srgbClr val="FFFFFF"/>
                </a:solidFill>
                <a:latin typeface="Segoe UI"/>
              </a:rPr>
              <a:t>MS5</a:t>
            </a:r>
          </a:p>
        </p:txBody>
      </p:sp>
      <p:sp>
        <p:nvSpPr>
          <p:cNvPr id="50" name="TextBox 49"/>
          <p:cNvSpPr txBox="1"/>
          <p:nvPr/>
        </p:nvSpPr>
        <p:spPr>
          <a:xfrm>
            <a:off x="7488936" y="4581144"/>
            <a:ext cx="859536" cy="274320"/>
          </a:xfrm>
          <a:prstGeom prst="rect">
            <a:avLst/>
          </a:prstGeom>
          <a:noFill/>
        </p:spPr>
        <p:txBody>
          <a:bodyPr wrap="square">
            <a:spAutoFit/>
          </a:bodyPr>
          <a:lstStyle/>
          <a:p>
            <a:pPr algn="ctr">
              <a:spcAft>
                <a:spcPts val="0"/>
              </a:spcAft>
            </a:pPr>
            <a:r>
              <a:rPr sz="1100" b="0" i="0">
                <a:solidFill>
                  <a:srgbClr val="FFFFFF"/>
                </a:solidFill>
                <a:latin typeface="Segoe UI"/>
              </a:rPr>
              <a:t>VRP</a:t>
            </a:r>
          </a:p>
        </p:txBody>
      </p:sp>
      <p:sp>
        <p:nvSpPr>
          <p:cNvPr id="51" name="Rectangle 50"/>
          <p:cNvSpPr/>
          <p:nvPr/>
        </p:nvSpPr>
        <p:spPr>
          <a:xfrm>
            <a:off x="8485632" y="4251960"/>
            <a:ext cx="1005840" cy="6035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95360" y="4334256"/>
            <a:ext cx="822960" cy="274320"/>
          </a:xfrm>
          <a:prstGeom prst="rect">
            <a:avLst/>
          </a:prstGeom>
          <a:noFill/>
        </p:spPr>
        <p:txBody>
          <a:bodyPr wrap="square">
            <a:spAutoFit/>
          </a:bodyPr>
          <a:lstStyle/>
          <a:p>
            <a:pPr algn="ctr">
              <a:spcAft>
                <a:spcPts val="0"/>
              </a:spcAft>
            </a:pPr>
            <a:r>
              <a:rPr sz="1400" b="1" i="0">
                <a:solidFill>
                  <a:srgbClr val="FFFFFF"/>
                </a:solidFill>
                <a:latin typeface="Segoe UI"/>
              </a:rPr>
              <a:t>MS12</a:t>
            </a:r>
          </a:p>
        </p:txBody>
      </p:sp>
      <p:sp>
        <p:nvSpPr>
          <p:cNvPr id="53" name="TextBox 52"/>
          <p:cNvSpPr txBox="1"/>
          <p:nvPr/>
        </p:nvSpPr>
        <p:spPr>
          <a:xfrm>
            <a:off x="8577072" y="4581144"/>
            <a:ext cx="859536" cy="274320"/>
          </a:xfrm>
          <a:prstGeom prst="rect">
            <a:avLst/>
          </a:prstGeom>
          <a:noFill/>
        </p:spPr>
        <p:txBody>
          <a:bodyPr wrap="square">
            <a:spAutoFit/>
          </a:bodyPr>
          <a:lstStyle/>
          <a:p>
            <a:pPr algn="ctr">
              <a:spcAft>
                <a:spcPts val="0"/>
              </a:spcAft>
            </a:pPr>
            <a:r>
              <a:rPr sz="1100" b="0" i="0">
                <a:solidFill>
                  <a:srgbClr val="FFFFFF"/>
                </a:solidFill>
                <a:latin typeface="Segoe UI"/>
              </a:rPr>
              <a:t>prédiction</a:t>
            </a:r>
          </a:p>
        </p:txBody>
      </p:sp>
      <p:sp>
        <p:nvSpPr>
          <p:cNvPr id="54" name="Rectangle 53"/>
          <p:cNvSpPr/>
          <p:nvPr/>
        </p:nvSpPr>
        <p:spPr>
          <a:xfrm>
            <a:off x="9573768" y="4251960"/>
            <a:ext cx="1005840" cy="6035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83496" y="4334256"/>
            <a:ext cx="822960" cy="274320"/>
          </a:xfrm>
          <a:prstGeom prst="rect">
            <a:avLst/>
          </a:prstGeom>
          <a:noFill/>
        </p:spPr>
        <p:txBody>
          <a:bodyPr wrap="square">
            <a:spAutoFit/>
          </a:bodyPr>
          <a:lstStyle/>
          <a:p>
            <a:pPr algn="ctr">
              <a:spcAft>
                <a:spcPts val="0"/>
              </a:spcAft>
            </a:pPr>
            <a:r>
              <a:rPr sz="1400" b="1" i="0">
                <a:solidFill>
                  <a:srgbClr val="FFFFFF"/>
                </a:solidFill>
                <a:latin typeface="Segoe UI"/>
              </a:rPr>
              <a:t>MS11</a:t>
            </a:r>
          </a:p>
        </p:txBody>
      </p:sp>
      <p:sp>
        <p:nvSpPr>
          <p:cNvPr id="56" name="TextBox 55"/>
          <p:cNvSpPr txBox="1"/>
          <p:nvPr/>
        </p:nvSpPr>
        <p:spPr>
          <a:xfrm>
            <a:off x="9665208" y="4581144"/>
            <a:ext cx="859536" cy="274320"/>
          </a:xfrm>
          <a:prstGeom prst="rect">
            <a:avLst/>
          </a:prstGeom>
          <a:noFill/>
        </p:spPr>
        <p:txBody>
          <a:bodyPr wrap="square">
            <a:spAutoFit/>
          </a:bodyPr>
          <a:lstStyle/>
          <a:p>
            <a:pPr algn="ctr">
              <a:spcAft>
                <a:spcPts val="0"/>
              </a:spcAft>
            </a:pPr>
            <a:r>
              <a:rPr sz="1100" b="0" i="0">
                <a:solidFill>
                  <a:srgbClr val="FFFFFF"/>
                </a:solidFill>
                <a:latin typeface="Segoe UI"/>
              </a:rPr>
              <a:t>anomalies</a:t>
            </a:r>
          </a:p>
        </p:txBody>
      </p:sp>
      <p:sp>
        <p:nvSpPr>
          <p:cNvPr id="57" name="Rectangle 56"/>
          <p:cNvSpPr/>
          <p:nvPr/>
        </p:nvSpPr>
        <p:spPr>
          <a:xfrm>
            <a:off x="10661904" y="4251960"/>
            <a:ext cx="1005840" cy="6035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771632" y="4334256"/>
            <a:ext cx="822960" cy="274320"/>
          </a:xfrm>
          <a:prstGeom prst="rect">
            <a:avLst/>
          </a:prstGeom>
          <a:noFill/>
        </p:spPr>
        <p:txBody>
          <a:bodyPr wrap="square">
            <a:spAutoFit/>
          </a:bodyPr>
          <a:lstStyle/>
          <a:p>
            <a:pPr algn="ctr">
              <a:spcAft>
                <a:spcPts val="0"/>
              </a:spcAft>
            </a:pPr>
            <a:r>
              <a:rPr sz="1400" b="1" i="0">
                <a:solidFill>
                  <a:srgbClr val="FFFFFF"/>
                </a:solidFill>
                <a:latin typeface="Segoe UI"/>
              </a:rPr>
              <a:t>MS9</a:t>
            </a:r>
          </a:p>
        </p:txBody>
      </p:sp>
      <p:sp>
        <p:nvSpPr>
          <p:cNvPr id="59" name="TextBox 58"/>
          <p:cNvSpPr txBox="1"/>
          <p:nvPr/>
        </p:nvSpPr>
        <p:spPr>
          <a:xfrm>
            <a:off x="10753344" y="4581144"/>
            <a:ext cx="859536" cy="274320"/>
          </a:xfrm>
          <a:prstGeom prst="rect">
            <a:avLst/>
          </a:prstGeom>
          <a:noFill/>
        </p:spPr>
        <p:txBody>
          <a:bodyPr wrap="square">
            <a:spAutoFit/>
          </a:bodyPr>
          <a:lstStyle/>
          <a:p>
            <a:pPr algn="ctr">
              <a:spcAft>
                <a:spcPts val="0"/>
              </a:spcAft>
            </a:pPr>
            <a:r>
              <a:rPr sz="1100" b="0" i="0">
                <a:solidFill>
                  <a:srgbClr val="FFFFFF"/>
                </a:solidFill>
                <a:latin typeface="Segoe UI"/>
              </a:rPr>
              <a:t>LLM</a:t>
            </a:r>
          </a:p>
        </p:txBody>
      </p:sp>
      <p:sp>
        <p:nvSpPr>
          <p:cNvPr id="60" name="Rectangle 59"/>
          <p:cNvSpPr/>
          <p:nvPr/>
        </p:nvSpPr>
        <p:spPr>
          <a:xfrm>
            <a:off x="566928" y="5029200"/>
            <a:ext cx="3383280" cy="566928"/>
          </a:xfrm>
          <a:prstGeom prst="rect">
            <a:avLst/>
          </a:prstGeom>
          <a:solidFill>
            <a:srgbClr val="4B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6656" y="5111496"/>
            <a:ext cx="3200400" cy="274320"/>
          </a:xfrm>
          <a:prstGeom prst="rect">
            <a:avLst/>
          </a:prstGeom>
          <a:noFill/>
        </p:spPr>
        <p:txBody>
          <a:bodyPr wrap="square">
            <a:spAutoFit/>
          </a:bodyPr>
          <a:lstStyle/>
          <a:p>
            <a:pPr algn="ctr">
              <a:spcAft>
                <a:spcPts val="0"/>
              </a:spcAft>
            </a:pPr>
            <a:r>
              <a:rPr sz="1400" b="1" i="0">
                <a:solidFill>
                  <a:srgbClr val="FFFFFF"/>
                </a:solidFill>
                <a:latin typeface="Segoe UI"/>
              </a:rPr>
              <a:t>PostgreSQL 15 + PostGIS</a:t>
            </a:r>
          </a:p>
        </p:txBody>
      </p:sp>
      <p:sp>
        <p:nvSpPr>
          <p:cNvPr id="62" name="Rectangle 61"/>
          <p:cNvSpPr/>
          <p:nvPr/>
        </p:nvSpPr>
        <p:spPr>
          <a:xfrm>
            <a:off x="4133087" y="5029200"/>
            <a:ext cx="3383280" cy="566928"/>
          </a:xfrm>
          <a:prstGeom prst="rect">
            <a:avLst/>
          </a:prstGeom>
          <a:solidFill>
            <a:srgbClr val="4B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42815" y="5111496"/>
            <a:ext cx="3200400" cy="274320"/>
          </a:xfrm>
          <a:prstGeom prst="rect">
            <a:avLst/>
          </a:prstGeom>
          <a:noFill/>
        </p:spPr>
        <p:txBody>
          <a:bodyPr wrap="square">
            <a:spAutoFit/>
          </a:bodyPr>
          <a:lstStyle/>
          <a:p>
            <a:pPr algn="ctr">
              <a:spcAft>
                <a:spcPts val="0"/>
              </a:spcAft>
            </a:pPr>
            <a:r>
              <a:rPr sz="1400" b="1" i="0">
                <a:solidFill>
                  <a:srgbClr val="FFFFFF"/>
                </a:solidFill>
                <a:latin typeface="Segoe UI"/>
              </a:rPr>
              <a:t>Redis  ·  cache GPS</a:t>
            </a:r>
          </a:p>
        </p:txBody>
      </p:sp>
      <p:sp>
        <p:nvSpPr>
          <p:cNvPr id="64" name="Rectangle 63"/>
          <p:cNvSpPr/>
          <p:nvPr/>
        </p:nvSpPr>
        <p:spPr>
          <a:xfrm>
            <a:off x="7699248" y="5029200"/>
            <a:ext cx="3931920"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08976" y="5111496"/>
            <a:ext cx="3749040" cy="274320"/>
          </a:xfrm>
          <a:prstGeom prst="rect">
            <a:avLst/>
          </a:prstGeom>
          <a:noFill/>
        </p:spPr>
        <p:txBody>
          <a:bodyPr wrap="square">
            <a:spAutoFit/>
          </a:bodyPr>
          <a:lstStyle/>
          <a:p>
            <a:pPr algn="ctr">
              <a:spcAft>
                <a:spcPts val="0"/>
              </a:spcAft>
            </a:pPr>
            <a:r>
              <a:rPr sz="1400" b="1" i="0">
                <a:solidFill>
                  <a:srgbClr val="FFFFFF"/>
                </a:solidFill>
                <a:latin typeface="Segoe UI"/>
              </a:rPr>
              <a:t>OSRM  ·  réseau routier de Meknès</a:t>
            </a:r>
          </a:p>
        </p:txBody>
      </p:sp>
      <p:sp>
        <p:nvSpPr>
          <p:cNvPr id="66" name="TextBox 65"/>
          <p:cNvSpPr txBox="1"/>
          <p:nvPr/>
        </p:nvSpPr>
        <p:spPr>
          <a:xfrm>
            <a:off x="566928" y="5715000"/>
            <a:ext cx="11064240" cy="365760"/>
          </a:xfrm>
          <a:prstGeom prst="rect">
            <a:avLst/>
          </a:prstGeom>
          <a:noFill/>
        </p:spPr>
        <p:txBody>
          <a:bodyPr wrap="square">
            <a:spAutoFit/>
          </a:bodyPr>
          <a:lstStyle/>
          <a:p>
            <a:pPr algn="ctr">
              <a:spcAft>
                <a:spcPts val="0"/>
              </a:spcAft>
            </a:pPr>
            <a:r>
              <a:rPr sz="1500" b="1" i="0">
                <a:solidFill>
                  <a:srgbClr val="0F2942"/>
                </a:solidFill>
                <a:latin typeface="Segoe UI"/>
              </a:rPr>
              <a:t>RabbitMQ  ·  un seul exchange topic  ·  16 clés de routage  ·  18 files consommées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COMMUNICATION</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Synchrone pour décider, asynchrone pour réagir</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Le bus d'événements n'est pas décoratif : il existe parce que trois chaînes portent de l'IA.</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Architecture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4</a:t>
            </a:r>
          </a:p>
        </p:txBody>
      </p:sp>
      <p:sp>
        <p:nvSpPr>
          <p:cNvPr id="10" name="Rectangle 9"/>
          <p:cNvSpPr/>
          <p:nvPr/>
        </p:nvSpPr>
        <p:spPr>
          <a:xfrm>
            <a:off x="566928" y="2103120"/>
            <a:ext cx="11064240" cy="1170432"/>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03120"/>
            <a:ext cx="45720" cy="117043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203704"/>
            <a:ext cx="10607040" cy="274320"/>
          </a:xfrm>
          <a:prstGeom prst="rect">
            <a:avLst/>
          </a:prstGeom>
          <a:noFill/>
        </p:spPr>
        <p:txBody>
          <a:bodyPr wrap="square">
            <a:spAutoFit/>
          </a:bodyPr>
          <a:lstStyle/>
          <a:p>
            <a:pPr algn="l">
              <a:spcAft>
                <a:spcPts val="0"/>
              </a:spcAft>
            </a:pPr>
            <a:r>
              <a:rPr sz="1700" b="1" i="0">
                <a:solidFill>
                  <a:srgbClr val="0F2942"/>
                </a:solidFill>
                <a:latin typeface="Segoe UI"/>
              </a:rPr>
              <a:t>Prédiction en continu</a:t>
            </a:r>
          </a:p>
        </p:txBody>
      </p:sp>
      <p:sp>
        <p:nvSpPr>
          <p:cNvPr id="13" name="TextBox 12"/>
          <p:cNvSpPr txBox="1"/>
          <p:nvPr/>
        </p:nvSpPr>
        <p:spPr>
          <a:xfrm>
            <a:off x="777240" y="2523744"/>
            <a:ext cx="10698480" cy="320040"/>
          </a:xfrm>
          <a:prstGeom prst="rect">
            <a:avLst/>
          </a:prstGeom>
          <a:noFill/>
        </p:spPr>
        <p:txBody>
          <a:bodyPr wrap="square">
            <a:spAutoFit/>
          </a:bodyPr>
          <a:lstStyle/>
          <a:p>
            <a:pPr algn="l">
              <a:spcAft>
                <a:spcPts val="0"/>
              </a:spcAft>
            </a:pPr>
            <a:r>
              <a:rPr sz="1500" b="1" i="0">
                <a:solidFill>
                  <a:srgbClr val="0E7490"/>
                </a:solidFill>
                <a:latin typeface="Segoe UI"/>
              </a:rPr>
              <a:t>MS3  →  gps.bus.updated  →  MS12 calcule l'ETA  →  eta.bus.arriving  →  MS4 notifie le parent</a:t>
            </a:r>
          </a:p>
        </p:txBody>
      </p:sp>
      <p:sp>
        <p:nvSpPr>
          <p:cNvPr id="14" name="TextBox 13"/>
          <p:cNvSpPr txBox="1"/>
          <p:nvPr/>
        </p:nvSpPr>
        <p:spPr>
          <a:xfrm>
            <a:off x="777240" y="2880360"/>
            <a:ext cx="10698480" cy="320040"/>
          </a:xfrm>
          <a:prstGeom prst="rect">
            <a:avLst/>
          </a:prstGeom>
          <a:noFill/>
        </p:spPr>
        <p:txBody>
          <a:bodyPr wrap="square">
            <a:spAutoFit/>
          </a:bodyPr>
          <a:lstStyle/>
          <a:p>
            <a:pPr algn="l">
              <a:spcAft>
                <a:spcPts val="0"/>
              </a:spcAft>
            </a:pPr>
            <a:r>
              <a:rPr sz="1400" b="0" i="0">
                <a:solidFill>
                  <a:srgbClr val="64748B"/>
                </a:solidFill>
                <a:latin typeface="Segoe UI"/>
              </a:rPr>
              <a:t>Le modèle n'est pas interrogé par un humain : il est déclenché par le flux GPS.</a:t>
            </a:r>
          </a:p>
        </p:txBody>
      </p:sp>
      <p:sp>
        <p:nvSpPr>
          <p:cNvPr id="15" name="Rectangle 14"/>
          <p:cNvSpPr/>
          <p:nvPr/>
        </p:nvSpPr>
        <p:spPr>
          <a:xfrm>
            <a:off x="566928" y="3401568"/>
            <a:ext cx="11064240" cy="1170432"/>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401568"/>
            <a:ext cx="45720" cy="117043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502152"/>
            <a:ext cx="10607040" cy="274320"/>
          </a:xfrm>
          <a:prstGeom prst="rect">
            <a:avLst/>
          </a:prstGeom>
          <a:noFill/>
        </p:spPr>
        <p:txBody>
          <a:bodyPr wrap="square">
            <a:spAutoFit/>
          </a:bodyPr>
          <a:lstStyle/>
          <a:p>
            <a:pPr algn="l">
              <a:spcAft>
                <a:spcPts val="0"/>
              </a:spcAft>
            </a:pPr>
            <a:r>
              <a:rPr sz="1700" b="1" i="0">
                <a:solidFill>
                  <a:srgbClr val="0F2942"/>
                </a:solidFill>
                <a:latin typeface="Segoe UI"/>
              </a:rPr>
              <a:t>Surveillance en continu</a:t>
            </a:r>
          </a:p>
        </p:txBody>
      </p:sp>
      <p:sp>
        <p:nvSpPr>
          <p:cNvPr id="18" name="TextBox 17"/>
          <p:cNvSpPr txBox="1"/>
          <p:nvPr/>
        </p:nvSpPr>
        <p:spPr>
          <a:xfrm>
            <a:off x="777240" y="3822192"/>
            <a:ext cx="10698480" cy="320040"/>
          </a:xfrm>
          <a:prstGeom prst="rect">
            <a:avLst/>
          </a:prstGeom>
          <a:noFill/>
        </p:spPr>
        <p:txBody>
          <a:bodyPr wrap="square">
            <a:spAutoFit/>
          </a:bodyPr>
          <a:lstStyle/>
          <a:p>
            <a:pPr algn="l">
              <a:spcAft>
                <a:spcPts val="0"/>
              </a:spcAft>
            </a:pPr>
            <a:r>
              <a:rPr sz="1500" b="1" i="0">
                <a:solidFill>
                  <a:srgbClr val="0E7490"/>
                </a:solidFill>
                <a:latin typeface="Segoe UI"/>
              </a:rPr>
              <a:t>MS3  →  gps.bus.updated  →  MS11 applique 3 règles live  →  anomalie.detectee  →  MS4 alerte l'administration</a:t>
            </a:r>
          </a:p>
        </p:txBody>
      </p:sp>
      <p:sp>
        <p:nvSpPr>
          <p:cNvPr id="19" name="TextBox 18"/>
          <p:cNvSpPr txBox="1"/>
          <p:nvPr/>
        </p:nvSpPr>
        <p:spPr>
          <a:xfrm>
            <a:off x="777240" y="4178808"/>
            <a:ext cx="10698480" cy="320040"/>
          </a:xfrm>
          <a:prstGeom prst="rect">
            <a:avLst/>
          </a:prstGeom>
          <a:noFill/>
        </p:spPr>
        <p:txBody>
          <a:bodyPr wrap="square">
            <a:spAutoFit/>
          </a:bodyPr>
          <a:lstStyle/>
          <a:p>
            <a:pPr algn="l">
              <a:spcAft>
                <a:spcPts val="0"/>
              </a:spcAft>
            </a:pPr>
            <a:r>
              <a:rPr sz="1400" b="0" i="0">
                <a:solidFill>
                  <a:srgbClr val="64748B"/>
                </a:solidFill>
                <a:latin typeface="Segoe UI"/>
              </a:rPr>
              <a:t>Un ping toutes les 5 s ; le détecteur ML, lui, travaille sur des trajets complets.</a:t>
            </a:r>
          </a:p>
        </p:txBody>
      </p:sp>
      <p:sp>
        <p:nvSpPr>
          <p:cNvPr id="20" name="Rectangle 19"/>
          <p:cNvSpPr/>
          <p:nvPr/>
        </p:nvSpPr>
        <p:spPr>
          <a:xfrm>
            <a:off x="566928" y="4700016"/>
            <a:ext cx="11064240" cy="1170432"/>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700016"/>
            <a:ext cx="45720" cy="117043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800600"/>
            <a:ext cx="10607040" cy="274320"/>
          </a:xfrm>
          <a:prstGeom prst="rect">
            <a:avLst/>
          </a:prstGeom>
          <a:noFill/>
        </p:spPr>
        <p:txBody>
          <a:bodyPr wrap="square">
            <a:spAutoFit/>
          </a:bodyPr>
          <a:lstStyle/>
          <a:p>
            <a:pPr algn="l">
              <a:spcAft>
                <a:spcPts val="0"/>
              </a:spcAft>
            </a:pPr>
            <a:r>
              <a:rPr sz="1700" b="1" i="0">
                <a:solidFill>
                  <a:srgbClr val="0F2942"/>
                </a:solidFill>
                <a:latin typeface="Segoe UI"/>
              </a:rPr>
              <a:t>Repartitionnement</a:t>
            </a:r>
          </a:p>
        </p:txBody>
      </p:sp>
      <p:sp>
        <p:nvSpPr>
          <p:cNvPr id="23" name="TextBox 22"/>
          <p:cNvSpPr txBox="1"/>
          <p:nvPr/>
        </p:nvSpPr>
        <p:spPr>
          <a:xfrm>
            <a:off x="777240" y="5120640"/>
            <a:ext cx="10698480" cy="320040"/>
          </a:xfrm>
          <a:prstGeom prst="rect">
            <a:avLst/>
          </a:prstGeom>
          <a:noFill/>
        </p:spPr>
        <p:txBody>
          <a:bodyPr wrap="square">
            <a:spAutoFit/>
          </a:bodyPr>
          <a:lstStyle/>
          <a:p>
            <a:pPr algn="l">
              <a:spcAft>
                <a:spcPts val="0"/>
              </a:spcAft>
            </a:pPr>
            <a:r>
              <a:rPr sz="1500" b="1" i="0">
                <a:solidFill>
                  <a:srgbClr val="0E7490"/>
                </a:solidFill>
                <a:latin typeface="Segoe UI"/>
              </a:rPr>
              <a:t>MS2  →  eleve.created / bus.created  →  MS6 recalcule l'affectation des 300 élèves</a:t>
            </a:r>
          </a:p>
        </p:txBody>
      </p:sp>
      <p:sp>
        <p:nvSpPr>
          <p:cNvPr id="24" name="TextBox 23"/>
          <p:cNvSpPr txBox="1"/>
          <p:nvPr/>
        </p:nvSpPr>
        <p:spPr>
          <a:xfrm>
            <a:off x="777240" y="5477256"/>
            <a:ext cx="10698480" cy="320040"/>
          </a:xfrm>
          <a:prstGeom prst="rect">
            <a:avLst/>
          </a:prstGeom>
          <a:noFill/>
        </p:spPr>
        <p:txBody>
          <a:bodyPr wrap="square">
            <a:spAutoFit/>
          </a:bodyPr>
          <a:lstStyle/>
          <a:p>
            <a:pPr algn="l">
              <a:spcAft>
                <a:spcPts val="0"/>
              </a:spcAft>
            </a:pPr>
            <a:r>
              <a:rPr sz="1400" b="0" i="0">
                <a:solidFill>
                  <a:srgbClr val="64748B"/>
                </a:solidFill>
                <a:latin typeface="Segoe UI"/>
              </a:rPr>
              <a:t>Une inscription en cours d'année rejoue le clustering — d'où l'exigence de stabilité.</a:t>
            </a:r>
          </a:p>
        </p:txBody>
      </p:sp>
      <p:sp>
        <p:nvSpPr>
          <p:cNvPr id="25" name="TextBox 24"/>
          <p:cNvSpPr txBox="1"/>
          <p:nvPr/>
        </p:nvSpPr>
        <p:spPr>
          <a:xfrm>
            <a:off x="566928" y="6016752"/>
            <a:ext cx="11064240" cy="365760"/>
          </a:xfrm>
          <a:prstGeom prst="rect">
            <a:avLst/>
          </a:prstGeom>
          <a:noFill/>
        </p:spPr>
        <p:txBody>
          <a:bodyPr wrap="square">
            <a:spAutoFit/>
          </a:bodyPr>
          <a:lstStyle/>
          <a:p>
            <a:pPr algn="l">
              <a:spcAft>
                <a:spcPts val="0"/>
              </a:spcAft>
            </a:pPr>
            <a:r>
              <a:rPr sz="1500" b="1" i="0">
                <a:solidFill>
                  <a:srgbClr val="0F2942"/>
                </a:solidFill>
                <a:latin typeface="Segoe UI"/>
              </a:rPr>
              <a:t>Règle appliquée  ·  le synchrone sert à obtenir une décision, l'événementiel à propager un fait — jamais l'inverse.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TEMPS RÉEL</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Le chemin d'un point GPS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Du téléphone du chauffeur à la notification du parent — mesuré contre la stack réelle.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Architecture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5</a:t>
            </a:r>
          </a:p>
        </p:txBody>
      </p:sp>
      <p:sp>
        <p:nvSpPr>
          <p:cNvPr id="10" name="Rectangle 9"/>
          <p:cNvSpPr/>
          <p:nvPr/>
        </p:nvSpPr>
        <p:spPr>
          <a:xfrm>
            <a:off x="566928" y="2103120"/>
            <a:ext cx="2514600" cy="12344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03120"/>
            <a:ext cx="251460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304288"/>
            <a:ext cx="2286000" cy="320040"/>
          </a:xfrm>
          <a:prstGeom prst="rect">
            <a:avLst/>
          </a:prstGeom>
          <a:noFill/>
        </p:spPr>
        <p:txBody>
          <a:bodyPr wrap="square">
            <a:spAutoFit/>
          </a:bodyPr>
          <a:lstStyle/>
          <a:p>
            <a:pPr algn="l">
              <a:spcAft>
                <a:spcPts val="0"/>
              </a:spcAft>
            </a:pPr>
            <a:r>
              <a:rPr sz="1500" b="1" i="0">
                <a:solidFill>
                  <a:srgbClr val="0F2942"/>
                </a:solidFill>
                <a:latin typeface="Segoe UI"/>
              </a:rPr>
              <a:t>Téléphone chauffeur</a:t>
            </a:r>
          </a:p>
        </p:txBody>
      </p:sp>
      <p:sp>
        <p:nvSpPr>
          <p:cNvPr id="13" name="TextBox 12"/>
          <p:cNvSpPr txBox="1"/>
          <p:nvPr/>
        </p:nvSpPr>
        <p:spPr>
          <a:xfrm>
            <a:off x="713232" y="2651760"/>
            <a:ext cx="2286000" cy="548640"/>
          </a:xfrm>
          <a:prstGeom prst="rect">
            <a:avLst/>
          </a:prstGeom>
          <a:noFill/>
        </p:spPr>
        <p:txBody>
          <a:bodyPr wrap="square">
            <a:spAutoFit/>
          </a:bodyPr>
          <a:lstStyle/>
          <a:p>
            <a:pPr algn="l">
              <a:spcAft>
                <a:spcPts val="0"/>
              </a:spcAft>
            </a:pPr>
            <a:r>
              <a:rPr sz="1300" b="0" i="0">
                <a:solidFill>
                  <a:srgbClr val="64748B"/>
                </a:solidFill>
                <a:latin typeface="Segoe UI"/>
              </a:rPr>
              <a:t>1 envoi / 5 s
filtre 15 m</a:t>
            </a:r>
          </a:p>
        </p:txBody>
      </p:sp>
      <p:sp>
        <p:nvSpPr>
          <p:cNvPr id="14" name="TextBox 13"/>
          <p:cNvSpPr txBox="1"/>
          <p:nvPr/>
        </p:nvSpPr>
        <p:spPr>
          <a:xfrm>
            <a:off x="3108960" y="2514600"/>
            <a:ext cx="365760" cy="365760"/>
          </a:xfrm>
          <a:prstGeom prst="rect">
            <a:avLst/>
          </a:prstGeom>
          <a:noFill/>
        </p:spPr>
        <p:txBody>
          <a:bodyPr wrap="square">
            <a:spAutoFit/>
          </a:bodyPr>
          <a:lstStyle/>
          <a:p>
            <a:pPr algn="l">
              <a:spcAft>
                <a:spcPts val="0"/>
              </a:spcAft>
            </a:pPr>
            <a:r>
              <a:rPr sz="2200" b="1" i="0">
                <a:solidFill>
                  <a:srgbClr val="0E7490"/>
                </a:solidFill>
                <a:latin typeface="Segoe UI"/>
              </a:rPr>
              <a:t>→</a:t>
            </a:r>
          </a:p>
        </p:txBody>
      </p:sp>
      <p:sp>
        <p:nvSpPr>
          <p:cNvPr id="15" name="Rectangle 14"/>
          <p:cNvSpPr/>
          <p:nvPr/>
        </p:nvSpPr>
        <p:spPr>
          <a:xfrm>
            <a:off x="3429000" y="2103120"/>
            <a:ext cx="2514600" cy="12344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2103120"/>
            <a:ext cx="251460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75304" y="2304288"/>
            <a:ext cx="2286000" cy="320040"/>
          </a:xfrm>
          <a:prstGeom prst="rect">
            <a:avLst/>
          </a:prstGeom>
          <a:noFill/>
        </p:spPr>
        <p:txBody>
          <a:bodyPr wrap="square">
            <a:spAutoFit/>
          </a:bodyPr>
          <a:lstStyle/>
          <a:p>
            <a:pPr algn="l">
              <a:spcAft>
                <a:spcPts val="0"/>
              </a:spcAft>
            </a:pPr>
            <a:r>
              <a:rPr sz="1500" b="1" i="0">
                <a:solidFill>
                  <a:srgbClr val="0F2942"/>
                </a:solidFill>
                <a:latin typeface="Segoe UI"/>
              </a:rPr>
              <a:t>MS3 Localisation</a:t>
            </a:r>
          </a:p>
        </p:txBody>
      </p:sp>
      <p:sp>
        <p:nvSpPr>
          <p:cNvPr id="18" name="TextBox 17"/>
          <p:cNvSpPr txBox="1"/>
          <p:nvPr/>
        </p:nvSpPr>
        <p:spPr>
          <a:xfrm>
            <a:off x="3575304" y="2651760"/>
            <a:ext cx="2286000" cy="548640"/>
          </a:xfrm>
          <a:prstGeom prst="rect">
            <a:avLst/>
          </a:prstGeom>
          <a:noFill/>
        </p:spPr>
        <p:txBody>
          <a:bodyPr wrap="square">
            <a:spAutoFit/>
          </a:bodyPr>
          <a:lstStyle/>
          <a:p>
            <a:pPr algn="l">
              <a:spcAft>
                <a:spcPts val="0"/>
              </a:spcAft>
            </a:pPr>
            <a:r>
              <a:rPr sz="1300" b="0" i="0">
                <a:solidFill>
                  <a:srgbClr val="64748B"/>
                </a:solidFill>
                <a:latin typeface="Segoe UI"/>
              </a:rPr>
              <a:t>Redis + WebSocket
+ publication</a:t>
            </a:r>
          </a:p>
        </p:txBody>
      </p:sp>
      <p:sp>
        <p:nvSpPr>
          <p:cNvPr id="19" name="TextBox 18"/>
          <p:cNvSpPr txBox="1"/>
          <p:nvPr/>
        </p:nvSpPr>
        <p:spPr>
          <a:xfrm>
            <a:off x="5971032" y="2514600"/>
            <a:ext cx="365760" cy="365760"/>
          </a:xfrm>
          <a:prstGeom prst="rect">
            <a:avLst/>
          </a:prstGeom>
          <a:noFill/>
        </p:spPr>
        <p:txBody>
          <a:bodyPr wrap="square">
            <a:spAutoFit/>
          </a:bodyPr>
          <a:lstStyle/>
          <a:p>
            <a:pPr algn="l">
              <a:spcAft>
                <a:spcPts val="0"/>
              </a:spcAft>
            </a:pPr>
            <a:r>
              <a:rPr sz="2200" b="1" i="0">
                <a:solidFill>
                  <a:srgbClr val="0E7490"/>
                </a:solidFill>
                <a:latin typeface="Segoe UI"/>
              </a:rPr>
              <a:t>→</a:t>
            </a:r>
          </a:p>
        </p:txBody>
      </p:sp>
      <p:sp>
        <p:nvSpPr>
          <p:cNvPr id="20" name="Rectangle 19"/>
          <p:cNvSpPr/>
          <p:nvPr/>
        </p:nvSpPr>
        <p:spPr>
          <a:xfrm>
            <a:off x="6291072" y="2103120"/>
            <a:ext cx="2514600" cy="12344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91072" y="2103120"/>
            <a:ext cx="251460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2304288"/>
            <a:ext cx="2286000" cy="320040"/>
          </a:xfrm>
          <a:prstGeom prst="rect">
            <a:avLst/>
          </a:prstGeom>
          <a:noFill/>
        </p:spPr>
        <p:txBody>
          <a:bodyPr wrap="square">
            <a:spAutoFit/>
          </a:bodyPr>
          <a:lstStyle/>
          <a:p>
            <a:pPr algn="l">
              <a:spcAft>
                <a:spcPts val="0"/>
              </a:spcAft>
            </a:pPr>
            <a:r>
              <a:rPr sz="1500" b="1" i="0">
                <a:solidFill>
                  <a:srgbClr val="0F2942"/>
                </a:solidFill>
                <a:latin typeface="Segoe UI"/>
              </a:rPr>
              <a:t>MS12 Prédiction</a:t>
            </a:r>
          </a:p>
        </p:txBody>
      </p:sp>
      <p:sp>
        <p:nvSpPr>
          <p:cNvPr id="23" name="TextBox 22"/>
          <p:cNvSpPr txBox="1"/>
          <p:nvPr/>
        </p:nvSpPr>
        <p:spPr>
          <a:xfrm>
            <a:off x="6437376" y="2651760"/>
            <a:ext cx="2286000" cy="548640"/>
          </a:xfrm>
          <a:prstGeom prst="rect">
            <a:avLst/>
          </a:prstGeom>
          <a:noFill/>
        </p:spPr>
        <p:txBody>
          <a:bodyPr wrap="square">
            <a:spAutoFit/>
          </a:bodyPr>
          <a:lstStyle/>
          <a:p>
            <a:pPr algn="l">
              <a:spcAft>
                <a:spcPts val="0"/>
              </a:spcAft>
            </a:pPr>
            <a:r>
              <a:rPr sz="1300" b="0" i="0">
                <a:solidFill>
                  <a:srgbClr val="64748B"/>
                </a:solidFill>
                <a:latin typeface="Segoe UI"/>
              </a:rPr>
              <a:t>ETA recalculé
throttle 20 s</a:t>
            </a:r>
          </a:p>
        </p:txBody>
      </p:sp>
      <p:sp>
        <p:nvSpPr>
          <p:cNvPr id="24" name="TextBox 23"/>
          <p:cNvSpPr txBox="1"/>
          <p:nvPr/>
        </p:nvSpPr>
        <p:spPr>
          <a:xfrm>
            <a:off x="8833104" y="2514600"/>
            <a:ext cx="365760" cy="365760"/>
          </a:xfrm>
          <a:prstGeom prst="rect">
            <a:avLst/>
          </a:prstGeom>
          <a:noFill/>
        </p:spPr>
        <p:txBody>
          <a:bodyPr wrap="square">
            <a:spAutoFit/>
          </a:bodyPr>
          <a:lstStyle/>
          <a:p>
            <a:pPr algn="l">
              <a:spcAft>
                <a:spcPts val="0"/>
              </a:spcAft>
            </a:pPr>
            <a:r>
              <a:rPr sz="2200" b="1" i="0">
                <a:solidFill>
                  <a:srgbClr val="0E7490"/>
                </a:solidFill>
                <a:latin typeface="Segoe UI"/>
              </a:rPr>
              <a:t>→</a:t>
            </a:r>
          </a:p>
        </p:txBody>
      </p:sp>
      <p:sp>
        <p:nvSpPr>
          <p:cNvPr id="25" name="Rectangle 24"/>
          <p:cNvSpPr/>
          <p:nvPr/>
        </p:nvSpPr>
        <p:spPr>
          <a:xfrm>
            <a:off x="9153144" y="2103120"/>
            <a:ext cx="2514600" cy="12344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53144" y="2103120"/>
            <a:ext cx="251460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99448" y="2304288"/>
            <a:ext cx="2286000" cy="320040"/>
          </a:xfrm>
          <a:prstGeom prst="rect">
            <a:avLst/>
          </a:prstGeom>
          <a:noFill/>
        </p:spPr>
        <p:txBody>
          <a:bodyPr wrap="square">
            <a:spAutoFit/>
          </a:bodyPr>
          <a:lstStyle/>
          <a:p>
            <a:pPr algn="l">
              <a:spcAft>
                <a:spcPts val="0"/>
              </a:spcAft>
            </a:pPr>
            <a:r>
              <a:rPr sz="1500" b="1" i="0">
                <a:solidFill>
                  <a:srgbClr val="0F2942"/>
                </a:solidFill>
                <a:latin typeface="Segoe UI"/>
              </a:rPr>
              <a:t>MS4 Notification</a:t>
            </a:r>
          </a:p>
        </p:txBody>
      </p:sp>
      <p:sp>
        <p:nvSpPr>
          <p:cNvPr id="28" name="TextBox 27"/>
          <p:cNvSpPr txBox="1"/>
          <p:nvPr/>
        </p:nvSpPr>
        <p:spPr>
          <a:xfrm>
            <a:off x="9299448" y="2651760"/>
            <a:ext cx="2286000" cy="548640"/>
          </a:xfrm>
          <a:prstGeom prst="rect">
            <a:avLst/>
          </a:prstGeom>
          <a:noFill/>
        </p:spPr>
        <p:txBody>
          <a:bodyPr wrap="square">
            <a:spAutoFit/>
          </a:bodyPr>
          <a:lstStyle/>
          <a:p>
            <a:pPr algn="l">
              <a:spcAft>
                <a:spcPts val="0"/>
              </a:spcAft>
            </a:pPr>
            <a:r>
              <a:rPr sz="1300" b="0" i="0">
                <a:solidFill>
                  <a:srgbClr val="64748B"/>
                </a:solidFill>
                <a:latin typeface="Segoe UI"/>
              </a:rPr>
              <a:t>« le bus arrive
dans ~10 min »</a:t>
            </a:r>
          </a:p>
        </p:txBody>
      </p:sp>
      <p:sp>
        <p:nvSpPr>
          <p:cNvPr id="29" name="Rectangle 28"/>
          <p:cNvSpPr/>
          <p:nvPr/>
        </p:nvSpPr>
        <p:spPr>
          <a:xfrm>
            <a:off x="566928" y="3584448"/>
            <a:ext cx="3566160" cy="12344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584448"/>
            <a:ext cx="50292" cy="1234440"/>
          </a:xfrm>
          <a:prstGeom prst="rect">
            <a:avLst/>
          </a:prstGeom>
          <a:solidFill>
            <a:srgbClr val="156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3712464"/>
            <a:ext cx="3200400" cy="548640"/>
          </a:xfrm>
          <a:prstGeom prst="rect">
            <a:avLst/>
          </a:prstGeom>
          <a:noFill/>
        </p:spPr>
        <p:txBody>
          <a:bodyPr wrap="square">
            <a:spAutoFit/>
          </a:bodyPr>
          <a:lstStyle/>
          <a:p>
            <a:pPr algn="l">
              <a:spcAft>
                <a:spcPts val="0"/>
              </a:spcAft>
            </a:pPr>
            <a:r>
              <a:rPr sz="2600" b="1" i="0">
                <a:solidFill>
                  <a:srgbClr val="156F3C"/>
                </a:solidFill>
                <a:latin typeface="Segoe UI"/>
              </a:rPr>
              <a:t>3 s</a:t>
            </a:r>
          </a:p>
        </p:txBody>
      </p:sp>
      <p:sp>
        <p:nvSpPr>
          <p:cNvPr id="32" name="TextBox 31"/>
          <p:cNvSpPr txBox="1"/>
          <p:nvPr/>
        </p:nvSpPr>
        <p:spPr>
          <a:xfrm>
            <a:off x="786384" y="4242816"/>
            <a:ext cx="3200400" cy="457200"/>
          </a:xfrm>
          <a:prstGeom prst="rect">
            <a:avLst/>
          </a:prstGeom>
          <a:noFill/>
        </p:spPr>
        <p:txBody>
          <a:bodyPr wrap="square">
            <a:spAutoFit/>
          </a:bodyPr>
          <a:lstStyle/>
          <a:p>
            <a:pPr algn="l">
              <a:spcAft>
                <a:spcPts val="0"/>
              </a:spcAft>
            </a:pPr>
            <a:r>
              <a:rPr sz="1400" b="1" i="0">
                <a:solidFill>
                  <a:srgbClr val="1F2937"/>
                </a:solidFill>
                <a:latin typeface="Segoe UI"/>
              </a:rPr>
              <a:t>Latence bout en bout mesurée</a:t>
            </a:r>
          </a:p>
        </p:txBody>
      </p:sp>
      <p:sp>
        <p:nvSpPr>
          <p:cNvPr id="33" name="TextBox 32"/>
          <p:cNvSpPr txBox="1"/>
          <p:nvPr/>
        </p:nvSpPr>
        <p:spPr>
          <a:xfrm>
            <a:off x="786384" y="4553712"/>
            <a:ext cx="3182112" cy="640080"/>
          </a:xfrm>
          <a:prstGeom prst="rect">
            <a:avLst/>
          </a:prstGeom>
          <a:noFill/>
        </p:spPr>
        <p:txBody>
          <a:bodyPr wrap="square">
            <a:spAutoFit/>
          </a:bodyPr>
          <a:lstStyle/>
          <a:p>
            <a:pPr algn="l">
              <a:spcAft>
                <a:spcPts val="0"/>
              </a:spcAft>
            </a:pPr>
            <a:r>
              <a:rPr sz="1200" b="0" i="0">
                <a:solidFill>
                  <a:srgbClr val="64748B"/>
                </a:solidFill>
                <a:latin typeface="Segoe UI"/>
              </a:rPr>
              <a:t>Bus à 2 214 m de l'école : notification BUS_EN_ROUTE reçue en 3 secondes.</a:t>
            </a:r>
          </a:p>
        </p:txBody>
      </p:sp>
      <p:sp>
        <p:nvSpPr>
          <p:cNvPr id="34" name="Rectangle 33"/>
          <p:cNvSpPr/>
          <p:nvPr/>
        </p:nvSpPr>
        <p:spPr>
          <a:xfrm>
            <a:off x="4315968" y="3584448"/>
            <a:ext cx="3566160" cy="12344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15968" y="3584448"/>
            <a:ext cx="50292" cy="12344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35424" y="3712464"/>
            <a:ext cx="3200400" cy="548640"/>
          </a:xfrm>
          <a:prstGeom prst="rect">
            <a:avLst/>
          </a:prstGeom>
          <a:noFill/>
        </p:spPr>
        <p:txBody>
          <a:bodyPr wrap="square">
            <a:spAutoFit/>
          </a:bodyPr>
          <a:lstStyle/>
          <a:p>
            <a:pPr algn="l">
              <a:spcAft>
                <a:spcPts val="0"/>
              </a:spcAft>
            </a:pPr>
            <a:r>
              <a:rPr sz="2600" b="1" i="0">
                <a:solidFill>
                  <a:srgbClr val="0E7490"/>
                </a:solidFill>
                <a:latin typeface="Segoe UI"/>
              </a:rPr>
              <a:t>20 s / 30 min</a:t>
            </a:r>
          </a:p>
        </p:txBody>
      </p:sp>
      <p:sp>
        <p:nvSpPr>
          <p:cNvPr id="37" name="TextBox 36"/>
          <p:cNvSpPr txBox="1"/>
          <p:nvPr/>
        </p:nvSpPr>
        <p:spPr>
          <a:xfrm>
            <a:off x="4535424" y="4242816"/>
            <a:ext cx="3200400" cy="457200"/>
          </a:xfrm>
          <a:prstGeom prst="rect">
            <a:avLst/>
          </a:prstGeom>
          <a:noFill/>
        </p:spPr>
        <p:txBody>
          <a:bodyPr wrap="square">
            <a:spAutoFit/>
          </a:bodyPr>
          <a:lstStyle/>
          <a:p>
            <a:pPr algn="l">
              <a:spcAft>
                <a:spcPts val="0"/>
              </a:spcAft>
            </a:pPr>
            <a:r>
              <a:rPr sz="1400" b="1" i="0">
                <a:solidFill>
                  <a:srgbClr val="1F2937"/>
                </a:solidFill>
                <a:latin typeface="Segoe UI"/>
              </a:rPr>
              <a:t>Deux garde-fous</a:t>
            </a:r>
          </a:p>
        </p:txBody>
      </p:sp>
      <p:sp>
        <p:nvSpPr>
          <p:cNvPr id="38" name="TextBox 37"/>
          <p:cNvSpPr txBox="1"/>
          <p:nvPr/>
        </p:nvSpPr>
        <p:spPr>
          <a:xfrm>
            <a:off x="4535424" y="4553712"/>
            <a:ext cx="3182112" cy="640080"/>
          </a:xfrm>
          <a:prstGeom prst="rect">
            <a:avLst/>
          </a:prstGeom>
          <a:noFill/>
        </p:spPr>
        <p:txBody>
          <a:bodyPr wrap="square">
            <a:spAutoFit/>
          </a:bodyPr>
          <a:lstStyle/>
          <a:p>
            <a:pPr algn="l">
              <a:spcAft>
                <a:spcPts val="0"/>
              </a:spcAft>
            </a:pPr>
            <a:r>
              <a:rPr sz="1200" b="0" i="0">
                <a:solidFill>
                  <a:srgbClr val="64748B"/>
                </a:solidFill>
                <a:latin typeface="Segoe UI"/>
              </a:rPr>
              <a:t>Recalcul au plus 1×/20 s par bus ; alerte au plus 1×/30 min. Sans cela, un bus stationné inonde les familles.</a:t>
            </a:r>
          </a:p>
        </p:txBody>
      </p:sp>
      <p:sp>
        <p:nvSpPr>
          <p:cNvPr id="39" name="Rectangle 38"/>
          <p:cNvSpPr/>
          <p:nvPr/>
        </p:nvSpPr>
        <p:spPr>
          <a:xfrm>
            <a:off x="8065008" y="3584448"/>
            <a:ext cx="3566160" cy="1234440"/>
          </a:xfrm>
          <a:prstGeom prst="rect">
            <a:avLst/>
          </a:prstGeom>
          <a:solidFill>
            <a:srgbClr val="FDF3E3"/>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65008" y="3584448"/>
            <a:ext cx="50292"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84464" y="3712464"/>
            <a:ext cx="3200400" cy="548640"/>
          </a:xfrm>
          <a:prstGeom prst="rect">
            <a:avLst/>
          </a:prstGeom>
          <a:noFill/>
        </p:spPr>
        <p:txBody>
          <a:bodyPr wrap="square">
            <a:spAutoFit/>
          </a:bodyPr>
          <a:lstStyle/>
          <a:p>
            <a:pPr algn="l">
              <a:spcAft>
                <a:spcPts val="0"/>
              </a:spcAft>
            </a:pPr>
            <a:r>
              <a:rPr sz="2600" b="1" i="0">
                <a:solidFill>
                  <a:srgbClr val="B45309"/>
                </a:solidFill>
                <a:latin typeface="Segoe UI"/>
              </a:rPr>
              <a:t>150 → 1</a:t>
            </a:r>
          </a:p>
        </p:txBody>
      </p:sp>
      <p:sp>
        <p:nvSpPr>
          <p:cNvPr id="42" name="TextBox 41"/>
          <p:cNvSpPr txBox="1"/>
          <p:nvPr/>
        </p:nvSpPr>
        <p:spPr>
          <a:xfrm>
            <a:off x="8284464" y="4242816"/>
            <a:ext cx="3200400" cy="457200"/>
          </a:xfrm>
          <a:prstGeom prst="rect">
            <a:avLst/>
          </a:prstGeom>
          <a:noFill/>
        </p:spPr>
        <p:txBody>
          <a:bodyPr wrap="square">
            <a:spAutoFit/>
          </a:bodyPr>
          <a:lstStyle/>
          <a:p>
            <a:pPr algn="l">
              <a:spcAft>
                <a:spcPts val="0"/>
              </a:spcAft>
            </a:pPr>
            <a:r>
              <a:rPr sz="1400" b="1" i="0">
                <a:solidFill>
                  <a:srgbClr val="1F2937"/>
                </a:solidFill>
                <a:latin typeface="Segoe UI"/>
              </a:rPr>
              <a:t>Rafale corrigée</a:t>
            </a:r>
          </a:p>
        </p:txBody>
      </p:sp>
      <p:sp>
        <p:nvSpPr>
          <p:cNvPr id="43" name="TextBox 42"/>
          <p:cNvSpPr txBox="1"/>
          <p:nvPr/>
        </p:nvSpPr>
        <p:spPr>
          <a:xfrm>
            <a:off x="8284464" y="4553712"/>
            <a:ext cx="3182112" cy="640080"/>
          </a:xfrm>
          <a:prstGeom prst="rect">
            <a:avLst/>
          </a:prstGeom>
          <a:noFill/>
        </p:spPr>
        <p:txBody>
          <a:bodyPr wrap="square">
            <a:spAutoFit/>
          </a:bodyPr>
          <a:lstStyle/>
          <a:p>
            <a:pPr algn="l">
              <a:spcAft>
                <a:spcPts val="0"/>
              </a:spcAft>
            </a:pPr>
            <a:r>
              <a:rPr sz="1200" b="0" i="0">
                <a:solidFill>
                  <a:srgbClr val="64748B"/>
                </a:solidFill>
                <a:latin typeface="Segoe UI"/>
              </a:rPr>
              <a:t>Mesuré avant correctif : 150 notifications identiques par parent en 3 min. Verrou d'entrée de zone + hystérésis.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SÉCURITÉ</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Autoriser n'est pas cadrer la portée</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Une distinction qui compte doublement quand un modèle de langage interroge les services à votre place.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Architecture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6</a:t>
            </a:r>
          </a:p>
        </p:txBody>
      </p:sp>
      <p:sp>
        <p:nvSpPr>
          <p:cNvPr id="10" name="Rectangle 9"/>
          <p:cNvSpPr/>
          <p:nvPr/>
        </p:nvSpPr>
        <p:spPr>
          <a:xfrm>
            <a:off x="566928" y="2103120"/>
            <a:ext cx="5394960" cy="23317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49424"/>
            <a:ext cx="4937760" cy="320040"/>
          </a:xfrm>
          <a:prstGeom prst="rect">
            <a:avLst/>
          </a:prstGeom>
          <a:noFill/>
        </p:spPr>
        <p:txBody>
          <a:bodyPr wrap="square">
            <a:spAutoFit/>
          </a:bodyPr>
          <a:lstStyle/>
          <a:p>
            <a:pPr algn="l">
              <a:spcAft>
                <a:spcPts val="0"/>
              </a:spcAft>
            </a:pPr>
            <a:r>
              <a:rPr sz="1700" b="1" i="0">
                <a:solidFill>
                  <a:srgbClr val="0F2942"/>
                </a:solidFill>
                <a:latin typeface="Segoe UI"/>
              </a:rPr>
              <a:t>Couche 1 — Authentification et rôle</a:t>
            </a:r>
          </a:p>
        </p:txBody>
      </p:sp>
      <p:sp>
        <p:nvSpPr>
          <p:cNvPr id="12" name="TextBox 11"/>
          <p:cNvSpPr txBox="1"/>
          <p:nvPr/>
        </p:nvSpPr>
        <p:spPr>
          <a:xfrm>
            <a:off x="777240" y="2670048"/>
            <a:ext cx="4937760" cy="1737360"/>
          </a:xfrm>
          <a:prstGeom prst="rect">
            <a:avLst/>
          </a:prstGeom>
          <a:noFill/>
        </p:spPr>
        <p:txBody>
          <a:bodyPr wrap="square">
            <a:spAutoFit/>
          </a:bodyPr>
          <a:lstStyle/>
          <a:p>
            <a:pPr>
              <a:spcAft>
                <a:spcPts val="900"/>
              </a:spcAft>
            </a:pPr>
            <a:r>
              <a:rPr sz="1125">
                <a:solidFill>
                  <a:srgbClr val="0E7490"/>
                </a:solidFill>
                <a:latin typeface="Segoe UI"/>
              </a:rPr>
              <a:t>▪  </a:t>
            </a:r>
            <a:r>
              <a:rPr sz="1500" b="0">
                <a:solidFill>
                  <a:srgbClr val="1F2937"/>
                </a:solidFill>
                <a:latin typeface="Segoe UI"/>
              </a:rPr>
              <a:t>JWT HMAC-SHA256 validé deux fois : passerelle puis service</a:t>
            </a:r>
          </a:p>
          <a:p>
            <a:pPr>
              <a:spcAft>
                <a:spcPts val="900"/>
              </a:spcAft>
            </a:pPr>
            <a:r>
              <a:rPr sz="1125">
                <a:solidFill>
                  <a:srgbClr val="0E7490"/>
                </a:solidFill>
                <a:latin typeface="Segoe UI"/>
              </a:rPr>
              <a:t>▪  </a:t>
            </a:r>
            <a:r>
              <a:rPr sz="1500" b="0">
                <a:solidFill>
                  <a:srgbClr val="1F2937"/>
                </a:solidFill>
                <a:latin typeface="Segoe UI"/>
              </a:rPr>
              <a:t>3 rôles : ADMIN · CHAUFFEUR · PARENT</a:t>
            </a:r>
          </a:p>
          <a:p>
            <a:pPr>
              <a:spcAft>
                <a:spcPts val="900"/>
              </a:spcAft>
            </a:pPr>
            <a:r>
              <a:rPr sz="1125">
                <a:solidFill>
                  <a:srgbClr val="0E7490"/>
                </a:solidFill>
                <a:latin typeface="Segoe UI"/>
              </a:rPr>
              <a:t>▪  </a:t>
            </a:r>
            <a:r>
              <a:rPr sz="1500" b="0">
                <a:solidFill>
                  <a:srgbClr val="1F2937"/>
                </a:solidFill>
                <a:latin typeface="Segoe UI"/>
              </a:rPr>
              <a:t>@PreAuthorize (Java) · Depends(verify_token) (Python)</a:t>
            </a:r>
          </a:p>
        </p:txBody>
      </p:sp>
      <p:sp>
        <p:nvSpPr>
          <p:cNvPr id="13" name="Rectangle 12"/>
          <p:cNvSpPr/>
          <p:nvPr/>
        </p:nvSpPr>
        <p:spPr>
          <a:xfrm>
            <a:off x="6236208" y="2103120"/>
            <a:ext cx="5394960" cy="233172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49424"/>
            <a:ext cx="4937760" cy="320040"/>
          </a:xfrm>
          <a:prstGeom prst="rect">
            <a:avLst/>
          </a:prstGeom>
          <a:noFill/>
        </p:spPr>
        <p:txBody>
          <a:bodyPr wrap="square">
            <a:spAutoFit/>
          </a:bodyPr>
          <a:lstStyle/>
          <a:p>
            <a:pPr algn="l">
              <a:spcAft>
                <a:spcPts val="0"/>
              </a:spcAft>
            </a:pPr>
            <a:r>
              <a:rPr sz="1700" b="1" i="0">
                <a:solidFill>
                  <a:srgbClr val="0E7490"/>
                </a:solidFill>
                <a:latin typeface="Segoe UI"/>
              </a:rPr>
              <a:t>Couche 2 — Contrôle de propriété</a:t>
            </a:r>
          </a:p>
        </p:txBody>
      </p:sp>
      <p:sp>
        <p:nvSpPr>
          <p:cNvPr id="15" name="TextBox 14"/>
          <p:cNvSpPr txBox="1"/>
          <p:nvPr/>
        </p:nvSpPr>
        <p:spPr>
          <a:xfrm>
            <a:off x="6446520" y="2670048"/>
            <a:ext cx="4937760" cy="1737360"/>
          </a:xfrm>
          <a:prstGeom prst="rect">
            <a:avLst/>
          </a:prstGeom>
          <a:noFill/>
        </p:spPr>
        <p:txBody>
          <a:bodyPr wrap="square">
            <a:spAutoFit/>
          </a:bodyPr>
          <a:lstStyle/>
          <a:p>
            <a:pPr>
              <a:spcAft>
                <a:spcPts val="900"/>
              </a:spcAft>
            </a:pPr>
            <a:r>
              <a:rPr sz="1125">
                <a:solidFill>
                  <a:srgbClr val="0E7490"/>
                </a:solidFill>
                <a:latin typeface="Segoe UI"/>
              </a:rPr>
              <a:t>▪  </a:t>
            </a:r>
            <a:r>
              <a:rPr sz="1500" b="0">
                <a:solidFill>
                  <a:srgbClr val="1F2937"/>
                </a:solidFill>
                <a:latin typeface="Segoe UI"/>
              </a:rPr>
              <a:t>PorteeService dans 4 services, en échec fermé</a:t>
            </a:r>
          </a:p>
          <a:p>
            <a:pPr>
              <a:spcAft>
                <a:spcPts val="900"/>
              </a:spcAft>
            </a:pPr>
            <a:r>
              <a:rPr sz="1125">
                <a:solidFill>
                  <a:srgbClr val="0E7490"/>
                </a:solidFill>
                <a:latin typeface="Segoe UI"/>
              </a:rPr>
              <a:t>▪  </a:t>
            </a:r>
            <a:r>
              <a:rPr sz="1500" b="0">
                <a:solidFill>
                  <a:srgbClr val="1F2937"/>
                </a:solidFill>
                <a:latin typeface="Segoe UI"/>
              </a:rPr>
              <a:t>Routes /internal délibérément non routées par la passerelle</a:t>
            </a:r>
          </a:p>
          <a:p>
            <a:pPr>
              <a:spcAft>
                <a:spcPts val="900"/>
              </a:spcAft>
            </a:pPr>
            <a:r>
              <a:rPr sz="1125">
                <a:solidFill>
                  <a:srgbClr val="0E7490"/>
                </a:solidFill>
                <a:latin typeface="Segoe UI"/>
              </a:rPr>
              <a:t>▪  </a:t>
            </a:r>
            <a:r>
              <a:rPr sz="1500" b="0">
                <a:solidFill>
                  <a:srgbClr val="1F2937"/>
                </a:solidFill>
                <a:latin typeface="Segoe UI"/>
              </a:rPr>
              <a:t>MS9 : la portée du LLM vient du parentId du jeton, jamais du modèle</a:t>
            </a:r>
          </a:p>
        </p:txBody>
      </p:sp>
      <p:sp>
        <p:nvSpPr>
          <p:cNvPr id="16" name="Rectangle 15"/>
          <p:cNvSpPr/>
          <p:nvPr/>
        </p:nvSpPr>
        <p:spPr>
          <a:xfrm>
            <a:off x="566928" y="4645152"/>
            <a:ext cx="11064240" cy="91440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764024"/>
            <a:ext cx="10698480" cy="292608"/>
          </a:xfrm>
          <a:prstGeom prst="rect">
            <a:avLst/>
          </a:prstGeom>
          <a:noFill/>
        </p:spPr>
        <p:txBody>
          <a:bodyPr wrap="square">
            <a:spAutoFit/>
          </a:bodyPr>
          <a:lstStyle/>
          <a:p>
            <a:pPr algn="l">
              <a:spcAft>
                <a:spcPts val="0"/>
              </a:spcAft>
            </a:pPr>
            <a:r>
              <a:rPr sz="1500" b="1" i="0">
                <a:solidFill>
                  <a:srgbClr val="B45309"/>
                </a:solidFill>
                <a:latin typeface="Segoe UI"/>
              </a:rPr>
              <a:t>Ce que la revue a trouvé, et pourquoi c'est un enseignement</a:t>
            </a:r>
          </a:p>
        </p:txBody>
      </p:sp>
      <p:sp>
        <p:nvSpPr>
          <p:cNvPr id="18" name="TextBox 17"/>
          <p:cNvSpPr txBox="1"/>
          <p:nvPr/>
        </p:nvSpPr>
        <p:spPr>
          <a:xfrm>
            <a:off x="768096" y="5120640"/>
            <a:ext cx="10680192" cy="365760"/>
          </a:xfrm>
          <a:prstGeom prst="rect">
            <a:avLst/>
          </a:prstGeom>
          <a:noFill/>
        </p:spPr>
        <p:txBody>
          <a:bodyPr wrap="square">
            <a:spAutoFit/>
          </a:bodyPr>
          <a:lstStyle/>
          <a:p>
            <a:pPr algn="l">
              <a:spcAft>
                <a:spcPts val="0"/>
              </a:spcAft>
            </a:pPr>
            <a:r>
              <a:rPr sz="1500" b="0" i="0">
                <a:solidFill>
                  <a:srgbClr val="1F2937"/>
                </a:solidFill>
                <a:latin typeface="Segoe UI"/>
              </a:rPr>
              <a:t>Une matrice de 45 combinaisons rôle × route était correcte. Une revue centrée sur les interactions entre acteurs a pourtant trouvé
15 failles de portée : un chauffeur avait le bon rôle pour pointer l'élève d'un collègue. RBAC et portée sont deux couches distinctes.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LE SOCLE DE DONNÉES</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Trois natures de données, et ce qu'on peut en conclure</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Énoncé d'emblée : la portée d'un résultat dépend de la nature de la donnée qui l'a produit.</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Données et démarche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7</a:t>
            </a:r>
          </a:p>
        </p:txBody>
      </p:sp>
      <p:graphicFrame>
        <p:nvGraphicFramePr>
          <p:cNvPr id="10" name="Table 9"/>
          <p:cNvGraphicFramePr>
            <a:graphicFrameLocks noGrp="1"/>
          </p:cNvGraphicFramePr>
          <p:nvPr/>
        </p:nvGraphicFramePr>
        <p:xfrm>
          <a:off x="566928" y="2103120"/>
          <a:ext cx="11064240" cy="2706624"/>
        </p:xfrm>
        <a:graphic>
          <a:graphicData uri="http://schemas.openxmlformats.org/drawingml/2006/table">
            <a:tbl>
              <a:tblPr firstRow="1" bandRow="1">
                <a:tableStyleId>{5C22544A-7EE6-4342-B048-85BDC9FD1C3A}</a:tableStyleId>
              </a:tblPr>
              <a:tblGrid>
                <a:gridCol w="1229360"/>
                <a:gridCol w="3688080"/>
                <a:gridCol w="1676400"/>
                <a:gridCol w="4470400"/>
              </a:tblGrid>
              <a:tr h="457200">
                <a:tc>
                  <a:txBody>
                    <a:bodyPr/>
                    <a:lstStyle/>
                    <a:p>
                      <a:pPr algn="l"/>
                      <a:r>
                        <a:rPr sz="1350" b="1">
                          <a:solidFill>
                            <a:srgbClr val="FFFFFF"/>
                          </a:solidFill>
                          <a:latin typeface="Segoe UI"/>
                        </a:rPr>
                        <a:t>Nature</a:t>
                      </a:r>
                    </a:p>
                  </a:txBody>
                  <a:tcPr anchor="ctr" marL="91440" marR="73152" marT="27432" marB="27432">
                    <a:solidFill>
                      <a:srgbClr val="0F2942"/>
                    </a:solidFill>
                  </a:tcPr>
                </a:tc>
                <a:tc>
                  <a:txBody>
                    <a:bodyPr/>
                    <a:lstStyle/>
                    <a:p>
                      <a:pPr algn="ctr"/>
                      <a:r>
                        <a:rPr sz="1350" b="1">
                          <a:solidFill>
                            <a:srgbClr val="FFFFFF"/>
                          </a:solidFill>
                          <a:latin typeface="Segoe UI"/>
                        </a:rPr>
                        <a:t>Ce que c'est</a:t>
                      </a:r>
                    </a:p>
                  </a:txBody>
                  <a:tcPr anchor="ctr" marL="91440" marR="73152" marT="27432" marB="27432">
                    <a:solidFill>
                      <a:srgbClr val="0F2942"/>
                    </a:solidFill>
                  </a:tcPr>
                </a:tc>
                <a:tc>
                  <a:txBody>
                    <a:bodyPr/>
                    <a:lstStyle/>
                    <a:p>
                      <a:pPr algn="ctr"/>
                      <a:r>
                        <a:rPr sz="1350" b="1">
                          <a:solidFill>
                            <a:srgbClr val="FFFFFF"/>
                          </a:solidFill>
                          <a:latin typeface="Segoe UI"/>
                        </a:rPr>
                        <a:t>Volume</a:t>
                      </a:r>
                    </a:p>
                  </a:txBody>
                  <a:tcPr anchor="ctr" marL="91440" marR="73152" marT="27432" marB="27432">
                    <a:solidFill>
                      <a:srgbClr val="0F2942"/>
                    </a:solidFill>
                  </a:tcPr>
                </a:tc>
                <a:tc>
                  <a:txBody>
                    <a:bodyPr/>
                    <a:lstStyle/>
                    <a:p>
                      <a:pPr algn="ctr"/>
                      <a:r>
                        <a:rPr sz="1350" b="1">
                          <a:solidFill>
                            <a:srgbClr val="FFFFFF"/>
                          </a:solidFill>
                          <a:latin typeface="Segoe UI"/>
                        </a:rPr>
                        <a:t>Ce qu'on peut en conclure</a:t>
                      </a:r>
                    </a:p>
                  </a:txBody>
                  <a:tcPr anchor="ctr" marL="91440" marR="73152" marT="27432" marB="27432">
                    <a:solidFill>
                      <a:srgbClr val="0F2942"/>
                    </a:solidFill>
                  </a:tcPr>
                </a:tc>
              </a:tr>
              <a:tr h="749808">
                <a:tc>
                  <a:txBody>
                    <a:bodyPr/>
                    <a:lstStyle/>
                    <a:p>
                      <a:pPr algn="l"/>
                      <a:r>
                        <a:rPr sz="1350">
                          <a:solidFill>
                            <a:srgbClr val="1F2937"/>
                          </a:solidFill>
                          <a:latin typeface="Segoe UI"/>
                        </a:rPr>
                        <a:t>Réelle</a:t>
                      </a:r>
                    </a:p>
                  </a:txBody>
                  <a:tcPr anchor="ctr" marL="91440" marR="73152" marT="27432" marB="27432">
                    <a:solidFill>
                      <a:srgbClr val="FFFFFF"/>
                    </a:solidFill>
                  </a:tcPr>
                </a:tc>
                <a:tc>
                  <a:txBody>
                    <a:bodyPr/>
                    <a:lstStyle/>
                    <a:p>
                      <a:pPr algn="ctr"/>
                      <a:r>
                        <a:rPr sz="1350">
                          <a:solidFill>
                            <a:srgbClr val="1F2937"/>
                          </a:solidFill>
                          <a:latin typeface="Segoe UI"/>
                        </a:rPr>
                        <a:t>Élèves géolocalisés de Meknès + réseau routier OSRM</a:t>
                      </a:r>
                    </a:p>
                  </a:txBody>
                  <a:tcPr anchor="ctr" marL="91440" marR="73152" marT="27432" marB="27432">
                    <a:solidFill>
                      <a:srgbClr val="FFFFFF"/>
                    </a:solidFill>
                  </a:tcPr>
                </a:tc>
                <a:tc>
                  <a:txBody>
                    <a:bodyPr/>
                    <a:lstStyle/>
                    <a:p>
                      <a:pPr algn="ctr"/>
                      <a:r>
                        <a:rPr sz="1350">
                          <a:solidFill>
                            <a:srgbClr val="1F2937"/>
                          </a:solidFill>
                          <a:latin typeface="Segoe UI"/>
                        </a:rPr>
                        <a:t>300 élèves</a:t>
                      </a:r>
                    </a:p>
                    <a:p>
                      <a:pPr algn="ctr"/>
                      <a:r>
                        <a:rPr sz="1350">
                          <a:solidFill>
                            <a:srgbClr val="1F2937"/>
                          </a:solidFill>
                          <a:latin typeface="Segoe UI"/>
                        </a:rPr>
                        <a:t>matrice 300×300</a:t>
                      </a:r>
                    </a:p>
                  </a:txBody>
                  <a:tcPr anchor="ctr" marL="91440" marR="73152" marT="27432" marB="27432">
                    <a:solidFill>
                      <a:srgbClr val="FFFFFF"/>
                    </a:solidFill>
                  </a:tcPr>
                </a:tc>
                <a:tc>
                  <a:txBody>
                    <a:bodyPr/>
                    <a:lstStyle/>
                    <a:p>
                      <a:pPr algn="ctr"/>
                      <a:r>
                        <a:rPr sz="1350">
                          <a:solidFill>
                            <a:srgbClr val="1F2937"/>
                          </a:solidFill>
                          <a:latin typeface="Segoe UI"/>
                        </a:rPr>
                        <a:t>Conclusions valides sur cette instance ;</a:t>
                      </a:r>
                    </a:p>
                    <a:p>
                      <a:pPr algn="ctr"/>
                      <a:r>
                        <a:rPr sz="1350">
                          <a:solidFill>
                            <a:srgbClr val="1F2937"/>
                          </a:solidFill>
                          <a:latin typeface="Segoe UI"/>
                        </a:rPr>
                        <a:t>une seule école, pas de passage à l'échelle</a:t>
                      </a:r>
                    </a:p>
                  </a:txBody>
                  <a:tcPr anchor="ctr" marL="91440" marR="73152" marT="27432" marB="27432">
                    <a:solidFill>
                      <a:srgbClr val="FFFFFF"/>
                    </a:solidFill>
                  </a:tcPr>
                </a:tc>
              </a:tr>
              <a:tr h="749808">
                <a:tc>
                  <a:txBody>
                    <a:bodyPr/>
                    <a:lstStyle/>
                    <a:p>
                      <a:pPr algn="l"/>
                      <a:r>
                        <a:rPr sz="1350">
                          <a:solidFill>
                            <a:srgbClr val="1F2937"/>
                          </a:solidFill>
                          <a:latin typeface="Segoe UI"/>
                        </a:rPr>
                        <a:t>Semi-réelle</a:t>
                      </a:r>
                    </a:p>
                  </a:txBody>
                  <a:tcPr anchor="ctr" marL="91440" marR="73152" marT="27432" marB="27432">
                    <a:solidFill>
                      <a:srgbClr val="F6F8FB"/>
                    </a:solidFill>
                  </a:tcPr>
                </a:tc>
                <a:tc>
                  <a:txBody>
                    <a:bodyPr/>
                    <a:lstStyle/>
                    <a:p>
                      <a:pPr algn="ctr"/>
                      <a:r>
                        <a:rPr sz="1350">
                          <a:solidFill>
                            <a:srgbClr val="1F2937"/>
                          </a:solidFill>
                          <a:latin typeface="Segoe UI"/>
                        </a:rPr>
                        <a:t>Durées OSRM réelles × facteurs de la littérature transport</a:t>
                      </a:r>
                    </a:p>
                  </a:txBody>
                  <a:tcPr anchor="ctr" marL="91440" marR="73152" marT="27432" marB="27432">
                    <a:solidFill>
                      <a:srgbClr val="F6F8FB"/>
                    </a:solidFill>
                  </a:tcPr>
                </a:tc>
                <a:tc>
                  <a:txBody>
                    <a:bodyPr/>
                    <a:lstStyle/>
                    <a:p>
                      <a:pPr algn="ctr"/>
                      <a:r>
                        <a:rPr sz="1350">
                          <a:solidFill>
                            <a:srgbClr val="1F2937"/>
                          </a:solidFill>
                          <a:latin typeface="Segoe UI"/>
                        </a:rPr>
                        <a:t>4 320 tronçons</a:t>
                      </a:r>
                    </a:p>
                    <a:p>
                      <a:pPr algn="ctr"/>
                      <a:r>
                        <a:rPr sz="1350">
                          <a:solidFill>
                            <a:srgbClr val="1F2937"/>
                          </a:solidFill>
                          <a:latin typeface="Segoe UI"/>
                        </a:rPr>
                        <a:t>180 jours d'école</a:t>
                      </a:r>
                    </a:p>
                  </a:txBody>
                  <a:tcPr anchor="ctr" marL="91440" marR="73152" marT="27432" marB="27432">
                    <a:solidFill>
                      <a:srgbClr val="F6F8FB"/>
                    </a:solidFill>
                  </a:tcPr>
                </a:tc>
                <a:tc>
                  <a:txBody>
                    <a:bodyPr/>
                    <a:lstStyle/>
                    <a:p>
                      <a:pPr algn="ctr"/>
                      <a:r>
                        <a:rPr sz="1350">
                          <a:solidFill>
                            <a:srgbClr val="1F2937"/>
                          </a:solidFill>
                          <a:latin typeface="Segoe UI"/>
                        </a:rPr>
                        <a:t>Le protocole est valide ; la généralisation</a:t>
                      </a:r>
                    </a:p>
                    <a:p>
                      <a:pPr algn="ctr"/>
                      <a:r>
                        <a:rPr sz="1350">
                          <a:solidFill>
                            <a:srgbClr val="1F2937"/>
                          </a:solidFill>
                          <a:latin typeface="Segoe UI"/>
                        </a:rPr>
                        <a:t>à des durées GPS réelles n'est pas testée</a:t>
                      </a:r>
                    </a:p>
                  </a:txBody>
                  <a:tcPr anchor="ctr" marL="91440" marR="73152" marT="27432" marB="27432">
                    <a:solidFill>
                      <a:srgbClr val="F6F8FB"/>
                    </a:solidFill>
                  </a:tcPr>
                </a:tc>
              </a:tr>
              <a:tr h="749808">
                <a:tc>
                  <a:txBody>
                    <a:bodyPr/>
                    <a:lstStyle/>
                    <a:p>
                      <a:pPr algn="l"/>
                      <a:r>
                        <a:rPr sz="1350">
                          <a:solidFill>
                            <a:srgbClr val="1F2937"/>
                          </a:solidFill>
                          <a:latin typeface="Segoe UI"/>
                        </a:rPr>
                        <a:t>Synthétique</a:t>
                      </a:r>
                    </a:p>
                    <a:p>
                      <a:pPr algn="l"/>
                      <a:r>
                        <a:rPr sz="1350">
                          <a:solidFill>
                            <a:srgbClr val="1F2937"/>
                          </a:solidFill>
                          <a:latin typeface="Segoe UI"/>
                        </a:rPr>
                        <a:t>contrôlée</a:t>
                      </a:r>
                    </a:p>
                  </a:txBody>
                  <a:tcPr anchor="ctr" marL="91440" marR="73152" marT="27432" marB="27432">
                    <a:solidFill>
                      <a:srgbClr val="FFFFFF"/>
                    </a:solidFill>
                  </a:tcPr>
                </a:tc>
                <a:tc>
                  <a:txBody>
                    <a:bodyPr/>
                    <a:lstStyle/>
                    <a:p>
                      <a:pPr algn="ctr"/>
                      <a:r>
                        <a:rPr sz="1350">
                          <a:solidFill>
                            <a:srgbClr val="1F2937"/>
                          </a:solidFill>
                          <a:latin typeface="Segoe UI"/>
                        </a:rPr>
                        <a:t>Anomalies injectées : franc · contextuel · surcharge</a:t>
                      </a:r>
                    </a:p>
                  </a:txBody>
                  <a:tcPr anchor="ctr" marL="91440" marR="73152" marT="27432" marB="27432">
                    <a:solidFill>
                      <a:srgbClr val="FFFFFF"/>
                    </a:solidFill>
                  </a:tcPr>
                </a:tc>
                <a:tc>
                  <a:txBody>
                    <a:bodyPr/>
                    <a:lstStyle/>
                    <a:p>
                      <a:pPr algn="ctr"/>
                      <a:r>
                        <a:rPr sz="1350">
                          <a:solidFill>
                            <a:srgbClr val="1F2937"/>
                          </a:solidFill>
                          <a:latin typeface="Segoe UI"/>
                        </a:rPr>
                        <a:t>4 320 trajets</a:t>
                      </a:r>
                    </a:p>
                    <a:p>
                      <a:pPr algn="ctr"/>
                      <a:r>
                        <a:rPr sz="1350">
                          <a:solidFill>
                            <a:srgbClr val="1F2937"/>
                          </a:solidFill>
                          <a:latin typeface="Segoe UI"/>
                        </a:rPr>
                        <a:t>1,25 % anormaux</a:t>
                      </a:r>
                    </a:p>
                  </a:txBody>
                  <a:tcPr anchor="ctr" marL="91440" marR="73152" marT="27432" marB="27432">
                    <a:solidFill>
                      <a:srgbClr val="FFFFFF"/>
                    </a:solidFill>
                  </a:tcPr>
                </a:tc>
                <a:tc>
                  <a:txBody>
                    <a:bodyPr/>
                    <a:lstStyle/>
                    <a:p>
                      <a:pPr algn="ctr"/>
                      <a:r>
                        <a:rPr sz="1350">
                          <a:solidFill>
                            <a:srgbClr val="1F2937"/>
                          </a:solidFill>
                          <a:latin typeface="Segoe UI"/>
                        </a:rPr>
                        <a:t>Permet d'évaluer un détecteur non supervisé —</a:t>
                      </a:r>
                    </a:p>
                    <a:p>
                      <a:pPr algn="ctr"/>
                      <a:r>
                        <a:rPr sz="1350">
                          <a:solidFill>
                            <a:srgbClr val="1F2937"/>
                          </a:solidFill>
                          <a:latin typeface="Segoe UI"/>
                        </a:rPr>
                        <a:t>sans étiquettes, aucune métrique n'existerait</a:t>
                      </a:r>
                    </a:p>
                  </a:txBody>
                  <a:tcPr anchor="ctr" marL="91440" marR="73152" marT="27432" marB="27432">
                    <a:solidFill>
                      <a:srgbClr val="FFFFFF"/>
                    </a:solidFill>
                  </a:tcPr>
                </a:tc>
              </a:tr>
            </a:tbl>
          </a:graphicData>
        </a:graphic>
      </p:graphicFrame>
      <p:sp>
        <p:nvSpPr>
          <p:cNvPr id="11" name="Rectangle 10"/>
          <p:cNvSpPr/>
          <p:nvPr/>
        </p:nvSpPr>
        <p:spPr>
          <a:xfrm>
            <a:off x="566928" y="5166360"/>
            <a:ext cx="11064240" cy="86868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5285232"/>
            <a:ext cx="10698480" cy="292608"/>
          </a:xfrm>
          <a:prstGeom prst="rect">
            <a:avLst/>
          </a:prstGeom>
          <a:noFill/>
        </p:spPr>
        <p:txBody>
          <a:bodyPr wrap="square">
            <a:spAutoFit/>
          </a:bodyPr>
          <a:lstStyle/>
          <a:p>
            <a:pPr algn="l">
              <a:spcAft>
                <a:spcPts val="0"/>
              </a:spcAft>
            </a:pPr>
            <a:r>
              <a:rPr sz="1500" b="1" i="0">
                <a:solidFill>
                  <a:srgbClr val="B45309"/>
                </a:solidFill>
                <a:latin typeface="Segoe UI"/>
              </a:rPr>
              <a:t>Circularité assumée pour MS12</a:t>
            </a:r>
          </a:p>
        </p:txBody>
      </p:sp>
      <p:sp>
        <p:nvSpPr>
          <p:cNvPr id="13" name="TextBox 12"/>
          <p:cNvSpPr txBox="1"/>
          <p:nvPr/>
        </p:nvSpPr>
        <p:spPr>
          <a:xfrm>
            <a:off x="768096" y="5641848"/>
            <a:ext cx="10680192" cy="320040"/>
          </a:xfrm>
          <a:prstGeom prst="rect">
            <a:avLst/>
          </a:prstGeom>
          <a:noFill/>
        </p:spPr>
        <p:txBody>
          <a:bodyPr wrap="square">
            <a:spAutoFit/>
          </a:bodyPr>
          <a:lstStyle/>
          <a:p>
            <a:pPr algn="l">
              <a:spcAft>
                <a:spcPts val="0"/>
              </a:spcAft>
            </a:pPr>
            <a:r>
              <a:rPr sz="1500" b="0" i="0">
                <a:solidFill>
                  <a:srgbClr val="1F2937"/>
                </a:solidFill>
                <a:latin typeface="Segoe UI"/>
              </a:rPr>
              <a:t>Les durées sont produites par une formule multiplicative, qu'un modèle linéaire sur variables indicatrices retrouve presque exactement.
La victoire d'ElasticNet est donc en partie inscrite dans le générateur. Le dire soi-même vaut mieux que se le faire dire.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DÉMARCHE · LE LIANT MÉTHODOLOGIQUE</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Comment je juge mes propres modèles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Sept règles appliquées aux cinq briques. Elles ont contredit ou nuancé une affirmation du dossier dans les cinq cas.</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Données et démarche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8</a:t>
            </a:r>
          </a:p>
        </p:txBody>
      </p:sp>
      <p:sp>
        <p:nvSpPr>
          <p:cNvPr id="10" name="Rectangle 9"/>
          <p:cNvSpPr/>
          <p:nvPr/>
        </p:nvSpPr>
        <p:spPr>
          <a:xfrm>
            <a:off x="566928" y="2103120"/>
            <a:ext cx="11064240" cy="5029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03704"/>
            <a:ext cx="365760" cy="320040"/>
          </a:xfrm>
          <a:prstGeom prst="rect">
            <a:avLst/>
          </a:prstGeom>
          <a:noFill/>
        </p:spPr>
        <p:txBody>
          <a:bodyPr wrap="square">
            <a:spAutoFit/>
          </a:bodyPr>
          <a:lstStyle/>
          <a:p>
            <a:pPr algn="l">
              <a:spcAft>
                <a:spcPts val="0"/>
              </a:spcAft>
            </a:pPr>
            <a:r>
              <a:rPr sz="1600" b="1" i="0">
                <a:solidFill>
                  <a:srgbClr val="0E7490"/>
                </a:solidFill>
                <a:latin typeface="Segoe UI"/>
              </a:rPr>
              <a:t>1</a:t>
            </a:r>
          </a:p>
        </p:txBody>
      </p:sp>
      <p:sp>
        <p:nvSpPr>
          <p:cNvPr id="12" name="TextBox 11"/>
          <p:cNvSpPr txBox="1"/>
          <p:nvPr/>
        </p:nvSpPr>
        <p:spPr>
          <a:xfrm>
            <a:off x="1188720" y="2194560"/>
            <a:ext cx="5852160" cy="320040"/>
          </a:xfrm>
          <a:prstGeom prst="rect">
            <a:avLst/>
          </a:prstGeom>
          <a:noFill/>
        </p:spPr>
        <p:txBody>
          <a:bodyPr wrap="square">
            <a:spAutoFit/>
          </a:bodyPr>
          <a:lstStyle/>
          <a:p>
            <a:pPr algn="l">
              <a:spcAft>
                <a:spcPts val="0"/>
              </a:spcAft>
            </a:pPr>
            <a:r>
              <a:rPr sz="1550" b="1" i="0">
                <a:solidFill>
                  <a:srgbClr val="0F2942"/>
                </a:solidFill>
                <a:latin typeface="Segoe UI"/>
              </a:rPr>
              <a:t>La question doit pouvoir se répondre dans les deux sens</a:t>
            </a:r>
          </a:p>
        </p:txBody>
      </p:sp>
      <p:sp>
        <p:nvSpPr>
          <p:cNvPr id="13" name="TextBox 12"/>
          <p:cNvSpPr txBox="1"/>
          <p:nvPr/>
        </p:nvSpPr>
        <p:spPr>
          <a:xfrm>
            <a:off x="7223760" y="2221992"/>
            <a:ext cx="4297680" cy="320040"/>
          </a:xfrm>
          <a:prstGeom prst="rect">
            <a:avLst/>
          </a:prstGeom>
          <a:noFill/>
        </p:spPr>
        <p:txBody>
          <a:bodyPr wrap="square">
            <a:spAutoFit/>
          </a:bodyPr>
          <a:lstStyle/>
          <a:p>
            <a:pPr algn="l">
              <a:spcAft>
                <a:spcPts val="0"/>
              </a:spcAft>
            </a:pPr>
            <a:r>
              <a:rPr sz="1300" b="0" i="1">
                <a:solidFill>
                  <a:srgbClr val="64748B"/>
                </a:solidFill>
                <a:latin typeface="Segoe UI"/>
              </a:rPr>
              <a:t>sinon ce n'est pas un benchmark, c'est une justification</a:t>
            </a:r>
          </a:p>
        </p:txBody>
      </p:sp>
      <p:sp>
        <p:nvSpPr>
          <p:cNvPr id="14" name="Rectangle 13"/>
          <p:cNvSpPr/>
          <p:nvPr/>
        </p:nvSpPr>
        <p:spPr>
          <a:xfrm>
            <a:off x="566928" y="2633472"/>
            <a:ext cx="11064240" cy="502920"/>
          </a:xfrm>
          <a:prstGeom prst="rect">
            <a:avLst/>
          </a:prstGeom>
          <a:solidFill>
            <a:srgbClr val="E0F2F7"/>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734056"/>
            <a:ext cx="365760" cy="320040"/>
          </a:xfrm>
          <a:prstGeom prst="rect">
            <a:avLst/>
          </a:prstGeom>
          <a:noFill/>
        </p:spPr>
        <p:txBody>
          <a:bodyPr wrap="square">
            <a:spAutoFit/>
          </a:bodyPr>
          <a:lstStyle/>
          <a:p>
            <a:pPr algn="l">
              <a:spcAft>
                <a:spcPts val="0"/>
              </a:spcAft>
            </a:pPr>
            <a:r>
              <a:rPr sz="1600" b="1" i="0">
                <a:solidFill>
                  <a:srgbClr val="0E7490"/>
                </a:solidFill>
                <a:latin typeface="Segoe UI"/>
              </a:rPr>
              <a:t>2</a:t>
            </a:r>
          </a:p>
        </p:txBody>
      </p:sp>
      <p:sp>
        <p:nvSpPr>
          <p:cNvPr id="16" name="TextBox 15"/>
          <p:cNvSpPr txBox="1"/>
          <p:nvPr/>
        </p:nvSpPr>
        <p:spPr>
          <a:xfrm>
            <a:off x="1188720" y="2724912"/>
            <a:ext cx="5852160" cy="320040"/>
          </a:xfrm>
          <a:prstGeom prst="rect">
            <a:avLst/>
          </a:prstGeom>
          <a:noFill/>
        </p:spPr>
        <p:txBody>
          <a:bodyPr wrap="square">
            <a:spAutoFit/>
          </a:bodyPr>
          <a:lstStyle/>
          <a:p>
            <a:pPr algn="l">
              <a:spcAft>
                <a:spcPts val="0"/>
              </a:spcAft>
            </a:pPr>
            <a:r>
              <a:rPr sz="1550" b="1" i="0">
                <a:solidFill>
                  <a:srgbClr val="0F2942"/>
                </a:solidFill>
                <a:latin typeface="Segoe UI"/>
              </a:rPr>
              <a:t>Un challenger crédible — et l'algorithme déployé dans l'arène</a:t>
            </a:r>
          </a:p>
        </p:txBody>
      </p:sp>
      <p:sp>
        <p:nvSpPr>
          <p:cNvPr id="17" name="TextBox 16"/>
          <p:cNvSpPr txBox="1"/>
          <p:nvPr/>
        </p:nvSpPr>
        <p:spPr>
          <a:xfrm>
            <a:off x="7223760" y="2752344"/>
            <a:ext cx="4297680" cy="320040"/>
          </a:xfrm>
          <a:prstGeom prst="rect">
            <a:avLst/>
          </a:prstGeom>
          <a:noFill/>
        </p:spPr>
        <p:txBody>
          <a:bodyPr wrap="square">
            <a:spAutoFit/>
          </a:bodyPr>
          <a:lstStyle/>
          <a:p>
            <a:pPr algn="l">
              <a:spcAft>
                <a:spcPts val="0"/>
              </a:spcAft>
            </a:pPr>
            <a:r>
              <a:rPr sz="1300" b="0" i="1">
                <a:solidFill>
                  <a:srgbClr val="64748B"/>
                </a:solidFill>
                <a:latin typeface="Segoe UI"/>
              </a:rPr>
              <a:t>sinon on élit un gagnant qu'on ne déploie pas</a:t>
            </a:r>
          </a:p>
        </p:txBody>
      </p:sp>
      <p:sp>
        <p:nvSpPr>
          <p:cNvPr id="18" name="Rectangle 17"/>
          <p:cNvSpPr/>
          <p:nvPr/>
        </p:nvSpPr>
        <p:spPr>
          <a:xfrm>
            <a:off x="566928" y="3163824"/>
            <a:ext cx="11064240" cy="5029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64408"/>
            <a:ext cx="365760" cy="320040"/>
          </a:xfrm>
          <a:prstGeom prst="rect">
            <a:avLst/>
          </a:prstGeom>
          <a:noFill/>
        </p:spPr>
        <p:txBody>
          <a:bodyPr wrap="square">
            <a:spAutoFit/>
          </a:bodyPr>
          <a:lstStyle/>
          <a:p>
            <a:pPr algn="l">
              <a:spcAft>
                <a:spcPts val="0"/>
              </a:spcAft>
            </a:pPr>
            <a:r>
              <a:rPr sz="1600" b="1" i="0">
                <a:solidFill>
                  <a:srgbClr val="0E7490"/>
                </a:solidFill>
                <a:latin typeface="Segoe UI"/>
              </a:rPr>
              <a:t>3</a:t>
            </a:r>
          </a:p>
        </p:txBody>
      </p:sp>
      <p:sp>
        <p:nvSpPr>
          <p:cNvPr id="20" name="TextBox 19"/>
          <p:cNvSpPr txBox="1"/>
          <p:nvPr/>
        </p:nvSpPr>
        <p:spPr>
          <a:xfrm>
            <a:off x="1188720" y="3255264"/>
            <a:ext cx="5852160" cy="320040"/>
          </a:xfrm>
          <a:prstGeom prst="rect">
            <a:avLst/>
          </a:prstGeom>
          <a:noFill/>
        </p:spPr>
        <p:txBody>
          <a:bodyPr wrap="square">
            <a:spAutoFit/>
          </a:bodyPr>
          <a:lstStyle/>
          <a:p>
            <a:pPr algn="l">
              <a:spcAft>
                <a:spcPts val="0"/>
              </a:spcAft>
            </a:pPr>
            <a:r>
              <a:rPr sz="1550" b="1" i="0">
                <a:solidFill>
                  <a:srgbClr val="0F2942"/>
                </a:solidFill>
                <a:latin typeface="Segoe UI"/>
              </a:rPr>
              <a:t>Protocole égalisé, un seul facteur varié à la fois</a:t>
            </a:r>
          </a:p>
        </p:txBody>
      </p:sp>
      <p:sp>
        <p:nvSpPr>
          <p:cNvPr id="21" name="TextBox 20"/>
          <p:cNvSpPr txBox="1"/>
          <p:nvPr/>
        </p:nvSpPr>
        <p:spPr>
          <a:xfrm>
            <a:off x="7223760" y="3282696"/>
            <a:ext cx="4297680" cy="320040"/>
          </a:xfrm>
          <a:prstGeom prst="rect">
            <a:avLst/>
          </a:prstGeom>
          <a:noFill/>
        </p:spPr>
        <p:txBody>
          <a:bodyPr wrap="square">
            <a:spAutoFit/>
          </a:bodyPr>
          <a:lstStyle/>
          <a:p>
            <a:pPr algn="l">
              <a:spcAft>
                <a:spcPts val="0"/>
              </a:spcAft>
            </a:pPr>
            <a:r>
              <a:rPr sz="1300" b="0" i="1">
                <a:solidFill>
                  <a:srgbClr val="64748B"/>
                </a:solidFill>
                <a:latin typeface="Segoe UI"/>
              </a:rPr>
              <a:t>sinon on attribue à un facteur un gain venu d'un autre</a:t>
            </a:r>
          </a:p>
        </p:txBody>
      </p:sp>
      <p:sp>
        <p:nvSpPr>
          <p:cNvPr id="22" name="Rectangle 21"/>
          <p:cNvSpPr/>
          <p:nvPr/>
        </p:nvSpPr>
        <p:spPr>
          <a:xfrm>
            <a:off x="566928" y="3694176"/>
            <a:ext cx="11064240" cy="502920"/>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94760"/>
            <a:ext cx="365760" cy="320040"/>
          </a:xfrm>
          <a:prstGeom prst="rect">
            <a:avLst/>
          </a:prstGeom>
          <a:noFill/>
        </p:spPr>
        <p:txBody>
          <a:bodyPr wrap="square">
            <a:spAutoFit/>
          </a:bodyPr>
          <a:lstStyle/>
          <a:p>
            <a:pPr algn="l">
              <a:spcAft>
                <a:spcPts val="0"/>
              </a:spcAft>
            </a:pPr>
            <a:r>
              <a:rPr sz="1600" b="1" i="0">
                <a:solidFill>
                  <a:srgbClr val="0E7490"/>
                </a:solidFill>
                <a:latin typeface="Segoe UI"/>
              </a:rPr>
              <a:t>4</a:t>
            </a:r>
          </a:p>
        </p:txBody>
      </p:sp>
      <p:sp>
        <p:nvSpPr>
          <p:cNvPr id="24" name="TextBox 23"/>
          <p:cNvSpPr txBox="1"/>
          <p:nvPr/>
        </p:nvSpPr>
        <p:spPr>
          <a:xfrm>
            <a:off x="1188720" y="3785616"/>
            <a:ext cx="5852160" cy="320040"/>
          </a:xfrm>
          <a:prstGeom prst="rect">
            <a:avLst/>
          </a:prstGeom>
          <a:noFill/>
        </p:spPr>
        <p:txBody>
          <a:bodyPr wrap="square">
            <a:spAutoFit/>
          </a:bodyPr>
          <a:lstStyle/>
          <a:p>
            <a:pPr algn="l">
              <a:spcAft>
                <a:spcPts val="0"/>
              </a:spcAft>
            </a:pPr>
            <a:r>
              <a:rPr sz="1550" b="1" i="0">
                <a:solidFill>
                  <a:srgbClr val="0F2942"/>
                </a:solidFill>
                <a:latin typeface="Segoe UI"/>
              </a:rPr>
              <a:t>Tout le monde est noté avec la même métrique de référence</a:t>
            </a:r>
          </a:p>
        </p:txBody>
      </p:sp>
      <p:sp>
        <p:nvSpPr>
          <p:cNvPr id="25" name="TextBox 24"/>
          <p:cNvSpPr txBox="1"/>
          <p:nvPr/>
        </p:nvSpPr>
        <p:spPr>
          <a:xfrm>
            <a:off x="7223760" y="3813048"/>
            <a:ext cx="4297680" cy="320040"/>
          </a:xfrm>
          <a:prstGeom prst="rect">
            <a:avLst/>
          </a:prstGeom>
          <a:noFill/>
        </p:spPr>
        <p:txBody>
          <a:bodyPr wrap="square">
            <a:spAutoFit/>
          </a:bodyPr>
          <a:lstStyle/>
          <a:p>
            <a:pPr algn="l">
              <a:spcAft>
                <a:spcPts val="0"/>
              </a:spcAft>
            </a:pPr>
            <a:r>
              <a:rPr sz="1300" b="0" i="1">
                <a:solidFill>
                  <a:srgbClr val="64748B"/>
                </a:solidFill>
                <a:latin typeface="Segoe UI"/>
              </a:rPr>
              <a:t>sinon chacun est jugé à sa propre aune</a:t>
            </a:r>
          </a:p>
        </p:txBody>
      </p:sp>
      <p:sp>
        <p:nvSpPr>
          <p:cNvPr id="26" name="Rectangle 25"/>
          <p:cNvSpPr/>
          <p:nvPr/>
        </p:nvSpPr>
        <p:spPr>
          <a:xfrm>
            <a:off x="566928" y="4224528"/>
            <a:ext cx="11064240" cy="5029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325112"/>
            <a:ext cx="365760" cy="320040"/>
          </a:xfrm>
          <a:prstGeom prst="rect">
            <a:avLst/>
          </a:prstGeom>
          <a:noFill/>
        </p:spPr>
        <p:txBody>
          <a:bodyPr wrap="square">
            <a:spAutoFit/>
          </a:bodyPr>
          <a:lstStyle/>
          <a:p>
            <a:pPr algn="l">
              <a:spcAft>
                <a:spcPts val="0"/>
              </a:spcAft>
            </a:pPr>
            <a:r>
              <a:rPr sz="1600" b="1" i="0">
                <a:solidFill>
                  <a:srgbClr val="0E7490"/>
                </a:solidFill>
                <a:latin typeface="Segoe UI"/>
              </a:rPr>
              <a:t>5</a:t>
            </a:r>
          </a:p>
        </p:txBody>
      </p:sp>
      <p:sp>
        <p:nvSpPr>
          <p:cNvPr id="28" name="TextBox 27"/>
          <p:cNvSpPr txBox="1"/>
          <p:nvPr/>
        </p:nvSpPr>
        <p:spPr>
          <a:xfrm>
            <a:off x="1188720" y="4315968"/>
            <a:ext cx="5852160" cy="320040"/>
          </a:xfrm>
          <a:prstGeom prst="rect">
            <a:avLst/>
          </a:prstGeom>
          <a:noFill/>
        </p:spPr>
        <p:txBody>
          <a:bodyPr wrap="square">
            <a:spAutoFit/>
          </a:bodyPr>
          <a:lstStyle/>
          <a:p>
            <a:pPr algn="l">
              <a:spcAft>
                <a:spcPts val="0"/>
              </a:spcAft>
            </a:pPr>
            <a:r>
              <a:rPr sz="1550" b="1" i="0">
                <a:solidFill>
                  <a:srgbClr val="0F2942"/>
                </a:solidFill>
                <a:latin typeface="Segoe UI"/>
              </a:rPr>
              <a:t>Des métriques opérationnelles, et la bonne métrique métier</a:t>
            </a:r>
          </a:p>
        </p:txBody>
      </p:sp>
      <p:sp>
        <p:nvSpPr>
          <p:cNvPr id="29" name="TextBox 28"/>
          <p:cNvSpPr txBox="1"/>
          <p:nvPr/>
        </p:nvSpPr>
        <p:spPr>
          <a:xfrm>
            <a:off x="7223760" y="4343400"/>
            <a:ext cx="4297680" cy="320040"/>
          </a:xfrm>
          <a:prstGeom prst="rect">
            <a:avLst/>
          </a:prstGeom>
          <a:noFill/>
        </p:spPr>
        <p:txBody>
          <a:bodyPr wrap="square">
            <a:spAutoFit/>
          </a:bodyPr>
          <a:lstStyle/>
          <a:p>
            <a:pPr algn="l">
              <a:spcAft>
                <a:spcPts val="0"/>
              </a:spcAft>
            </a:pPr>
            <a:r>
              <a:rPr sz="1300" b="0" i="1">
                <a:solidFill>
                  <a:srgbClr val="64748B"/>
                </a:solidFill>
                <a:latin typeface="Segoe UI"/>
              </a:rPr>
              <a:t>une alerte qui crie au loup est désactivée en trois jours</a:t>
            </a:r>
          </a:p>
        </p:txBody>
      </p:sp>
      <p:sp>
        <p:nvSpPr>
          <p:cNvPr id="30" name="Rectangle 29"/>
          <p:cNvSpPr/>
          <p:nvPr/>
        </p:nvSpPr>
        <p:spPr>
          <a:xfrm>
            <a:off x="566928" y="4754880"/>
            <a:ext cx="11064240" cy="502920"/>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55464"/>
            <a:ext cx="365760" cy="320040"/>
          </a:xfrm>
          <a:prstGeom prst="rect">
            <a:avLst/>
          </a:prstGeom>
          <a:noFill/>
        </p:spPr>
        <p:txBody>
          <a:bodyPr wrap="square">
            <a:spAutoFit/>
          </a:bodyPr>
          <a:lstStyle/>
          <a:p>
            <a:pPr algn="l">
              <a:spcAft>
                <a:spcPts val="0"/>
              </a:spcAft>
            </a:pPr>
            <a:r>
              <a:rPr sz="1600" b="1" i="0">
                <a:solidFill>
                  <a:srgbClr val="0E7490"/>
                </a:solidFill>
                <a:latin typeface="Segoe UI"/>
              </a:rPr>
              <a:t>6</a:t>
            </a:r>
          </a:p>
        </p:txBody>
      </p:sp>
      <p:sp>
        <p:nvSpPr>
          <p:cNvPr id="32" name="TextBox 31"/>
          <p:cNvSpPr txBox="1"/>
          <p:nvPr/>
        </p:nvSpPr>
        <p:spPr>
          <a:xfrm>
            <a:off x="1188720" y="4846320"/>
            <a:ext cx="5852160" cy="320040"/>
          </a:xfrm>
          <a:prstGeom prst="rect">
            <a:avLst/>
          </a:prstGeom>
          <a:noFill/>
        </p:spPr>
        <p:txBody>
          <a:bodyPr wrap="square">
            <a:spAutoFit/>
          </a:bodyPr>
          <a:lstStyle/>
          <a:p>
            <a:pPr algn="l">
              <a:spcAft>
                <a:spcPts val="0"/>
              </a:spcAft>
            </a:pPr>
            <a:r>
              <a:rPr sz="1550" b="1" i="0">
                <a:solidFill>
                  <a:srgbClr val="0F2942"/>
                </a:solidFill>
                <a:latin typeface="Segoe UI"/>
              </a:rPr>
              <a:t>Énoncer l'incertitude et le régime de validité</a:t>
            </a:r>
          </a:p>
        </p:txBody>
      </p:sp>
      <p:sp>
        <p:nvSpPr>
          <p:cNvPr id="33" name="TextBox 32"/>
          <p:cNvSpPr txBox="1"/>
          <p:nvPr/>
        </p:nvSpPr>
        <p:spPr>
          <a:xfrm>
            <a:off x="7223760" y="4873752"/>
            <a:ext cx="4297680" cy="320040"/>
          </a:xfrm>
          <a:prstGeom prst="rect">
            <a:avLst/>
          </a:prstGeom>
          <a:noFill/>
        </p:spPr>
        <p:txBody>
          <a:bodyPr wrap="square">
            <a:spAutoFit/>
          </a:bodyPr>
          <a:lstStyle/>
          <a:p>
            <a:pPr algn="l">
              <a:spcAft>
                <a:spcPts val="0"/>
              </a:spcAft>
            </a:pPr>
            <a:r>
              <a:rPr sz="1300" b="0" i="1">
                <a:solidFill>
                  <a:srgbClr val="64748B"/>
                </a:solidFill>
                <a:latin typeface="Segoe UI"/>
              </a:rPr>
              <a:t>quatre décimales sur huit observations ne valent rien</a:t>
            </a:r>
          </a:p>
        </p:txBody>
      </p:sp>
      <p:sp>
        <p:nvSpPr>
          <p:cNvPr id="34" name="Rectangle 33"/>
          <p:cNvSpPr/>
          <p:nvPr/>
        </p:nvSpPr>
        <p:spPr>
          <a:xfrm>
            <a:off x="566928" y="5285232"/>
            <a:ext cx="11064240" cy="502920"/>
          </a:xfrm>
          <a:prstGeom prst="rect">
            <a:avLst/>
          </a:prstGeom>
          <a:solidFill>
            <a:srgbClr val="E0F2F7"/>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385816"/>
            <a:ext cx="365760" cy="320040"/>
          </a:xfrm>
          <a:prstGeom prst="rect">
            <a:avLst/>
          </a:prstGeom>
          <a:noFill/>
        </p:spPr>
        <p:txBody>
          <a:bodyPr wrap="square">
            <a:spAutoFit/>
          </a:bodyPr>
          <a:lstStyle/>
          <a:p>
            <a:pPr algn="l">
              <a:spcAft>
                <a:spcPts val="0"/>
              </a:spcAft>
            </a:pPr>
            <a:r>
              <a:rPr sz="1600" b="1" i="0">
                <a:solidFill>
                  <a:srgbClr val="0E7490"/>
                </a:solidFill>
                <a:latin typeface="Segoe UI"/>
              </a:rPr>
              <a:t>7</a:t>
            </a:r>
          </a:p>
        </p:txBody>
      </p:sp>
      <p:sp>
        <p:nvSpPr>
          <p:cNvPr id="36" name="TextBox 35"/>
          <p:cNvSpPr txBox="1"/>
          <p:nvPr/>
        </p:nvSpPr>
        <p:spPr>
          <a:xfrm>
            <a:off x="1188720" y="5376672"/>
            <a:ext cx="5852160" cy="320040"/>
          </a:xfrm>
          <a:prstGeom prst="rect">
            <a:avLst/>
          </a:prstGeom>
          <a:noFill/>
        </p:spPr>
        <p:txBody>
          <a:bodyPr wrap="square">
            <a:spAutoFit/>
          </a:bodyPr>
          <a:lstStyle/>
          <a:p>
            <a:pPr algn="l">
              <a:spcAft>
                <a:spcPts val="0"/>
              </a:spcAft>
            </a:pPr>
            <a:r>
              <a:rPr sz="1550" b="1" i="0">
                <a:solidFill>
                  <a:srgbClr val="0F2942"/>
                </a:solidFill>
                <a:latin typeface="Segoe UI"/>
              </a:rPr>
              <a:t>Consommer la même source de données que le service</a:t>
            </a:r>
          </a:p>
        </p:txBody>
      </p:sp>
      <p:sp>
        <p:nvSpPr>
          <p:cNvPr id="37" name="TextBox 36"/>
          <p:cNvSpPr txBox="1"/>
          <p:nvPr/>
        </p:nvSpPr>
        <p:spPr>
          <a:xfrm>
            <a:off x="7223760" y="5404104"/>
            <a:ext cx="4297680" cy="320040"/>
          </a:xfrm>
          <a:prstGeom prst="rect">
            <a:avLst/>
          </a:prstGeom>
          <a:noFill/>
        </p:spPr>
        <p:txBody>
          <a:bodyPr wrap="square">
            <a:spAutoFit/>
          </a:bodyPr>
          <a:lstStyle/>
          <a:p>
            <a:pPr algn="l">
              <a:spcAft>
                <a:spcPts val="0"/>
              </a:spcAft>
            </a:pPr>
            <a:r>
              <a:rPr sz="1300" b="0" i="1">
                <a:solidFill>
                  <a:srgbClr val="64748B"/>
                </a:solidFill>
                <a:latin typeface="Segoe UI"/>
              </a:rPr>
              <a:t>exécuter la vraie fonction ne suffit pas — il faut le vrai chemin</a:t>
            </a:r>
          </a:p>
        </p:txBody>
      </p:sp>
      <p:sp>
        <p:nvSpPr>
          <p:cNvPr id="38" name="TextBox 37"/>
          <p:cNvSpPr txBox="1"/>
          <p:nvPr/>
        </p:nvSpPr>
        <p:spPr>
          <a:xfrm>
            <a:off x="566928" y="5888736"/>
            <a:ext cx="11064240" cy="365760"/>
          </a:xfrm>
          <a:prstGeom prst="rect">
            <a:avLst/>
          </a:prstGeom>
          <a:noFill/>
        </p:spPr>
        <p:txBody>
          <a:bodyPr wrap="square">
            <a:spAutoFit/>
          </a:bodyPr>
          <a:lstStyle/>
          <a:p>
            <a:pPr algn="l">
              <a:spcAft>
                <a:spcPts val="0"/>
              </a:spcAft>
            </a:pPr>
            <a:r>
              <a:rPr sz="1500" b="1" i="0">
                <a:solidFill>
                  <a:srgbClr val="0E7490"/>
                </a:solidFill>
                <a:latin typeface="Segoe UI"/>
              </a:rPr>
              <a:t>Corollaire  ·  le perdant est reclassé, pas jeté — un benchmark dit qui gagne, et à quoi sert l'autre.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MS6 · LE PROBLÈME</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Ce n'est pas un KMeans()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Trois contraintes font sortir ce problème du clustering standard.</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MS6 · Clustering géospatial capacitaire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9</a:t>
            </a:r>
          </a:p>
        </p:txBody>
      </p:sp>
      <p:pic>
        <p:nvPicPr>
          <p:cNvPr id="10" name="Picture 9" descr="02b_ecole_oued.png"/>
          <p:cNvPicPr>
            <a:picLocks noChangeAspect="1"/>
          </p:cNvPicPr>
          <p:nvPr/>
        </p:nvPicPr>
        <p:blipFill>
          <a:blip r:embed="rId2"/>
          <a:stretch>
            <a:fillRect/>
          </a:stretch>
        </p:blipFill>
        <p:spPr>
          <a:xfrm>
            <a:off x="566928" y="2194560"/>
            <a:ext cx="5029200" cy="3892163"/>
          </a:xfrm>
          <a:prstGeom prst="rect">
            <a:avLst/>
          </a:prstGeom>
        </p:spPr>
      </p:pic>
      <p:sp>
        <p:nvSpPr>
          <p:cNvPr id="11" name="Rectangle 10"/>
          <p:cNvSpPr/>
          <p:nvPr/>
        </p:nvSpPr>
        <p:spPr>
          <a:xfrm>
            <a:off x="5943600" y="2194560"/>
            <a:ext cx="5715000" cy="102412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0" y="2194560"/>
            <a:ext cx="45720" cy="10241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2295144"/>
            <a:ext cx="5303520" cy="274320"/>
          </a:xfrm>
          <a:prstGeom prst="rect">
            <a:avLst/>
          </a:prstGeom>
          <a:noFill/>
        </p:spPr>
        <p:txBody>
          <a:bodyPr wrap="square">
            <a:spAutoFit/>
          </a:bodyPr>
          <a:lstStyle/>
          <a:p>
            <a:pPr algn="l">
              <a:spcAft>
                <a:spcPts val="0"/>
              </a:spcAft>
            </a:pPr>
            <a:r>
              <a:rPr sz="1700" b="1" i="0">
                <a:solidFill>
                  <a:srgbClr val="0F2942"/>
                </a:solidFill>
                <a:latin typeface="Segoe UI"/>
              </a:rPr>
              <a:t>Capacité stricte</a:t>
            </a:r>
          </a:p>
        </p:txBody>
      </p:sp>
      <p:sp>
        <p:nvSpPr>
          <p:cNvPr id="14" name="TextBox 13"/>
          <p:cNvSpPr txBox="1"/>
          <p:nvPr/>
        </p:nvSpPr>
        <p:spPr>
          <a:xfrm>
            <a:off x="6172200" y="2615184"/>
            <a:ext cx="5349240" cy="548640"/>
          </a:xfrm>
          <a:prstGeom prst="rect">
            <a:avLst/>
          </a:prstGeom>
          <a:noFill/>
        </p:spPr>
        <p:txBody>
          <a:bodyPr wrap="square">
            <a:spAutoFit/>
          </a:bodyPr>
          <a:lstStyle/>
          <a:p>
            <a:pPr algn="l">
              <a:spcAft>
                <a:spcPts val="0"/>
              </a:spcAft>
            </a:pPr>
            <a:r>
              <a:rPr sz="1400" b="0" i="0">
                <a:solidFill>
                  <a:srgbClr val="64748B"/>
                </a:solidFill>
                <a:latin typeface="Segoe UI"/>
              </a:rPr>
              <a:t>Un groupe de 53 élèves n'est pas « un peu trop grand » : il est inutilisable. La contrainte est dure, pas une pénalité.</a:t>
            </a:r>
          </a:p>
        </p:txBody>
      </p:sp>
      <p:sp>
        <p:nvSpPr>
          <p:cNvPr id="15" name="Rectangle 14"/>
          <p:cNvSpPr/>
          <p:nvPr/>
        </p:nvSpPr>
        <p:spPr>
          <a:xfrm>
            <a:off x="5943600" y="3328416"/>
            <a:ext cx="5715000" cy="102412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0" y="3328416"/>
            <a:ext cx="45720" cy="10241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429000"/>
            <a:ext cx="5303520" cy="274320"/>
          </a:xfrm>
          <a:prstGeom prst="rect">
            <a:avLst/>
          </a:prstGeom>
          <a:noFill/>
        </p:spPr>
        <p:txBody>
          <a:bodyPr wrap="square">
            <a:spAutoFit/>
          </a:bodyPr>
          <a:lstStyle/>
          <a:p>
            <a:pPr algn="l">
              <a:spcAft>
                <a:spcPts val="0"/>
              </a:spcAft>
            </a:pPr>
            <a:r>
              <a:rPr sz="1700" b="1" i="0">
                <a:solidFill>
                  <a:srgbClr val="0F2942"/>
                </a:solidFill>
                <a:latin typeface="Segoe UI"/>
              </a:rPr>
              <a:t>Compacité = temps à bord</a:t>
            </a:r>
          </a:p>
        </p:txBody>
      </p:sp>
      <p:sp>
        <p:nvSpPr>
          <p:cNvPr id="18" name="TextBox 17"/>
          <p:cNvSpPr txBox="1"/>
          <p:nvPr/>
        </p:nvSpPr>
        <p:spPr>
          <a:xfrm>
            <a:off x="6172200" y="3749040"/>
            <a:ext cx="5349240" cy="548640"/>
          </a:xfrm>
          <a:prstGeom prst="rect">
            <a:avLst/>
          </a:prstGeom>
          <a:noFill/>
        </p:spPr>
        <p:txBody>
          <a:bodyPr wrap="square">
            <a:spAutoFit/>
          </a:bodyPr>
          <a:lstStyle/>
          <a:p>
            <a:pPr algn="l">
              <a:spcAft>
                <a:spcPts val="0"/>
              </a:spcAft>
            </a:pPr>
            <a:r>
              <a:rPr sz="1400" b="0" i="0">
                <a:solidFill>
                  <a:srgbClr val="64748B"/>
                </a:solidFill>
                <a:latin typeface="Segoe UI"/>
              </a:rPr>
              <a:t>La compacité géométrique n'est pas un score esthétique : c'est le temps qu'un enfant passe dans le bus.</a:t>
            </a:r>
          </a:p>
        </p:txBody>
      </p:sp>
      <p:sp>
        <p:nvSpPr>
          <p:cNvPr id="19" name="Rectangle 18"/>
          <p:cNvSpPr/>
          <p:nvPr/>
        </p:nvSpPr>
        <p:spPr>
          <a:xfrm>
            <a:off x="5943600" y="4462272"/>
            <a:ext cx="5715000" cy="102412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0" y="4462272"/>
            <a:ext cx="45720" cy="10241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4562856"/>
            <a:ext cx="5303520" cy="274320"/>
          </a:xfrm>
          <a:prstGeom prst="rect">
            <a:avLst/>
          </a:prstGeom>
          <a:noFill/>
        </p:spPr>
        <p:txBody>
          <a:bodyPr wrap="square">
            <a:spAutoFit/>
          </a:bodyPr>
          <a:lstStyle/>
          <a:p>
            <a:pPr algn="l">
              <a:spcAft>
                <a:spcPts val="0"/>
              </a:spcAft>
            </a:pPr>
            <a:r>
              <a:rPr sz="1700" b="1" i="0">
                <a:solidFill>
                  <a:srgbClr val="0F2942"/>
                </a:solidFill>
                <a:latin typeface="Segoe UI"/>
              </a:rPr>
              <a:t>Stabilité</a:t>
            </a:r>
          </a:p>
        </p:txBody>
      </p:sp>
      <p:sp>
        <p:nvSpPr>
          <p:cNvPr id="22" name="TextBox 21"/>
          <p:cNvSpPr txBox="1"/>
          <p:nvPr/>
        </p:nvSpPr>
        <p:spPr>
          <a:xfrm>
            <a:off x="6172200" y="4882896"/>
            <a:ext cx="5349240" cy="548640"/>
          </a:xfrm>
          <a:prstGeom prst="rect">
            <a:avLst/>
          </a:prstGeom>
          <a:noFill/>
        </p:spPr>
        <p:txBody>
          <a:bodyPr wrap="square">
            <a:spAutoFit/>
          </a:bodyPr>
          <a:lstStyle/>
          <a:p>
            <a:pPr algn="l">
              <a:spcAft>
                <a:spcPts val="0"/>
              </a:spcAft>
            </a:pPr>
            <a:r>
              <a:rPr sz="1400" b="0" i="0">
                <a:solidFill>
                  <a:srgbClr val="64748B"/>
                </a:solidFill>
                <a:latin typeface="Segoe UI"/>
              </a:rPr>
              <a:t>Un enfant ne doit pas changer de bus parce qu'un autre s'est inscrit. Le clustering est rejoué à chaque inscription.</a:t>
            </a:r>
          </a:p>
        </p:txBody>
      </p:sp>
      <p:sp>
        <p:nvSpPr>
          <p:cNvPr id="23" name="TextBox 22"/>
          <p:cNvSpPr txBox="1"/>
          <p:nvPr/>
        </p:nvSpPr>
        <p:spPr>
          <a:xfrm>
            <a:off x="5943600" y="5632704"/>
            <a:ext cx="5715000" cy="640080"/>
          </a:xfrm>
          <a:prstGeom prst="rect">
            <a:avLst/>
          </a:prstGeom>
          <a:noFill/>
        </p:spPr>
        <p:txBody>
          <a:bodyPr wrap="square">
            <a:spAutoFit/>
          </a:bodyPr>
          <a:lstStyle/>
          <a:p>
            <a:pPr algn="l">
              <a:spcAft>
                <a:spcPts val="0"/>
              </a:spcAft>
            </a:pPr>
            <a:r>
              <a:rPr sz="1400" b="1" i="0">
                <a:solidFill>
                  <a:srgbClr val="0E7490"/>
                </a:solidFill>
                <a:latin typeface="Segoe UI"/>
              </a:rPr>
              <a:t>Terrain  ·  6 zones, ~20 secteurs, un oued infranchissable qui sépare des quartiers, 5 % d'élèves dispersés.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MS6 · PRÉPARATION DES DONNÉES</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Deux décisions de préparation qui changent tout</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Aucune des deux ne relève de sklearn : elles relèvent de la géométrie du terrain.</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MS6 · Clustering géospatial capacitaire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10</a:t>
            </a:r>
          </a:p>
        </p:txBody>
      </p:sp>
      <p:sp>
        <p:nvSpPr>
          <p:cNvPr id="10" name="Rectangle 9"/>
          <p:cNvSpPr/>
          <p:nvPr/>
        </p:nvSpPr>
        <p:spPr>
          <a:xfrm>
            <a:off x="566928" y="2103120"/>
            <a:ext cx="5394960" cy="192024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31136"/>
            <a:ext cx="4937760" cy="320040"/>
          </a:xfrm>
          <a:prstGeom prst="rect">
            <a:avLst/>
          </a:prstGeom>
          <a:noFill/>
        </p:spPr>
        <p:txBody>
          <a:bodyPr wrap="square">
            <a:spAutoFit/>
          </a:bodyPr>
          <a:lstStyle/>
          <a:p>
            <a:pPr algn="l">
              <a:spcAft>
                <a:spcPts val="0"/>
              </a:spcAft>
            </a:pPr>
            <a:r>
              <a:rPr sz="1700" b="1" i="0">
                <a:solidFill>
                  <a:srgbClr val="0E7490"/>
                </a:solidFill>
                <a:latin typeface="Segoe UI"/>
              </a:rPr>
              <a:t>1 — Projeter, ne pas normaliser</a:t>
            </a:r>
          </a:p>
        </p:txBody>
      </p:sp>
      <p:sp>
        <p:nvSpPr>
          <p:cNvPr id="12" name="TextBox 11"/>
          <p:cNvSpPr txBox="1"/>
          <p:nvPr/>
        </p:nvSpPr>
        <p:spPr>
          <a:xfrm>
            <a:off x="777240" y="2606040"/>
            <a:ext cx="5029200" cy="1280160"/>
          </a:xfrm>
          <a:prstGeom prst="rect">
            <a:avLst/>
          </a:prstGeom>
          <a:noFill/>
        </p:spPr>
        <p:txBody>
          <a:bodyPr wrap="square">
            <a:spAutoFit/>
          </a:bodyPr>
          <a:lstStyle/>
          <a:p>
            <a:pPr algn="l">
              <a:spcAft>
                <a:spcPts val="0"/>
              </a:spcAft>
            </a:pPr>
            <a:r>
              <a:rPr sz="1450" b="0" i="0">
                <a:solidFill>
                  <a:srgbClr val="1F2937"/>
                </a:solidFill>
                <a:latin typeface="Segoe UI"/>
              </a:rPr>
              <a:t>StandardScaler(lat, lon) fausse la géométrie : à 33,9° N, un degré de longitude ne vaut pas un degré de latitude.
Projection UTM 30N (EPSG:32630) → coordonnées en mètres → la silhouette devient interprétable en distances réelles.</a:t>
            </a:r>
          </a:p>
        </p:txBody>
      </p:sp>
      <p:sp>
        <p:nvSpPr>
          <p:cNvPr id="13" name="Rectangle 12"/>
          <p:cNvSpPr/>
          <p:nvPr/>
        </p:nvSpPr>
        <p:spPr>
          <a:xfrm>
            <a:off x="6236208" y="2103120"/>
            <a:ext cx="5394960" cy="192024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31136"/>
            <a:ext cx="4937760" cy="320040"/>
          </a:xfrm>
          <a:prstGeom prst="rect">
            <a:avLst/>
          </a:prstGeom>
          <a:noFill/>
        </p:spPr>
        <p:txBody>
          <a:bodyPr wrap="square">
            <a:spAutoFit/>
          </a:bodyPr>
          <a:lstStyle/>
          <a:p>
            <a:pPr algn="l">
              <a:spcAft>
                <a:spcPts val="0"/>
              </a:spcAft>
            </a:pPr>
            <a:r>
              <a:rPr sz="1700" b="1" i="0">
                <a:solidFill>
                  <a:srgbClr val="0E7490"/>
                </a:solidFill>
                <a:latin typeface="Segoe UI"/>
              </a:rPr>
              <a:t>2 — Mesurer la route, pas le vol d'oiseau</a:t>
            </a:r>
          </a:p>
        </p:txBody>
      </p:sp>
      <p:sp>
        <p:nvSpPr>
          <p:cNvPr id="15" name="TextBox 14"/>
          <p:cNvSpPr txBox="1"/>
          <p:nvPr/>
        </p:nvSpPr>
        <p:spPr>
          <a:xfrm>
            <a:off x="6446520" y="2606040"/>
            <a:ext cx="5029200" cy="1280160"/>
          </a:xfrm>
          <a:prstGeom prst="rect">
            <a:avLst/>
          </a:prstGeom>
          <a:noFill/>
        </p:spPr>
        <p:txBody>
          <a:bodyPr wrap="square">
            <a:spAutoFit/>
          </a:bodyPr>
          <a:lstStyle/>
          <a:p>
            <a:pPr algn="l">
              <a:spcAft>
                <a:spcPts val="0"/>
              </a:spcAft>
            </a:pPr>
            <a:r>
              <a:rPr sz="1450" b="0" i="0">
                <a:solidFill>
                  <a:srgbClr val="1F2937"/>
                </a:solidFill>
                <a:latin typeface="Segoe UI"/>
              </a:rPr>
              <a:t>Deux élèves séparés par l'oued sont proches à vol d'oiseau et loin en voiture.
Matrice routière OSRM 300 × 300, assemblée par blocs de 50. Le vol d'oiseau sous-estime le trajet réel de 1,5 à 1,7 ×.</a:t>
            </a:r>
          </a:p>
        </p:txBody>
      </p:sp>
      <p:pic>
        <p:nvPicPr>
          <p:cNvPr id="16" name="Picture 15" descr="p01_route_vs_voldoiseau.png"/>
          <p:cNvPicPr>
            <a:picLocks noChangeAspect="1"/>
          </p:cNvPicPr>
          <p:nvPr/>
        </p:nvPicPr>
        <p:blipFill>
          <a:blip r:embed="rId2"/>
          <a:stretch>
            <a:fillRect/>
          </a:stretch>
        </p:blipFill>
        <p:spPr>
          <a:xfrm>
            <a:off x="2194560" y="4206240"/>
            <a:ext cx="6538117" cy="2286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MS6 · MÉTHODE</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Le pipeline déployé, et pourquoi chaque étage existe</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La capacité n'est pas espérée après coup : elle est garantie par construction.</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MS6 · Clustering géospatial capacitaire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11</a:t>
            </a:r>
          </a:p>
        </p:txBody>
      </p:sp>
      <p:sp>
        <p:nvSpPr>
          <p:cNvPr id="10" name="Rectangle 9"/>
          <p:cNvSpPr/>
          <p:nvPr/>
        </p:nvSpPr>
        <p:spPr>
          <a:xfrm>
            <a:off x="566928" y="2103120"/>
            <a:ext cx="2560320" cy="14630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03120"/>
            <a:ext cx="256032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286000"/>
            <a:ext cx="2286000" cy="320040"/>
          </a:xfrm>
          <a:prstGeom prst="rect">
            <a:avLst/>
          </a:prstGeom>
          <a:noFill/>
        </p:spPr>
        <p:txBody>
          <a:bodyPr wrap="square">
            <a:spAutoFit/>
          </a:bodyPr>
          <a:lstStyle/>
          <a:p>
            <a:pPr algn="l">
              <a:spcAft>
                <a:spcPts val="0"/>
              </a:spcAft>
            </a:pPr>
            <a:r>
              <a:rPr sz="1600" b="1" i="0">
                <a:solidFill>
                  <a:srgbClr val="0E7490"/>
                </a:solidFill>
                <a:latin typeface="Segoe UI"/>
              </a:rPr>
              <a:t>DBSCAN</a:t>
            </a:r>
          </a:p>
        </p:txBody>
      </p:sp>
      <p:sp>
        <p:nvSpPr>
          <p:cNvPr id="13" name="TextBox 12"/>
          <p:cNvSpPr txBox="1"/>
          <p:nvPr/>
        </p:nvSpPr>
        <p:spPr>
          <a:xfrm>
            <a:off x="713232" y="2633472"/>
            <a:ext cx="2331720" cy="320040"/>
          </a:xfrm>
          <a:prstGeom prst="rect">
            <a:avLst/>
          </a:prstGeom>
          <a:noFill/>
        </p:spPr>
        <p:txBody>
          <a:bodyPr wrap="square">
            <a:spAutoFit/>
          </a:bodyPr>
          <a:lstStyle/>
          <a:p>
            <a:pPr algn="l">
              <a:spcAft>
                <a:spcPts val="0"/>
              </a:spcAft>
            </a:pPr>
            <a:r>
              <a:rPr sz="1400" b="1" i="0">
                <a:solidFill>
                  <a:srgbClr val="0F2942"/>
                </a:solidFill>
                <a:latin typeface="Segoe UI"/>
              </a:rPr>
              <a:t>Isoler les élèves dispersés</a:t>
            </a:r>
          </a:p>
        </p:txBody>
      </p:sp>
      <p:sp>
        <p:nvSpPr>
          <p:cNvPr id="14" name="TextBox 13"/>
          <p:cNvSpPr txBox="1"/>
          <p:nvPr/>
        </p:nvSpPr>
        <p:spPr>
          <a:xfrm>
            <a:off x="713232" y="2944368"/>
            <a:ext cx="2331720" cy="548640"/>
          </a:xfrm>
          <a:prstGeom prst="rect">
            <a:avLst/>
          </a:prstGeom>
          <a:noFill/>
        </p:spPr>
        <p:txBody>
          <a:bodyPr wrap="square">
            <a:spAutoFit/>
          </a:bodyPr>
          <a:lstStyle/>
          <a:p>
            <a:pPr algn="l">
              <a:spcAft>
                <a:spcPts val="0"/>
              </a:spcAft>
            </a:pPr>
            <a:r>
              <a:rPr sz="1250" b="0" i="0">
                <a:solidFill>
                  <a:srgbClr val="64748B"/>
                </a:solidFill>
                <a:latin typeface="Segoe UI"/>
              </a:rPr>
              <a:t>Ramassage individuel — 17 élèves</a:t>
            </a:r>
          </a:p>
        </p:txBody>
      </p:sp>
      <p:sp>
        <p:nvSpPr>
          <p:cNvPr id="15" name="TextBox 14"/>
          <p:cNvSpPr txBox="1"/>
          <p:nvPr/>
        </p:nvSpPr>
        <p:spPr>
          <a:xfrm>
            <a:off x="3154680" y="2651760"/>
            <a:ext cx="320040" cy="365760"/>
          </a:xfrm>
          <a:prstGeom prst="rect">
            <a:avLst/>
          </a:prstGeom>
          <a:noFill/>
        </p:spPr>
        <p:txBody>
          <a:bodyPr wrap="square">
            <a:spAutoFit/>
          </a:bodyPr>
          <a:lstStyle/>
          <a:p>
            <a:pPr algn="l">
              <a:spcAft>
                <a:spcPts val="0"/>
              </a:spcAft>
            </a:pPr>
            <a:r>
              <a:rPr sz="2000" b="1" i="0">
                <a:solidFill>
                  <a:srgbClr val="0E7490"/>
                </a:solidFill>
                <a:latin typeface="Segoe UI"/>
              </a:rPr>
              <a:t>→</a:t>
            </a:r>
          </a:p>
        </p:txBody>
      </p:sp>
      <p:sp>
        <p:nvSpPr>
          <p:cNvPr id="16" name="Rectangle 15"/>
          <p:cNvSpPr/>
          <p:nvPr/>
        </p:nvSpPr>
        <p:spPr>
          <a:xfrm>
            <a:off x="3429000" y="2103120"/>
            <a:ext cx="2560320" cy="14630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9000" y="2103120"/>
            <a:ext cx="256032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75304" y="2286000"/>
            <a:ext cx="2286000" cy="320040"/>
          </a:xfrm>
          <a:prstGeom prst="rect">
            <a:avLst/>
          </a:prstGeom>
          <a:noFill/>
        </p:spPr>
        <p:txBody>
          <a:bodyPr wrap="square">
            <a:spAutoFit/>
          </a:bodyPr>
          <a:lstStyle/>
          <a:p>
            <a:pPr algn="l">
              <a:spcAft>
                <a:spcPts val="0"/>
              </a:spcAft>
            </a:pPr>
            <a:r>
              <a:rPr sz="1600" b="1" i="0">
                <a:solidFill>
                  <a:srgbClr val="0E7490"/>
                </a:solidFill>
                <a:latin typeface="Segoe UI"/>
              </a:rPr>
              <a:t>Pareto sur k</a:t>
            </a:r>
          </a:p>
        </p:txBody>
      </p:sp>
      <p:sp>
        <p:nvSpPr>
          <p:cNvPr id="19" name="TextBox 18"/>
          <p:cNvSpPr txBox="1"/>
          <p:nvPr/>
        </p:nvSpPr>
        <p:spPr>
          <a:xfrm>
            <a:off x="3575304" y="2633472"/>
            <a:ext cx="2331720" cy="320040"/>
          </a:xfrm>
          <a:prstGeom prst="rect">
            <a:avLst/>
          </a:prstGeom>
          <a:noFill/>
        </p:spPr>
        <p:txBody>
          <a:bodyPr wrap="square">
            <a:spAutoFit/>
          </a:bodyPr>
          <a:lstStyle/>
          <a:p>
            <a:pPr algn="l">
              <a:spcAft>
                <a:spcPts val="0"/>
              </a:spcAft>
            </a:pPr>
            <a:r>
              <a:rPr sz="1400" b="1" i="0">
                <a:solidFill>
                  <a:srgbClr val="0F2942"/>
                </a:solidFill>
                <a:latin typeface="Segoe UI"/>
              </a:rPr>
              <a:t>Dériver le nombre de bus</a:t>
            </a:r>
          </a:p>
        </p:txBody>
      </p:sp>
      <p:sp>
        <p:nvSpPr>
          <p:cNvPr id="20" name="TextBox 19"/>
          <p:cNvSpPr txBox="1"/>
          <p:nvPr/>
        </p:nvSpPr>
        <p:spPr>
          <a:xfrm>
            <a:off x="3575304" y="2944368"/>
            <a:ext cx="2331720" cy="548640"/>
          </a:xfrm>
          <a:prstGeom prst="rect">
            <a:avLst/>
          </a:prstGeom>
          <a:noFill/>
        </p:spPr>
        <p:txBody>
          <a:bodyPr wrap="square">
            <a:spAutoFit/>
          </a:bodyPr>
          <a:lstStyle/>
          <a:p>
            <a:pPr algn="l">
              <a:spcAft>
                <a:spcPts val="0"/>
              </a:spcAft>
            </a:pPr>
            <a:r>
              <a:rPr sz="1250" b="0" i="0">
                <a:solidFill>
                  <a:srgbClr val="64748B"/>
                </a:solidFill>
                <a:latin typeface="Segoe UI"/>
              </a:rPr>
              <a:t>k n'est jamais fixé : il est arbitré qualité ↔ flotte</a:t>
            </a:r>
          </a:p>
        </p:txBody>
      </p:sp>
      <p:sp>
        <p:nvSpPr>
          <p:cNvPr id="21" name="TextBox 20"/>
          <p:cNvSpPr txBox="1"/>
          <p:nvPr/>
        </p:nvSpPr>
        <p:spPr>
          <a:xfrm>
            <a:off x="6016752" y="2651760"/>
            <a:ext cx="320040" cy="365760"/>
          </a:xfrm>
          <a:prstGeom prst="rect">
            <a:avLst/>
          </a:prstGeom>
          <a:noFill/>
        </p:spPr>
        <p:txBody>
          <a:bodyPr wrap="square">
            <a:spAutoFit/>
          </a:bodyPr>
          <a:lstStyle/>
          <a:p>
            <a:pPr algn="l">
              <a:spcAft>
                <a:spcPts val="0"/>
              </a:spcAft>
            </a:pPr>
            <a:r>
              <a:rPr sz="2000" b="1" i="0">
                <a:solidFill>
                  <a:srgbClr val="0E7490"/>
                </a:solidFill>
                <a:latin typeface="Segoe UI"/>
              </a:rPr>
              <a:t>→</a:t>
            </a:r>
          </a:p>
        </p:txBody>
      </p:sp>
      <p:sp>
        <p:nvSpPr>
          <p:cNvPr id="22" name="Rectangle 21"/>
          <p:cNvSpPr/>
          <p:nvPr/>
        </p:nvSpPr>
        <p:spPr>
          <a:xfrm>
            <a:off x="6291072" y="2103120"/>
            <a:ext cx="2560320" cy="14630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91072" y="2103120"/>
            <a:ext cx="256032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2286000"/>
            <a:ext cx="2286000" cy="320040"/>
          </a:xfrm>
          <a:prstGeom prst="rect">
            <a:avLst/>
          </a:prstGeom>
          <a:noFill/>
        </p:spPr>
        <p:txBody>
          <a:bodyPr wrap="square">
            <a:spAutoFit/>
          </a:bodyPr>
          <a:lstStyle/>
          <a:p>
            <a:pPr algn="l">
              <a:spcAft>
                <a:spcPts val="0"/>
              </a:spcAft>
            </a:pPr>
            <a:r>
              <a:rPr sz="1600" b="1" i="0">
                <a:solidFill>
                  <a:srgbClr val="0E7490"/>
                </a:solidFill>
                <a:latin typeface="Segoe UI"/>
              </a:rPr>
              <a:t>k-médoïdes</a:t>
            </a:r>
          </a:p>
        </p:txBody>
      </p:sp>
      <p:sp>
        <p:nvSpPr>
          <p:cNvPr id="25" name="TextBox 24"/>
          <p:cNvSpPr txBox="1"/>
          <p:nvPr/>
        </p:nvSpPr>
        <p:spPr>
          <a:xfrm>
            <a:off x="6437376" y="2633472"/>
            <a:ext cx="2331720" cy="320040"/>
          </a:xfrm>
          <a:prstGeom prst="rect">
            <a:avLst/>
          </a:prstGeom>
          <a:noFill/>
        </p:spPr>
        <p:txBody>
          <a:bodyPr wrap="square">
            <a:spAutoFit/>
          </a:bodyPr>
          <a:lstStyle/>
          <a:p>
            <a:pPr algn="l">
              <a:spcAft>
                <a:spcPts val="0"/>
              </a:spcAft>
            </a:pPr>
            <a:r>
              <a:rPr sz="1400" b="1" i="0">
                <a:solidFill>
                  <a:srgbClr val="0F2942"/>
                </a:solidFill>
                <a:latin typeface="Segoe UI"/>
              </a:rPr>
              <a:t>Placer les centres sur la route</a:t>
            </a:r>
          </a:p>
        </p:txBody>
      </p:sp>
      <p:sp>
        <p:nvSpPr>
          <p:cNvPr id="26" name="TextBox 25"/>
          <p:cNvSpPr txBox="1"/>
          <p:nvPr/>
        </p:nvSpPr>
        <p:spPr>
          <a:xfrm>
            <a:off x="6437376" y="2944368"/>
            <a:ext cx="2331720" cy="548640"/>
          </a:xfrm>
          <a:prstGeom prst="rect">
            <a:avLst/>
          </a:prstGeom>
          <a:noFill/>
        </p:spPr>
        <p:txBody>
          <a:bodyPr wrap="square">
            <a:spAutoFit/>
          </a:bodyPr>
          <a:lstStyle/>
          <a:p>
            <a:pPr algn="l">
              <a:spcAft>
                <a:spcPts val="0"/>
              </a:spcAft>
            </a:pPr>
            <a:r>
              <a:rPr sz="1250" b="0" i="0">
                <a:solidFill>
                  <a:srgbClr val="64748B"/>
                </a:solidFill>
                <a:latin typeface="Segoe UI"/>
              </a:rPr>
              <a:t>Médoïde = un vrai point du réseau, pas une moyenne</a:t>
            </a:r>
          </a:p>
        </p:txBody>
      </p:sp>
      <p:sp>
        <p:nvSpPr>
          <p:cNvPr id="27" name="TextBox 26"/>
          <p:cNvSpPr txBox="1"/>
          <p:nvPr/>
        </p:nvSpPr>
        <p:spPr>
          <a:xfrm>
            <a:off x="8878824" y="2651760"/>
            <a:ext cx="320040" cy="365760"/>
          </a:xfrm>
          <a:prstGeom prst="rect">
            <a:avLst/>
          </a:prstGeom>
          <a:noFill/>
        </p:spPr>
        <p:txBody>
          <a:bodyPr wrap="square">
            <a:spAutoFit/>
          </a:bodyPr>
          <a:lstStyle/>
          <a:p>
            <a:pPr algn="l">
              <a:spcAft>
                <a:spcPts val="0"/>
              </a:spcAft>
            </a:pPr>
            <a:r>
              <a:rPr sz="2000" b="1" i="0">
                <a:solidFill>
                  <a:srgbClr val="0E7490"/>
                </a:solidFill>
                <a:latin typeface="Segoe UI"/>
              </a:rPr>
              <a:t>→</a:t>
            </a:r>
          </a:p>
        </p:txBody>
      </p:sp>
      <p:sp>
        <p:nvSpPr>
          <p:cNvPr id="28" name="Rectangle 27"/>
          <p:cNvSpPr/>
          <p:nvPr/>
        </p:nvSpPr>
        <p:spPr>
          <a:xfrm>
            <a:off x="9153144" y="2103120"/>
            <a:ext cx="2560320" cy="146304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53144" y="2103120"/>
            <a:ext cx="256032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99448" y="2286000"/>
            <a:ext cx="2286000" cy="320040"/>
          </a:xfrm>
          <a:prstGeom prst="rect">
            <a:avLst/>
          </a:prstGeom>
          <a:noFill/>
        </p:spPr>
        <p:txBody>
          <a:bodyPr wrap="square">
            <a:spAutoFit/>
          </a:bodyPr>
          <a:lstStyle/>
          <a:p>
            <a:pPr algn="l">
              <a:spcAft>
                <a:spcPts val="0"/>
              </a:spcAft>
            </a:pPr>
            <a:r>
              <a:rPr sz="1600" b="1" i="0">
                <a:solidFill>
                  <a:srgbClr val="0E7490"/>
                </a:solidFill>
                <a:latin typeface="Segoe UI"/>
              </a:rPr>
              <a:t>Programme linéaire</a:t>
            </a:r>
          </a:p>
        </p:txBody>
      </p:sp>
      <p:sp>
        <p:nvSpPr>
          <p:cNvPr id="31" name="TextBox 30"/>
          <p:cNvSpPr txBox="1"/>
          <p:nvPr/>
        </p:nvSpPr>
        <p:spPr>
          <a:xfrm>
            <a:off x="9299448" y="2633472"/>
            <a:ext cx="2331720" cy="320040"/>
          </a:xfrm>
          <a:prstGeom prst="rect">
            <a:avLst/>
          </a:prstGeom>
          <a:noFill/>
        </p:spPr>
        <p:txBody>
          <a:bodyPr wrap="square">
            <a:spAutoFit/>
          </a:bodyPr>
          <a:lstStyle/>
          <a:p>
            <a:pPr algn="l">
              <a:spcAft>
                <a:spcPts val="0"/>
              </a:spcAft>
            </a:pPr>
            <a:r>
              <a:rPr sz="1400" b="1" i="0">
                <a:solidFill>
                  <a:srgbClr val="0F2942"/>
                </a:solidFill>
                <a:latin typeface="Segoe UI"/>
              </a:rPr>
              <a:t>Affecter les 300 élèves</a:t>
            </a:r>
          </a:p>
        </p:txBody>
      </p:sp>
      <p:sp>
        <p:nvSpPr>
          <p:cNvPr id="32" name="TextBox 31"/>
          <p:cNvSpPr txBox="1"/>
          <p:nvPr/>
        </p:nvSpPr>
        <p:spPr>
          <a:xfrm>
            <a:off x="9299448" y="2944368"/>
            <a:ext cx="2331720" cy="548640"/>
          </a:xfrm>
          <a:prstGeom prst="rect">
            <a:avLst/>
          </a:prstGeom>
          <a:noFill/>
        </p:spPr>
        <p:txBody>
          <a:bodyPr wrap="square">
            <a:spAutoFit/>
          </a:bodyPr>
          <a:lstStyle/>
          <a:p>
            <a:pPr algn="l">
              <a:spcAft>
                <a:spcPts val="0"/>
              </a:spcAft>
            </a:pPr>
            <a:r>
              <a:rPr sz="1250" b="0" i="0">
                <a:solidFill>
                  <a:srgbClr val="64748B"/>
                </a:solidFill>
                <a:latin typeface="Segoe UI"/>
              </a:rPr>
              <a:t>Min-cost-flow : taille ≤ 50 garantie, pas vérifiée</a:t>
            </a:r>
          </a:p>
        </p:txBody>
      </p:sp>
      <p:sp>
        <p:nvSpPr>
          <p:cNvPr id="33" name="TextBox 32"/>
          <p:cNvSpPr txBox="1"/>
          <p:nvPr/>
        </p:nvSpPr>
        <p:spPr>
          <a:xfrm>
            <a:off x="566928" y="3794760"/>
            <a:ext cx="11064240" cy="320040"/>
          </a:xfrm>
          <a:prstGeom prst="rect">
            <a:avLst/>
          </a:prstGeom>
          <a:noFill/>
        </p:spPr>
        <p:txBody>
          <a:bodyPr wrap="square">
            <a:spAutoFit/>
          </a:bodyPr>
          <a:lstStyle/>
          <a:p>
            <a:pPr algn="l">
              <a:spcAft>
                <a:spcPts val="0"/>
              </a:spcAft>
            </a:pPr>
            <a:r>
              <a:rPr sz="1300" b="1" i="0">
                <a:solidFill>
                  <a:srgbClr val="64748B"/>
                </a:solidFill>
                <a:latin typeface="Segoe UI"/>
              </a:rPr>
              <a:t>Configuration de production gelée  ·  production_config.json</a:t>
            </a:r>
          </a:p>
        </p:txBody>
      </p:sp>
      <p:sp>
        <p:nvSpPr>
          <p:cNvPr id="34" name="Rectangle 33"/>
          <p:cNvSpPr/>
          <p:nvPr/>
        </p:nvSpPr>
        <p:spPr>
          <a:xfrm>
            <a:off x="566928" y="4114800"/>
            <a:ext cx="2057400" cy="960120"/>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4206240"/>
            <a:ext cx="1828800" cy="411480"/>
          </a:xfrm>
          <a:prstGeom prst="rect">
            <a:avLst/>
          </a:prstGeom>
          <a:noFill/>
        </p:spPr>
        <p:txBody>
          <a:bodyPr wrap="square">
            <a:spAutoFit/>
          </a:bodyPr>
          <a:lstStyle/>
          <a:p>
            <a:pPr algn="l">
              <a:spcAft>
                <a:spcPts val="0"/>
              </a:spcAft>
            </a:pPr>
            <a:r>
              <a:rPr sz="2200" b="1" i="0">
                <a:solidFill>
                  <a:srgbClr val="0E7490"/>
                </a:solidFill>
                <a:latin typeface="Segoe UI"/>
              </a:rPr>
              <a:t>k = 7</a:t>
            </a:r>
          </a:p>
        </p:txBody>
      </p:sp>
      <p:sp>
        <p:nvSpPr>
          <p:cNvPr id="36" name="TextBox 35"/>
          <p:cNvSpPr txBox="1"/>
          <p:nvPr/>
        </p:nvSpPr>
        <p:spPr>
          <a:xfrm>
            <a:off x="704088" y="4645152"/>
            <a:ext cx="1874519" cy="365760"/>
          </a:xfrm>
          <a:prstGeom prst="rect">
            <a:avLst/>
          </a:prstGeom>
          <a:noFill/>
        </p:spPr>
        <p:txBody>
          <a:bodyPr wrap="square">
            <a:spAutoFit/>
          </a:bodyPr>
          <a:lstStyle/>
          <a:p>
            <a:pPr algn="l">
              <a:spcAft>
                <a:spcPts val="0"/>
              </a:spcAft>
            </a:pPr>
            <a:r>
              <a:rPr sz="1200" b="0" i="0">
                <a:solidFill>
                  <a:srgbClr val="64748B"/>
                </a:solidFill>
                <a:latin typeface="Segoe UI"/>
              </a:rPr>
              <a:t>bus</a:t>
            </a:r>
          </a:p>
        </p:txBody>
      </p:sp>
      <p:sp>
        <p:nvSpPr>
          <p:cNvPr id="37" name="Rectangle 36"/>
          <p:cNvSpPr/>
          <p:nvPr/>
        </p:nvSpPr>
        <p:spPr>
          <a:xfrm>
            <a:off x="2807208" y="4114800"/>
            <a:ext cx="2057400" cy="960120"/>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44368" y="4206240"/>
            <a:ext cx="1828800" cy="411480"/>
          </a:xfrm>
          <a:prstGeom prst="rect">
            <a:avLst/>
          </a:prstGeom>
          <a:noFill/>
        </p:spPr>
        <p:txBody>
          <a:bodyPr wrap="square">
            <a:spAutoFit/>
          </a:bodyPr>
          <a:lstStyle/>
          <a:p>
            <a:pPr algn="l">
              <a:spcAft>
                <a:spcPts val="0"/>
              </a:spcAft>
            </a:pPr>
            <a:r>
              <a:rPr sz="2200" b="1" i="0">
                <a:solidFill>
                  <a:srgbClr val="0E7490"/>
                </a:solidFill>
                <a:latin typeface="Segoe UI"/>
              </a:rPr>
              <a:t>0,4256</a:t>
            </a:r>
          </a:p>
        </p:txBody>
      </p:sp>
      <p:sp>
        <p:nvSpPr>
          <p:cNvPr id="39" name="TextBox 38"/>
          <p:cNvSpPr txBox="1"/>
          <p:nvPr/>
        </p:nvSpPr>
        <p:spPr>
          <a:xfrm>
            <a:off x="2944368" y="4645152"/>
            <a:ext cx="1874519" cy="365760"/>
          </a:xfrm>
          <a:prstGeom prst="rect">
            <a:avLst/>
          </a:prstGeom>
          <a:noFill/>
        </p:spPr>
        <p:txBody>
          <a:bodyPr wrap="square">
            <a:spAutoFit/>
          </a:bodyPr>
          <a:lstStyle/>
          <a:p>
            <a:pPr algn="l">
              <a:spcAft>
                <a:spcPts val="0"/>
              </a:spcAft>
            </a:pPr>
            <a:r>
              <a:rPr sz="1200" b="0" i="0">
                <a:solidFill>
                  <a:srgbClr val="64748B"/>
                </a:solidFill>
                <a:latin typeface="Segoe UI"/>
              </a:rPr>
              <a:t>silhouette (partition complète)</a:t>
            </a:r>
          </a:p>
        </p:txBody>
      </p:sp>
      <p:sp>
        <p:nvSpPr>
          <p:cNvPr id="40" name="Rectangle 39"/>
          <p:cNvSpPr/>
          <p:nvPr/>
        </p:nvSpPr>
        <p:spPr>
          <a:xfrm>
            <a:off x="5047488" y="4114800"/>
            <a:ext cx="2057400" cy="960120"/>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84648" y="4206240"/>
            <a:ext cx="1828800" cy="411480"/>
          </a:xfrm>
          <a:prstGeom prst="rect">
            <a:avLst/>
          </a:prstGeom>
          <a:noFill/>
        </p:spPr>
        <p:txBody>
          <a:bodyPr wrap="square">
            <a:spAutoFit/>
          </a:bodyPr>
          <a:lstStyle/>
          <a:p>
            <a:pPr algn="l">
              <a:spcAft>
                <a:spcPts val="0"/>
              </a:spcAft>
            </a:pPr>
            <a:r>
              <a:rPr sz="2200" b="1" i="0">
                <a:solidFill>
                  <a:srgbClr val="0E7490"/>
                </a:solidFill>
                <a:latin typeface="Segoe UI"/>
              </a:rPr>
              <a:t>734 m</a:t>
            </a:r>
          </a:p>
        </p:txBody>
      </p:sp>
      <p:sp>
        <p:nvSpPr>
          <p:cNvPr id="42" name="TextBox 41"/>
          <p:cNvSpPr txBox="1"/>
          <p:nvPr/>
        </p:nvSpPr>
        <p:spPr>
          <a:xfrm>
            <a:off x="5184648" y="4645152"/>
            <a:ext cx="1874519" cy="365760"/>
          </a:xfrm>
          <a:prstGeom prst="rect">
            <a:avLst/>
          </a:prstGeom>
          <a:noFill/>
        </p:spPr>
        <p:txBody>
          <a:bodyPr wrap="square">
            <a:spAutoFit/>
          </a:bodyPr>
          <a:lstStyle/>
          <a:p>
            <a:pPr algn="l">
              <a:spcAft>
                <a:spcPts val="0"/>
              </a:spcAft>
            </a:pPr>
            <a:r>
              <a:rPr sz="1200" b="0" i="0">
                <a:solidFill>
                  <a:srgbClr val="64748B"/>
                </a:solidFill>
                <a:latin typeface="Segoe UI"/>
              </a:rPr>
              <a:t>compacité médiane</a:t>
            </a:r>
          </a:p>
        </p:txBody>
      </p:sp>
      <p:sp>
        <p:nvSpPr>
          <p:cNvPr id="43" name="Rectangle 42"/>
          <p:cNvSpPr/>
          <p:nvPr/>
        </p:nvSpPr>
        <p:spPr>
          <a:xfrm>
            <a:off x="7287768" y="4114800"/>
            <a:ext cx="2057400" cy="960120"/>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24928" y="4206240"/>
            <a:ext cx="1828800" cy="411480"/>
          </a:xfrm>
          <a:prstGeom prst="rect">
            <a:avLst/>
          </a:prstGeom>
          <a:noFill/>
        </p:spPr>
        <p:txBody>
          <a:bodyPr wrap="square">
            <a:spAutoFit/>
          </a:bodyPr>
          <a:lstStyle/>
          <a:p>
            <a:pPr algn="l">
              <a:spcAft>
                <a:spcPts val="0"/>
              </a:spcAft>
            </a:pPr>
            <a:r>
              <a:rPr sz="2200" b="1" i="0">
                <a:solidFill>
                  <a:srgbClr val="156F3C"/>
                </a:solidFill>
                <a:latin typeface="Segoe UI"/>
              </a:rPr>
              <a:t>50</a:t>
            </a:r>
          </a:p>
        </p:txBody>
      </p:sp>
      <p:sp>
        <p:nvSpPr>
          <p:cNvPr id="45" name="TextBox 44"/>
          <p:cNvSpPr txBox="1"/>
          <p:nvPr/>
        </p:nvSpPr>
        <p:spPr>
          <a:xfrm>
            <a:off x="7424928" y="4645152"/>
            <a:ext cx="1874519" cy="365760"/>
          </a:xfrm>
          <a:prstGeom prst="rect">
            <a:avLst/>
          </a:prstGeom>
          <a:noFill/>
        </p:spPr>
        <p:txBody>
          <a:bodyPr wrap="square">
            <a:spAutoFit/>
          </a:bodyPr>
          <a:lstStyle/>
          <a:p>
            <a:pPr algn="l">
              <a:spcAft>
                <a:spcPts val="0"/>
              </a:spcAft>
            </a:pPr>
            <a:r>
              <a:rPr sz="1200" b="0" i="0">
                <a:solidFill>
                  <a:srgbClr val="64748B"/>
                </a:solidFill>
                <a:latin typeface="Segoe UI"/>
              </a:rPr>
              <a:t>taille max — contrainte respectée</a:t>
            </a:r>
          </a:p>
        </p:txBody>
      </p:sp>
      <p:sp>
        <p:nvSpPr>
          <p:cNvPr id="46" name="Rectangle 45"/>
          <p:cNvSpPr/>
          <p:nvPr/>
        </p:nvSpPr>
        <p:spPr>
          <a:xfrm>
            <a:off x="9528048" y="4114800"/>
            <a:ext cx="2057400" cy="960120"/>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65208" y="4206240"/>
            <a:ext cx="1828800" cy="411480"/>
          </a:xfrm>
          <a:prstGeom prst="rect">
            <a:avLst/>
          </a:prstGeom>
          <a:noFill/>
        </p:spPr>
        <p:txBody>
          <a:bodyPr wrap="square">
            <a:spAutoFit/>
          </a:bodyPr>
          <a:lstStyle/>
          <a:p>
            <a:pPr algn="l">
              <a:spcAft>
                <a:spcPts val="0"/>
              </a:spcAft>
            </a:pPr>
            <a:r>
              <a:rPr sz="2200" b="1" i="0">
                <a:solidFill>
                  <a:srgbClr val="64748B"/>
                </a:solidFill>
                <a:latin typeface="Segoe UI"/>
              </a:rPr>
              <a:t>17</a:t>
            </a:r>
          </a:p>
        </p:txBody>
      </p:sp>
      <p:sp>
        <p:nvSpPr>
          <p:cNvPr id="48" name="TextBox 47"/>
          <p:cNvSpPr txBox="1"/>
          <p:nvPr/>
        </p:nvSpPr>
        <p:spPr>
          <a:xfrm>
            <a:off x="9665208" y="4645152"/>
            <a:ext cx="1874519" cy="365760"/>
          </a:xfrm>
          <a:prstGeom prst="rect">
            <a:avLst/>
          </a:prstGeom>
          <a:noFill/>
        </p:spPr>
        <p:txBody>
          <a:bodyPr wrap="square">
            <a:spAutoFit/>
          </a:bodyPr>
          <a:lstStyle/>
          <a:p>
            <a:pPr algn="l">
              <a:spcAft>
                <a:spcPts val="0"/>
              </a:spcAft>
            </a:pPr>
            <a:r>
              <a:rPr sz="1200" b="0" i="0">
                <a:solidFill>
                  <a:srgbClr val="64748B"/>
                </a:solidFill>
                <a:latin typeface="Segoe UI"/>
              </a:rPr>
              <a:t>dispersés</a:t>
            </a:r>
          </a:p>
        </p:txBody>
      </p:sp>
      <p:sp>
        <p:nvSpPr>
          <p:cNvPr id="49" name="Rectangle 48"/>
          <p:cNvSpPr/>
          <p:nvPr/>
        </p:nvSpPr>
        <p:spPr>
          <a:xfrm>
            <a:off x="566928" y="5230368"/>
            <a:ext cx="11064240" cy="658368"/>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5349240"/>
            <a:ext cx="10698480" cy="292608"/>
          </a:xfrm>
          <a:prstGeom prst="rect">
            <a:avLst/>
          </a:prstGeom>
          <a:noFill/>
        </p:spPr>
        <p:txBody>
          <a:bodyPr wrap="square">
            <a:spAutoFit/>
          </a:bodyPr>
          <a:lstStyle/>
          <a:p>
            <a:pPr algn="l">
              <a:spcAft>
                <a:spcPts val="0"/>
              </a:spcAft>
            </a:pPr>
            <a:r>
              <a:rPr sz="1500" b="1" i="0">
                <a:solidFill>
                  <a:srgbClr val="0E7490"/>
                </a:solidFill>
                <a:latin typeface="Segoe UI"/>
              </a:rPr>
              <a:t>Silhouette 0,4256 : un arbitrage, pas un mauvais score</a:t>
            </a:r>
          </a:p>
        </p:txBody>
      </p:sp>
      <p:sp>
        <p:nvSpPr>
          <p:cNvPr id="51" name="TextBox 50"/>
          <p:cNvSpPr txBox="1"/>
          <p:nvPr/>
        </p:nvSpPr>
        <p:spPr>
          <a:xfrm>
            <a:off x="768096" y="5705856"/>
            <a:ext cx="10680192" cy="109728"/>
          </a:xfrm>
          <a:prstGeom prst="rect">
            <a:avLst/>
          </a:prstGeom>
          <a:noFill/>
        </p:spPr>
        <p:txBody>
          <a:bodyPr wrap="square">
            <a:spAutoFit/>
          </a:bodyPr>
          <a:lstStyle/>
          <a:p>
            <a:pPr algn="l">
              <a:spcAft>
                <a:spcPts val="0"/>
              </a:spcAft>
            </a:pPr>
            <a:r>
              <a:rPr sz="1500" b="0" i="0">
                <a:solidFill>
                  <a:srgbClr val="1F2937"/>
                </a:solidFill>
                <a:latin typeface="Segoe UI"/>
              </a:rPr>
              <a:t>Sans contrainte de capacité, KMeans atteint 0,4636 — mais produit un groupe de 66 élèves, donc infaisable. Le coût du réalisme est chiffré : 3,4 %.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MS6 · RÉSULTATS ET LIMITES</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Ce que l'ablation a révélé — et la limite que j'ai trouvée</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Règle 3 : un seul facteur varié. Même matrice de référence, mêmes k, mêmes métriques.</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MS6 · Clustering géospatial capacitaire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12</a:t>
            </a:r>
          </a:p>
        </p:txBody>
      </p:sp>
      <p:graphicFrame>
        <p:nvGraphicFramePr>
          <p:cNvPr id="10" name="Table 9"/>
          <p:cNvGraphicFramePr>
            <a:graphicFrameLocks noGrp="1"/>
          </p:cNvGraphicFramePr>
          <p:nvPr/>
        </p:nvGraphicFramePr>
        <p:xfrm>
          <a:off x="566928" y="2103120"/>
          <a:ext cx="11064238" cy="2468880"/>
        </p:xfrm>
        <a:graphic>
          <a:graphicData uri="http://schemas.openxmlformats.org/drawingml/2006/table">
            <a:tbl>
              <a:tblPr firstRow="1" bandRow="1">
                <a:tableStyleId>{5C22544A-7EE6-4342-B048-85BDC9FD1C3A}</a:tableStyleId>
              </a:tblPr>
              <a:tblGrid>
                <a:gridCol w="4387543"/>
                <a:gridCol w="1430720"/>
                <a:gridCol w="1621483"/>
                <a:gridCol w="1812246"/>
                <a:gridCol w="1812246"/>
              </a:tblGrid>
              <a:tr h="457200">
                <a:tc>
                  <a:txBody>
                    <a:bodyPr/>
                    <a:lstStyle/>
                    <a:p>
                      <a:pPr algn="l"/>
                      <a:r>
                        <a:rPr sz="1350" b="1">
                          <a:solidFill>
                            <a:srgbClr val="FFFFFF"/>
                          </a:solidFill>
                          <a:latin typeface="Segoe UI"/>
                        </a:rPr>
                        <a:t>Méthode</a:t>
                      </a:r>
                    </a:p>
                  </a:txBody>
                  <a:tcPr anchor="ctr" marL="91440" marR="73152" marT="27432" marB="27432">
                    <a:solidFill>
                      <a:srgbClr val="0F2942"/>
                    </a:solidFill>
                  </a:tcPr>
                </a:tc>
                <a:tc>
                  <a:txBody>
                    <a:bodyPr/>
                    <a:lstStyle/>
                    <a:p>
                      <a:pPr algn="ctr"/>
                      <a:r>
                        <a:rPr sz="1350" b="1">
                          <a:solidFill>
                            <a:srgbClr val="FFFFFF"/>
                          </a:solidFill>
                          <a:latin typeface="Segoe UI"/>
                        </a:rPr>
                        <a:t>Silhouette</a:t>
                      </a:r>
                    </a:p>
                  </a:txBody>
                  <a:tcPr anchor="ctr" marL="91440" marR="73152" marT="27432" marB="27432">
                    <a:solidFill>
                      <a:srgbClr val="0F2942"/>
                    </a:solidFill>
                  </a:tcPr>
                </a:tc>
                <a:tc>
                  <a:txBody>
                    <a:bodyPr/>
                    <a:lstStyle/>
                    <a:p>
                      <a:pPr algn="ctr"/>
                      <a:r>
                        <a:rPr sz="1350" b="1">
                          <a:solidFill>
                            <a:srgbClr val="FFFFFF"/>
                          </a:solidFill>
                          <a:latin typeface="Segoe UI"/>
                        </a:rPr>
                        <a:t>Compacité max</a:t>
                      </a:r>
                    </a:p>
                  </a:txBody>
                  <a:tcPr anchor="ctr" marL="91440" marR="73152" marT="27432" marB="27432">
                    <a:solidFill>
                      <a:srgbClr val="0F2942"/>
                    </a:solidFill>
                  </a:tcPr>
                </a:tc>
                <a:tc>
                  <a:txBody>
                    <a:bodyPr/>
                    <a:lstStyle/>
                    <a:p>
                      <a:pPr algn="ctr"/>
                      <a:r>
                        <a:rPr sz="1350" b="1">
                          <a:solidFill>
                            <a:srgbClr val="FFFFFF"/>
                          </a:solidFill>
                          <a:latin typeface="Segoe UI"/>
                        </a:rPr>
                        <a:t>Faisable</a:t>
                      </a:r>
                    </a:p>
                  </a:txBody>
                  <a:tcPr anchor="ctr" marL="91440" marR="73152" marT="27432" marB="27432">
                    <a:solidFill>
                      <a:srgbClr val="0F2942"/>
                    </a:solidFill>
                  </a:tcPr>
                </a:tc>
                <a:tc>
                  <a:txBody>
                    <a:bodyPr/>
                    <a:lstStyle/>
                    <a:p>
                      <a:pPr algn="ctr"/>
                      <a:r>
                        <a:rPr sz="1350" b="1">
                          <a:solidFill>
                            <a:srgbClr val="FFFFFF"/>
                          </a:solidFill>
                          <a:latin typeface="Segoe UI"/>
                        </a:rPr>
                        <a:t>Temps à bord</a:t>
                      </a:r>
                    </a:p>
                    <a:p>
                      <a:pPr algn="ctr"/>
                      <a:r>
                        <a:rPr sz="1350" b="1">
                          <a:solidFill>
                            <a:srgbClr val="FFFFFF"/>
                          </a:solidFill>
                          <a:latin typeface="Segoe UI"/>
                        </a:rPr>
                        <a:t>par enfant</a:t>
                      </a:r>
                    </a:p>
                  </a:txBody>
                  <a:tcPr anchor="ctr" marL="91440" marR="73152" marT="27432" marB="27432">
                    <a:solidFill>
                      <a:srgbClr val="0F2942"/>
                    </a:solidFill>
                  </a:tcPr>
                </a:tc>
              </a:tr>
              <a:tr h="402336">
                <a:tc>
                  <a:txBody>
                    <a:bodyPr/>
                    <a:lstStyle/>
                    <a:p>
                      <a:pPr algn="l"/>
                      <a:r>
                        <a:rPr sz="1350" b="1">
                          <a:solidFill>
                            <a:srgbClr val="1F2937"/>
                          </a:solidFill>
                          <a:latin typeface="Segoe UI"/>
                        </a:rPr>
                        <a:t>k-médoïdes capacitaire ROUTIER  (production)</a:t>
                      </a:r>
                    </a:p>
                  </a:txBody>
                  <a:tcPr anchor="ctr" marL="91440" marR="73152" marT="27432" marB="27432">
                    <a:solidFill>
                      <a:srgbClr val="E0F2F7"/>
                    </a:solidFill>
                  </a:tcPr>
                </a:tc>
                <a:tc>
                  <a:txBody>
                    <a:bodyPr/>
                    <a:lstStyle/>
                    <a:p>
                      <a:pPr algn="ctr"/>
                      <a:r>
                        <a:rPr sz="1350" b="0">
                          <a:solidFill>
                            <a:srgbClr val="1F2937"/>
                          </a:solidFill>
                          <a:latin typeface="Segoe UI"/>
                        </a:rPr>
                        <a:t>0,4256</a:t>
                      </a:r>
                    </a:p>
                  </a:txBody>
                  <a:tcPr anchor="ctr" marL="91440" marR="73152" marT="27432" marB="27432">
                    <a:solidFill>
                      <a:srgbClr val="E0F2F7"/>
                    </a:solidFill>
                  </a:tcPr>
                </a:tc>
                <a:tc>
                  <a:txBody>
                    <a:bodyPr/>
                    <a:lstStyle/>
                    <a:p>
                      <a:pPr algn="ctr"/>
                      <a:r>
                        <a:rPr sz="1350" b="0">
                          <a:solidFill>
                            <a:srgbClr val="1F2937"/>
                          </a:solidFill>
                          <a:latin typeface="Segoe UI"/>
                        </a:rPr>
                        <a:t>2 804 m</a:t>
                      </a:r>
                    </a:p>
                  </a:txBody>
                  <a:tcPr anchor="ctr" marL="91440" marR="73152" marT="27432" marB="27432">
                    <a:solidFill>
                      <a:srgbClr val="E0F2F7"/>
                    </a:solidFill>
                  </a:tcPr>
                </a:tc>
                <a:tc>
                  <a:txBody>
                    <a:bodyPr/>
                    <a:lstStyle/>
                    <a:p>
                      <a:pPr algn="ctr"/>
                      <a:r>
                        <a:rPr sz="1350" b="0">
                          <a:solidFill>
                            <a:srgbClr val="1F2937"/>
                          </a:solidFill>
                          <a:latin typeface="Segoe UI"/>
                        </a:rPr>
                        <a:t>oui</a:t>
                      </a:r>
                    </a:p>
                  </a:txBody>
                  <a:tcPr anchor="ctr" marL="91440" marR="73152" marT="27432" marB="27432">
                    <a:solidFill>
                      <a:srgbClr val="E0F2F7"/>
                    </a:solidFill>
                  </a:tcPr>
                </a:tc>
                <a:tc>
                  <a:txBody>
                    <a:bodyPr/>
                    <a:lstStyle/>
                    <a:p>
                      <a:pPr algn="ctr"/>
                      <a:r>
                        <a:rPr sz="1350" b="0">
                          <a:solidFill>
                            <a:srgbClr val="1F2937"/>
                          </a:solidFill>
                          <a:latin typeface="Segoe UI"/>
                        </a:rPr>
                        <a:t>17,5 min</a:t>
                      </a:r>
                    </a:p>
                  </a:txBody>
                  <a:tcPr anchor="ctr" marL="91440" marR="73152" marT="27432" marB="27432">
                    <a:solidFill>
                      <a:srgbClr val="E0F2F7"/>
                    </a:solidFill>
                  </a:tcPr>
                </a:tc>
              </a:tr>
              <a:tr h="402336">
                <a:tc>
                  <a:txBody>
                    <a:bodyPr/>
                    <a:lstStyle/>
                    <a:p>
                      <a:pPr algn="l"/>
                      <a:r>
                        <a:rPr sz="1350" b="0">
                          <a:solidFill>
                            <a:srgbClr val="1F2937"/>
                          </a:solidFill>
                          <a:latin typeface="Segoe UI"/>
                        </a:rPr>
                        <a:t>k-médoïdes capacitaire euclidien</a:t>
                      </a:r>
                    </a:p>
                  </a:txBody>
                  <a:tcPr anchor="ctr" marL="91440" marR="73152" marT="27432" marB="27432">
                    <a:solidFill>
                      <a:srgbClr val="F6F8FB"/>
                    </a:solidFill>
                  </a:tcPr>
                </a:tc>
                <a:tc>
                  <a:txBody>
                    <a:bodyPr/>
                    <a:lstStyle/>
                    <a:p>
                      <a:pPr algn="ctr"/>
                      <a:r>
                        <a:rPr sz="1350" b="0">
                          <a:solidFill>
                            <a:srgbClr val="1F2937"/>
                          </a:solidFill>
                          <a:latin typeface="Segoe UI"/>
                        </a:rPr>
                        <a:t>0,4237</a:t>
                      </a:r>
                    </a:p>
                  </a:txBody>
                  <a:tcPr anchor="ctr" marL="91440" marR="73152" marT="27432" marB="27432">
                    <a:solidFill>
                      <a:srgbClr val="F6F8FB"/>
                    </a:solidFill>
                  </a:tcPr>
                </a:tc>
                <a:tc>
                  <a:txBody>
                    <a:bodyPr/>
                    <a:lstStyle/>
                    <a:p>
                      <a:pPr algn="ctr"/>
                      <a:r>
                        <a:rPr sz="1350" b="0">
                          <a:solidFill>
                            <a:srgbClr val="1F2937"/>
                          </a:solidFill>
                          <a:latin typeface="Segoe UI"/>
                        </a:rPr>
                        <a:t>2 979 m</a:t>
                      </a:r>
                    </a:p>
                  </a:txBody>
                  <a:tcPr anchor="ctr" marL="91440" marR="73152" marT="27432" marB="27432">
                    <a:solidFill>
                      <a:srgbClr val="F6F8FB"/>
                    </a:solidFill>
                  </a:tcPr>
                </a:tc>
                <a:tc>
                  <a:txBody>
                    <a:bodyPr/>
                    <a:lstStyle/>
                    <a:p>
                      <a:pPr algn="ctr"/>
                      <a:r>
                        <a:rPr sz="1350" b="0">
                          <a:solidFill>
                            <a:srgbClr val="1F2937"/>
                          </a:solidFill>
                          <a:latin typeface="Segoe UI"/>
                        </a:rPr>
                        <a:t>oui</a:t>
                      </a:r>
                    </a:p>
                  </a:txBody>
                  <a:tcPr anchor="ctr" marL="91440" marR="73152" marT="27432" marB="27432">
                    <a:solidFill>
                      <a:srgbClr val="F6F8FB"/>
                    </a:solidFill>
                  </a:tcPr>
                </a:tc>
                <a:tc>
                  <a:txBody>
                    <a:bodyPr/>
                    <a:lstStyle/>
                    <a:p>
                      <a:pPr algn="ctr"/>
                      <a:r>
                        <a:rPr sz="1350" b="0">
                          <a:solidFill>
                            <a:srgbClr val="1F2937"/>
                          </a:solidFill>
                          <a:latin typeface="Segoe UI"/>
                        </a:rPr>
                        <a:t>19,2 min</a:t>
                      </a:r>
                    </a:p>
                  </a:txBody>
                  <a:tcPr anchor="ctr" marL="91440" marR="73152" marT="27432" marB="27432">
                    <a:solidFill>
                      <a:srgbClr val="F6F8FB"/>
                    </a:solidFill>
                  </a:tcPr>
                </a:tc>
              </a:tr>
              <a:tr h="402336">
                <a:tc>
                  <a:txBody>
                    <a:bodyPr/>
                    <a:lstStyle/>
                    <a:p>
                      <a:pPr algn="l"/>
                      <a:r>
                        <a:rPr sz="1350" b="0">
                          <a:solidFill>
                            <a:srgbClr val="1F2937"/>
                          </a:solidFill>
                          <a:latin typeface="Segoe UI"/>
                        </a:rPr>
                        <a:t>KMeans sans contrainte de capacité</a:t>
                      </a:r>
                    </a:p>
                  </a:txBody>
                  <a:tcPr anchor="ctr" marL="91440" marR="73152" marT="27432" marB="27432">
                    <a:solidFill>
                      <a:srgbClr val="FFFFFF"/>
                    </a:solidFill>
                  </a:tcPr>
                </a:tc>
                <a:tc>
                  <a:txBody>
                    <a:bodyPr/>
                    <a:lstStyle/>
                    <a:p>
                      <a:pPr algn="ctr"/>
                      <a:r>
                        <a:rPr sz="1350" b="0">
                          <a:solidFill>
                            <a:srgbClr val="1F2937"/>
                          </a:solidFill>
                          <a:latin typeface="Segoe UI"/>
                        </a:rPr>
                        <a:t>0,4636</a:t>
                      </a:r>
                    </a:p>
                  </a:txBody>
                  <a:tcPr anchor="ctr" marL="91440" marR="73152" marT="27432" marB="27432">
                    <a:solidFill>
                      <a:srgbClr val="FFFFFF"/>
                    </a:solidFill>
                  </a:tcPr>
                </a:tc>
                <a:tc>
                  <a:txBody>
                    <a:bodyPr/>
                    <a:lstStyle/>
                    <a:p>
                      <a:pPr algn="ctr"/>
                      <a:r>
                        <a:rPr sz="1350" b="0">
                          <a:solidFill>
                            <a:srgbClr val="1F2937"/>
                          </a:solidFill>
                          <a:latin typeface="Segoe UI"/>
                        </a:rPr>
                        <a:t>3 429 m</a:t>
                      </a:r>
                    </a:p>
                  </a:txBody>
                  <a:tcPr anchor="ctr" marL="91440" marR="73152" marT="27432" marB="27432">
                    <a:solidFill>
                      <a:srgbClr val="FFFFFF"/>
                    </a:solidFill>
                  </a:tcPr>
                </a:tc>
                <a:tc>
                  <a:txBody>
                    <a:bodyPr/>
                    <a:lstStyle/>
                    <a:p>
                      <a:pPr algn="ctr"/>
                      <a:r>
                        <a:rPr sz="1350" b="0">
                          <a:solidFill>
                            <a:srgbClr val="1F2937"/>
                          </a:solidFill>
                          <a:latin typeface="Segoe UI"/>
                        </a:rPr>
                        <a:t>NON  (66 élèves)</a:t>
                      </a:r>
                    </a:p>
                  </a:txBody>
                  <a:tcPr anchor="ctr" marL="91440" marR="73152" marT="27432" marB="27432">
                    <a:solidFill>
                      <a:srgbClr val="FFFFFF"/>
                    </a:solidFill>
                  </a:tcPr>
                </a:tc>
                <a:tc>
                  <a:txBody>
                    <a:bodyPr/>
                    <a:lstStyle/>
                    <a:p>
                      <a:pPr algn="ctr"/>
                      <a:r>
                        <a:rPr sz="1350" b="0">
                          <a:solidFill>
                            <a:srgbClr val="1F2937"/>
                          </a:solidFill>
                          <a:latin typeface="Segoe UI"/>
                        </a:rPr>
                        <a:t>16,5 min</a:t>
                      </a:r>
                    </a:p>
                  </a:txBody>
                  <a:tcPr anchor="ctr" marL="91440" marR="73152" marT="27432" marB="27432">
                    <a:solidFill>
                      <a:srgbClr val="FFFFFF"/>
                    </a:solidFill>
                  </a:tcPr>
                </a:tc>
              </a:tr>
              <a:tr h="402336">
                <a:tc>
                  <a:txBody>
                    <a:bodyPr/>
                    <a:lstStyle/>
                    <a:p>
                      <a:pPr algn="l"/>
                      <a:r>
                        <a:rPr sz="1350" b="0">
                          <a:solidFill>
                            <a:srgbClr val="1F2937"/>
                          </a:solidFill>
                          <a:latin typeface="Segoe UI"/>
                        </a:rPr>
                        <a:t>Baseline « un bus par quartier »</a:t>
                      </a:r>
                    </a:p>
                  </a:txBody>
                  <a:tcPr anchor="ctr" marL="91440" marR="73152" marT="27432" marB="27432">
                    <a:solidFill>
                      <a:srgbClr val="F6F8FB"/>
                    </a:solidFill>
                  </a:tcPr>
                </a:tc>
                <a:tc>
                  <a:txBody>
                    <a:bodyPr/>
                    <a:lstStyle/>
                    <a:p>
                      <a:pPr algn="ctr"/>
                      <a:r>
                        <a:rPr sz="1350" b="0">
                          <a:solidFill>
                            <a:srgbClr val="1F2937"/>
                          </a:solidFill>
                          <a:latin typeface="Segoe UI"/>
                        </a:rPr>
                        <a:t>0,0394</a:t>
                      </a:r>
                    </a:p>
                  </a:txBody>
                  <a:tcPr anchor="ctr" marL="91440" marR="73152" marT="27432" marB="27432">
                    <a:solidFill>
                      <a:srgbClr val="F6F8FB"/>
                    </a:solidFill>
                  </a:tcPr>
                </a:tc>
                <a:tc>
                  <a:txBody>
                    <a:bodyPr/>
                    <a:lstStyle/>
                    <a:p>
                      <a:pPr algn="ctr"/>
                      <a:r>
                        <a:rPr sz="1350" b="0">
                          <a:solidFill>
                            <a:srgbClr val="1F2937"/>
                          </a:solidFill>
                          <a:latin typeface="Segoe UI"/>
                        </a:rPr>
                        <a:t>5 236 m</a:t>
                      </a:r>
                    </a:p>
                  </a:txBody>
                  <a:tcPr anchor="ctr" marL="91440" marR="73152" marT="27432" marB="27432">
                    <a:solidFill>
                      <a:srgbClr val="F6F8FB"/>
                    </a:solidFill>
                  </a:tcPr>
                </a:tc>
                <a:tc>
                  <a:txBody>
                    <a:bodyPr/>
                    <a:lstStyle/>
                    <a:p>
                      <a:pPr algn="ctr"/>
                      <a:r>
                        <a:rPr sz="1350" b="0">
                          <a:solidFill>
                            <a:srgbClr val="1F2937"/>
                          </a:solidFill>
                          <a:latin typeface="Segoe UI"/>
                        </a:rPr>
                        <a:t>oui</a:t>
                      </a:r>
                    </a:p>
                  </a:txBody>
                  <a:tcPr anchor="ctr" marL="91440" marR="73152" marT="27432" marB="27432">
                    <a:solidFill>
                      <a:srgbClr val="F6F8FB"/>
                    </a:solidFill>
                  </a:tcPr>
                </a:tc>
                <a:tc>
                  <a:txBody>
                    <a:bodyPr/>
                    <a:lstStyle/>
                    <a:p>
                      <a:pPr algn="ctr"/>
                      <a:r>
                        <a:rPr sz="1350" b="0">
                          <a:solidFill>
                            <a:srgbClr val="1F2937"/>
                          </a:solidFill>
                          <a:latin typeface="Segoe UI"/>
                        </a:rPr>
                        <a:t>22,2 min</a:t>
                      </a:r>
                    </a:p>
                  </a:txBody>
                  <a:tcPr anchor="ctr" marL="91440" marR="73152" marT="27432" marB="27432">
                    <a:solidFill>
                      <a:srgbClr val="F6F8FB"/>
                    </a:solidFill>
                  </a:tcPr>
                </a:tc>
              </a:tr>
              <a:tr h="402336">
                <a:tc>
                  <a:txBody>
                    <a:bodyPr/>
                    <a:lstStyle/>
                    <a:p>
                      <a:pPr algn="l"/>
                      <a:r>
                        <a:rPr sz="1350" b="0">
                          <a:solidFill>
                            <a:srgbClr val="1F2937"/>
                          </a:solidFill>
                          <a:latin typeface="Segoe UI"/>
                        </a:rPr>
                        <a:t>Baseline aléatoire</a:t>
                      </a:r>
                    </a:p>
                  </a:txBody>
                  <a:tcPr anchor="ctr" marL="91440" marR="73152" marT="27432" marB="27432">
                    <a:solidFill>
                      <a:srgbClr val="FFFFFF"/>
                    </a:solidFill>
                  </a:tcPr>
                </a:tc>
                <a:tc>
                  <a:txBody>
                    <a:bodyPr/>
                    <a:lstStyle/>
                    <a:p>
                      <a:pPr algn="ctr"/>
                      <a:r>
                        <a:rPr sz="1350" b="0">
                          <a:solidFill>
                            <a:srgbClr val="1F2937"/>
                          </a:solidFill>
                          <a:latin typeface="Segoe UI"/>
                        </a:rPr>
                        <a:t>−0,0806</a:t>
                      </a:r>
                    </a:p>
                  </a:txBody>
                  <a:tcPr anchor="ctr" marL="91440" marR="73152" marT="27432" marB="27432">
                    <a:solidFill>
                      <a:srgbClr val="FFFFFF"/>
                    </a:solidFill>
                  </a:tcPr>
                </a:tc>
                <a:tc>
                  <a:txBody>
                    <a:bodyPr/>
                    <a:lstStyle/>
                    <a:p>
                      <a:pPr algn="ctr"/>
                      <a:r>
                        <a:rPr sz="1350" b="0">
                          <a:solidFill>
                            <a:srgbClr val="1F2937"/>
                          </a:solidFill>
                          <a:latin typeface="Segoe UI"/>
                        </a:rPr>
                        <a:t>5 959 m</a:t>
                      </a:r>
                    </a:p>
                  </a:txBody>
                  <a:tcPr anchor="ctr" marL="91440" marR="73152" marT="27432" marB="27432">
                    <a:solidFill>
                      <a:srgbClr val="FFFFFF"/>
                    </a:solidFill>
                  </a:tcPr>
                </a:tc>
                <a:tc>
                  <a:txBody>
                    <a:bodyPr/>
                    <a:lstStyle/>
                    <a:p>
                      <a:pPr algn="ctr"/>
                      <a:r>
                        <a:rPr sz="1350" b="0">
                          <a:solidFill>
                            <a:srgbClr val="1F2937"/>
                          </a:solidFill>
                          <a:latin typeface="Segoe UI"/>
                        </a:rPr>
                        <a:t>oui</a:t>
                      </a:r>
                    </a:p>
                  </a:txBody>
                  <a:tcPr anchor="ctr" marL="91440" marR="73152" marT="27432" marB="27432">
                    <a:solidFill>
                      <a:srgbClr val="FFFFFF"/>
                    </a:solidFill>
                  </a:tcPr>
                </a:tc>
                <a:tc>
                  <a:txBody>
                    <a:bodyPr/>
                    <a:lstStyle/>
                    <a:p>
                      <a:pPr algn="ctr"/>
                      <a:r>
                        <a:rPr sz="1350" b="0">
                          <a:solidFill>
                            <a:srgbClr val="1F2937"/>
                          </a:solidFill>
                          <a:latin typeface="Segoe UI"/>
                        </a:rPr>
                        <a:t>38,6 min</a:t>
                      </a:r>
                    </a:p>
                  </a:txBody>
                  <a:tcPr anchor="ctr" marL="91440" marR="73152" marT="27432" marB="27432">
                    <a:solidFill>
                      <a:srgbClr val="FFFFFF"/>
                    </a:solidFill>
                  </a:tcPr>
                </a:tc>
              </a:tr>
            </a:tbl>
          </a:graphicData>
        </a:graphic>
      </p:graphicFrame>
      <p:sp>
        <p:nvSpPr>
          <p:cNvPr id="11" name="TextBox 10"/>
          <p:cNvSpPr txBox="1"/>
          <p:nvPr/>
        </p:nvSpPr>
        <p:spPr>
          <a:xfrm>
            <a:off x="566928" y="4754880"/>
            <a:ext cx="5486400" cy="822960"/>
          </a:xfrm>
          <a:prstGeom prst="rect">
            <a:avLst/>
          </a:prstGeom>
          <a:noFill/>
        </p:spPr>
        <p:txBody>
          <a:bodyPr wrap="square">
            <a:spAutoFit/>
          </a:bodyPr>
          <a:lstStyle/>
          <a:p>
            <a:pPr algn="l">
              <a:spcAft>
                <a:spcPts val="0"/>
              </a:spcAft>
            </a:pPr>
            <a:r>
              <a:rPr sz="1500" b="0" i="0">
                <a:solidFill>
                  <a:srgbClr val="1F2937"/>
                </a:solidFill>
                <a:latin typeface="Segoe UI"/>
              </a:rPr>
              <a:t>La distance routière ne gagne que +0,002 de silhouette — invisible.
Mais elle fait gagner 1,7 min de temps à bord par enfant, soit −9,7 %.
La métrique de décision n'était pas la bonne.</a:t>
            </a:r>
          </a:p>
        </p:txBody>
      </p:sp>
      <p:sp>
        <p:nvSpPr>
          <p:cNvPr id="12" name="Rectangle 11"/>
          <p:cNvSpPr/>
          <p:nvPr/>
        </p:nvSpPr>
        <p:spPr>
          <a:xfrm>
            <a:off x="6309360" y="4681728"/>
            <a:ext cx="5321808" cy="1874519"/>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4800600"/>
            <a:ext cx="4956048" cy="292608"/>
          </a:xfrm>
          <a:prstGeom prst="rect">
            <a:avLst/>
          </a:prstGeom>
          <a:noFill/>
        </p:spPr>
        <p:txBody>
          <a:bodyPr wrap="square">
            <a:spAutoFit/>
          </a:bodyPr>
          <a:lstStyle/>
          <a:p>
            <a:pPr algn="l">
              <a:spcAft>
                <a:spcPts val="0"/>
              </a:spcAft>
            </a:pPr>
            <a:r>
              <a:rPr sz="1500" b="1" i="0">
                <a:solidFill>
                  <a:srgbClr val="B45309"/>
                </a:solidFill>
                <a:latin typeface="Segoe UI"/>
              </a:rPr>
              <a:t>La limite : un argmax sur du bruit</a:t>
            </a:r>
          </a:p>
        </p:txBody>
      </p:sp>
      <p:sp>
        <p:nvSpPr>
          <p:cNvPr id="14" name="TextBox 13"/>
          <p:cNvSpPr txBox="1"/>
          <p:nvPr/>
        </p:nvSpPr>
        <p:spPr>
          <a:xfrm>
            <a:off x="6510528" y="5157216"/>
            <a:ext cx="4937760" cy="1325879"/>
          </a:xfrm>
          <a:prstGeom prst="rect">
            <a:avLst/>
          </a:prstGeom>
          <a:noFill/>
        </p:spPr>
        <p:txBody>
          <a:bodyPr wrap="square">
            <a:spAutoFit/>
          </a:bodyPr>
          <a:lstStyle/>
          <a:p>
            <a:pPr algn="l">
              <a:spcAft>
                <a:spcPts val="0"/>
              </a:spcAft>
            </a:pPr>
            <a:r>
              <a:rPr sz="1500" b="0" i="0">
                <a:solidFill>
                  <a:srgbClr val="1F2937"/>
                </a:solidFill>
                <a:latin typeface="Segoe UI"/>
              </a:rPr>
              <a:t>Le nombre de bus était choisi par argmax de silhouette. Or le bruit
d'initialisation (±0,012 à ±0,020) dépasse les écarts entre candidats.
Mesuré sur 30 permutations des mêmes données :
k = 7 (57 %) · k = 8 (7 %) · k = 9 (37 %).
Corrigé — médiane + ε par paire + hystérésis :
k = 7 sur 30/30, churn 7,24 % → 2,49 %.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MS5 · VRP</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Décomposer n'est pas approximer</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Un TSP par bus (OR-Tools, dépôt = école, matrice de durées asymétrique) — puis la question qui fâche.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MS5 · Optimisation des tournées</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13</a:t>
            </a:r>
          </a:p>
        </p:txBody>
      </p:sp>
      <p:sp>
        <p:nvSpPr>
          <p:cNvPr id="10" name="Rectangle 9"/>
          <p:cNvSpPr/>
          <p:nvPr/>
        </p:nvSpPr>
        <p:spPr>
          <a:xfrm>
            <a:off x="566928" y="2103120"/>
            <a:ext cx="5394960" cy="91440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12848"/>
            <a:ext cx="5029200" cy="274320"/>
          </a:xfrm>
          <a:prstGeom prst="rect">
            <a:avLst/>
          </a:prstGeom>
          <a:noFill/>
        </p:spPr>
        <p:txBody>
          <a:bodyPr wrap="square">
            <a:spAutoFit/>
          </a:bodyPr>
          <a:lstStyle/>
          <a:p>
            <a:pPr algn="l">
              <a:spcAft>
                <a:spcPts val="0"/>
              </a:spcAft>
            </a:pPr>
            <a:r>
              <a:rPr sz="1500" b="1" i="0">
                <a:solidFill>
                  <a:srgbClr val="0F2942"/>
                </a:solidFill>
                <a:latin typeface="Segoe UI"/>
              </a:rPr>
              <a:t>La question posée</a:t>
            </a:r>
          </a:p>
        </p:txBody>
      </p:sp>
      <p:sp>
        <p:nvSpPr>
          <p:cNvPr id="12" name="TextBox 11"/>
          <p:cNvSpPr txBox="1"/>
          <p:nvPr/>
        </p:nvSpPr>
        <p:spPr>
          <a:xfrm>
            <a:off x="777240" y="2523744"/>
            <a:ext cx="5029200" cy="411480"/>
          </a:xfrm>
          <a:prstGeom prst="rect">
            <a:avLst/>
          </a:prstGeom>
          <a:noFill/>
        </p:spPr>
        <p:txBody>
          <a:bodyPr wrap="square">
            <a:spAutoFit/>
          </a:bodyPr>
          <a:lstStyle/>
          <a:p>
            <a:pPr algn="l">
              <a:spcAft>
                <a:spcPts val="0"/>
              </a:spcAft>
            </a:pPr>
            <a:r>
              <a:rPr sz="1400" b="0" i="0">
                <a:solidFill>
                  <a:srgbClr val="64748B"/>
                </a:solidFill>
                <a:latin typeface="Segoe UI"/>
              </a:rPr>
              <a:t>Un CVRP global décide affectation ET ordre d'un seul bloc.
Combien nous coûte le fait d'avoir découpé le problème ?</a:t>
            </a:r>
          </a:p>
        </p:txBody>
      </p:sp>
      <p:pic>
        <p:nvPicPr>
          <p:cNvPr id="13" name="Picture 12" descr="06_cvrp_vs_ms6_tsp.png"/>
          <p:cNvPicPr>
            <a:picLocks noChangeAspect="1"/>
          </p:cNvPicPr>
          <p:nvPr/>
        </p:nvPicPr>
        <p:blipFill>
          <a:blip r:embed="rId2"/>
          <a:stretch>
            <a:fillRect/>
          </a:stretch>
        </p:blipFill>
        <p:spPr>
          <a:xfrm>
            <a:off x="566928" y="3154680"/>
            <a:ext cx="5394960" cy="1590821"/>
          </a:xfrm>
          <a:prstGeom prst="rect">
            <a:avLst/>
          </a:prstGeom>
        </p:spPr>
      </p:pic>
      <p:graphicFrame>
        <p:nvGraphicFramePr>
          <p:cNvPr id="14" name="Table 13"/>
          <p:cNvGraphicFramePr>
            <a:graphicFrameLocks noGrp="1"/>
          </p:cNvGraphicFramePr>
          <p:nvPr/>
        </p:nvGraphicFramePr>
        <p:xfrm>
          <a:off x="6309360" y="2103120"/>
          <a:ext cx="5321806" cy="1664208"/>
        </p:xfrm>
        <a:graphic>
          <a:graphicData uri="http://schemas.openxmlformats.org/drawingml/2006/table">
            <a:tbl>
              <a:tblPr firstRow="1" bandRow="1">
                <a:tableStyleId>{5C22544A-7EE6-4342-B048-85BDC9FD1C3A}</a:tableStyleId>
              </a:tblPr>
              <a:tblGrid>
                <a:gridCol w="1744855"/>
                <a:gridCol w="1134155"/>
                <a:gridCol w="1134155"/>
                <a:gridCol w="1308641"/>
              </a:tblGrid>
              <a:tr h="457200">
                <a:tc>
                  <a:txBody>
                    <a:bodyPr/>
                    <a:lstStyle/>
                    <a:p>
                      <a:pPr algn="l"/>
                      <a:r>
                        <a:rPr sz="1350" b="1">
                          <a:solidFill>
                            <a:srgbClr val="FFFFFF"/>
                          </a:solidFill>
                          <a:latin typeface="Segoe UI"/>
                        </a:rPr>
                        <a:t>Groupes</a:t>
                      </a:r>
                    </a:p>
                  </a:txBody>
                  <a:tcPr anchor="ctr" marL="91440" marR="73152" marT="27432" marB="27432">
                    <a:solidFill>
                      <a:srgbClr val="0F2942"/>
                    </a:solidFill>
                  </a:tcPr>
                </a:tc>
                <a:tc>
                  <a:txBody>
                    <a:bodyPr/>
                    <a:lstStyle/>
                    <a:p>
                      <a:pPr algn="ctr"/>
                      <a:r>
                        <a:rPr sz="1350" b="1">
                          <a:solidFill>
                            <a:srgbClr val="FFFFFF"/>
                          </a:solidFill>
                          <a:latin typeface="Segoe UI"/>
                        </a:rPr>
                        <a:t>MS6 + TSP</a:t>
                      </a:r>
                    </a:p>
                  </a:txBody>
                  <a:tcPr anchor="ctr" marL="91440" marR="73152" marT="27432" marB="27432">
                    <a:solidFill>
                      <a:srgbClr val="0F2942"/>
                    </a:solidFill>
                  </a:tcPr>
                </a:tc>
                <a:tc>
                  <a:txBody>
                    <a:bodyPr/>
                    <a:lstStyle/>
                    <a:p>
                      <a:pPr algn="ctr"/>
                      <a:r>
                        <a:rPr sz="1350" b="1">
                          <a:solidFill>
                            <a:srgbClr val="FFFFFF"/>
                          </a:solidFill>
                          <a:latin typeface="Segoe UI"/>
                        </a:rPr>
                        <a:t>CVRP global</a:t>
                      </a:r>
                    </a:p>
                  </a:txBody>
                  <a:tcPr anchor="ctr" marL="91440" marR="73152" marT="27432" marB="27432">
                    <a:solidFill>
                      <a:srgbClr val="0F2942"/>
                    </a:solidFill>
                  </a:tcPr>
                </a:tc>
                <a:tc>
                  <a:txBody>
                    <a:bodyPr/>
                    <a:lstStyle/>
                    <a:p>
                      <a:pPr algn="ctr"/>
                      <a:r>
                        <a:rPr sz="1350" b="1">
                          <a:solidFill>
                            <a:srgbClr val="FFFFFF"/>
                          </a:solidFill>
                          <a:latin typeface="Segoe UI"/>
                        </a:rPr>
                        <a:t>Écart</a:t>
                      </a:r>
                    </a:p>
                  </a:txBody>
                  <a:tcPr anchor="ctr" marL="91440" marR="73152" marT="27432" marB="27432">
                    <a:solidFill>
                      <a:srgbClr val="0F2942"/>
                    </a:solidFill>
                  </a:tcPr>
                </a:tc>
              </a:tr>
              <a:tr h="402336">
                <a:tc>
                  <a:txBody>
                    <a:bodyPr/>
                    <a:lstStyle/>
                    <a:p>
                      <a:pPr algn="l"/>
                      <a:r>
                        <a:rPr sz="1350">
                          <a:solidFill>
                            <a:srgbClr val="1F2937"/>
                          </a:solidFill>
                          <a:latin typeface="Segoe UI"/>
                        </a:rPr>
                        <a:t>3  (129 élèves)</a:t>
                      </a:r>
                    </a:p>
                  </a:txBody>
                  <a:tcPr anchor="ctr" marL="91440" marR="73152" marT="27432" marB="27432">
                    <a:solidFill>
                      <a:srgbClr val="FFFFFF"/>
                    </a:solidFill>
                  </a:tcPr>
                </a:tc>
                <a:tc>
                  <a:txBody>
                    <a:bodyPr/>
                    <a:lstStyle/>
                    <a:p>
                      <a:pPr algn="ctr"/>
                      <a:r>
                        <a:rPr sz="1350">
                          <a:solidFill>
                            <a:srgbClr val="1F2937"/>
                          </a:solidFill>
                          <a:latin typeface="Segoe UI"/>
                        </a:rPr>
                        <a:t>74,3 min</a:t>
                      </a:r>
                    </a:p>
                  </a:txBody>
                  <a:tcPr anchor="ctr" marL="91440" marR="73152" marT="27432" marB="27432">
                    <a:solidFill>
                      <a:srgbClr val="FFFFFF"/>
                    </a:solidFill>
                  </a:tcPr>
                </a:tc>
                <a:tc>
                  <a:txBody>
                    <a:bodyPr/>
                    <a:lstStyle/>
                    <a:p>
                      <a:pPr algn="ctr"/>
                      <a:r>
                        <a:rPr sz="1350">
                          <a:solidFill>
                            <a:srgbClr val="1F2937"/>
                          </a:solidFill>
                          <a:latin typeface="Segoe UI"/>
                        </a:rPr>
                        <a:t>76,0 min</a:t>
                      </a:r>
                    </a:p>
                  </a:txBody>
                  <a:tcPr anchor="ctr" marL="91440" marR="73152" marT="27432" marB="27432">
                    <a:solidFill>
                      <a:srgbClr val="FFFFFF"/>
                    </a:solidFill>
                  </a:tcPr>
                </a:tc>
                <a:tc>
                  <a:txBody>
                    <a:bodyPr/>
                    <a:lstStyle/>
                    <a:p>
                      <a:pPr algn="ctr"/>
                      <a:r>
                        <a:rPr sz="1350">
                          <a:solidFill>
                            <a:srgbClr val="1F2937"/>
                          </a:solidFill>
                          <a:latin typeface="Segoe UI"/>
                        </a:rPr>
                        <a:t>−2,3 %  CVRP</a:t>
                      </a:r>
                    </a:p>
                  </a:txBody>
                  <a:tcPr anchor="ctr" marL="91440" marR="73152" marT="27432" marB="27432">
                    <a:solidFill>
                      <a:srgbClr val="FFFFFF"/>
                    </a:solidFill>
                  </a:tcPr>
                </a:tc>
              </a:tr>
              <a:tr h="402336">
                <a:tc>
                  <a:txBody>
                    <a:bodyPr/>
                    <a:lstStyle/>
                    <a:p>
                      <a:pPr algn="l"/>
                      <a:r>
                        <a:rPr sz="1350">
                          <a:solidFill>
                            <a:srgbClr val="1F2937"/>
                          </a:solidFill>
                          <a:latin typeface="Segoe UI"/>
                        </a:rPr>
                        <a:t>5  (215 élèves)</a:t>
                      </a:r>
                    </a:p>
                  </a:txBody>
                  <a:tcPr anchor="ctr" marL="91440" marR="73152" marT="27432" marB="27432">
                    <a:solidFill>
                      <a:srgbClr val="F6F8FB"/>
                    </a:solidFill>
                  </a:tcPr>
                </a:tc>
                <a:tc>
                  <a:txBody>
                    <a:bodyPr/>
                    <a:lstStyle/>
                    <a:p>
                      <a:pPr algn="ctr"/>
                      <a:r>
                        <a:rPr sz="1350">
                          <a:solidFill>
                            <a:srgbClr val="1F2937"/>
                          </a:solidFill>
                          <a:latin typeface="Segoe UI"/>
                        </a:rPr>
                        <a:t>135,8 min</a:t>
                      </a:r>
                    </a:p>
                  </a:txBody>
                  <a:tcPr anchor="ctr" marL="91440" marR="73152" marT="27432" marB="27432">
                    <a:solidFill>
                      <a:srgbClr val="F6F8FB"/>
                    </a:solidFill>
                  </a:tcPr>
                </a:tc>
                <a:tc>
                  <a:txBody>
                    <a:bodyPr/>
                    <a:lstStyle/>
                    <a:p>
                      <a:pPr algn="ctr"/>
                      <a:r>
                        <a:rPr sz="1350">
                          <a:solidFill>
                            <a:srgbClr val="1F2937"/>
                          </a:solidFill>
                          <a:latin typeface="Segoe UI"/>
                        </a:rPr>
                        <a:t>137,7 min</a:t>
                      </a:r>
                    </a:p>
                  </a:txBody>
                  <a:tcPr anchor="ctr" marL="91440" marR="73152" marT="27432" marB="27432">
                    <a:solidFill>
                      <a:srgbClr val="F6F8FB"/>
                    </a:solidFill>
                  </a:tcPr>
                </a:tc>
                <a:tc>
                  <a:txBody>
                    <a:bodyPr/>
                    <a:lstStyle/>
                    <a:p>
                      <a:pPr algn="ctr"/>
                      <a:r>
                        <a:rPr sz="1350">
                          <a:solidFill>
                            <a:srgbClr val="1F2937"/>
                          </a:solidFill>
                          <a:latin typeface="Segoe UI"/>
                        </a:rPr>
                        <a:t>−1,4 %  CVRP</a:t>
                      </a:r>
                    </a:p>
                  </a:txBody>
                  <a:tcPr anchor="ctr" marL="91440" marR="73152" marT="27432" marB="27432">
                    <a:solidFill>
                      <a:srgbClr val="F6F8FB"/>
                    </a:solidFill>
                  </a:tcPr>
                </a:tc>
              </a:tr>
              <a:tr h="402336">
                <a:tc>
                  <a:txBody>
                    <a:bodyPr/>
                    <a:lstStyle/>
                    <a:p>
                      <a:pPr algn="l"/>
                      <a:r>
                        <a:rPr sz="1350">
                          <a:solidFill>
                            <a:srgbClr val="1F2937"/>
                          </a:solidFill>
                          <a:latin typeface="Segoe UI"/>
                        </a:rPr>
                        <a:t>7  (300 élèves)</a:t>
                      </a:r>
                    </a:p>
                  </a:txBody>
                  <a:tcPr anchor="ctr" marL="91440" marR="73152" marT="27432" marB="27432">
                    <a:solidFill>
                      <a:srgbClr val="FFFFFF"/>
                    </a:solidFill>
                  </a:tcPr>
                </a:tc>
                <a:tc>
                  <a:txBody>
                    <a:bodyPr/>
                    <a:lstStyle/>
                    <a:p>
                      <a:pPr algn="ctr"/>
                      <a:r>
                        <a:rPr sz="1350">
                          <a:solidFill>
                            <a:srgbClr val="1F2937"/>
                          </a:solidFill>
                          <a:latin typeface="Segoe UI"/>
                        </a:rPr>
                        <a:t>207,1 min</a:t>
                      </a:r>
                    </a:p>
                  </a:txBody>
                  <a:tcPr anchor="ctr" marL="91440" marR="73152" marT="27432" marB="27432">
                    <a:solidFill>
                      <a:srgbClr val="FFFFFF"/>
                    </a:solidFill>
                  </a:tcPr>
                </a:tc>
                <a:tc>
                  <a:txBody>
                    <a:bodyPr/>
                    <a:lstStyle/>
                    <a:p>
                      <a:pPr algn="ctr"/>
                      <a:r>
                        <a:rPr sz="1350">
                          <a:solidFill>
                            <a:srgbClr val="1F2937"/>
                          </a:solidFill>
                          <a:latin typeface="Segoe UI"/>
                        </a:rPr>
                        <a:t>208,0 min</a:t>
                      </a:r>
                    </a:p>
                  </a:txBody>
                  <a:tcPr anchor="ctr" marL="91440" marR="73152" marT="27432" marB="27432">
                    <a:solidFill>
                      <a:srgbClr val="FFFFFF"/>
                    </a:solidFill>
                  </a:tcPr>
                </a:tc>
                <a:tc>
                  <a:txBody>
                    <a:bodyPr/>
                    <a:lstStyle/>
                    <a:p>
                      <a:pPr algn="ctr"/>
                      <a:r>
                        <a:rPr sz="1350">
                          <a:solidFill>
                            <a:srgbClr val="1F2937"/>
                          </a:solidFill>
                          <a:latin typeface="Segoe UI"/>
                        </a:rPr>
                        <a:t>−0,4 %  CVRP</a:t>
                      </a:r>
                    </a:p>
                  </a:txBody>
                  <a:tcPr anchor="ctr" marL="91440" marR="73152" marT="27432" marB="27432">
                    <a:solidFill>
                      <a:srgbClr val="FFFFFF"/>
                    </a:solidFill>
                  </a:tcPr>
                </a:tc>
              </a:tr>
            </a:tbl>
          </a:graphicData>
        </a:graphic>
      </p:graphicFrame>
      <p:sp>
        <p:nvSpPr>
          <p:cNvPr id="15" name="TextBox 14"/>
          <p:cNvSpPr txBox="1"/>
          <p:nvPr/>
        </p:nvSpPr>
        <p:spPr>
          <a:xfrm>
            <a:off x="6309360" y="3886200"/>
            <a:ext cx="5321808" cy="914400"/>
          </a:xfrm>
          <a:prstGeom prst="rect">
            <a:avLst/>
          </a:prstGeom>
          <a:noFill/>
        </p:spPr>
        <p:txBody>
          <a:bodyPr wrap="square">
            <a:spAutoFit/>
          </a:bodyPr>
          <a:lstStyle/>
          <a:p>
            <a:pPr algn="l">
              <a:spcAft>
                <a:spcPts val="0"/>
              </a:spcAft>
            </a:pPr>
            <a:r>
              <a:rPr sz="1450" b="0" i="0">
                <a:solidFill>
                  <a:srgbClr val="1F2937"/>
                </a:solidFill>
                <a:latin typeface="Segoe UI"/>
              </a:rPr>
              <a:t>Budget égalisé : 7 TSP × 5 s d'un côté, une résolution de 35 s de l'autre.
À budget égal, le CVRP ne gagne jamais plus de 0,2 %.</a:t>
            </a:r>
          </a:p>
        </p:txBody>
      </p:sp>
      <p:sp>
        <p:nvSpPr>
          <p:cNvPr id="16" name="Rectangle 15"/>
          <p:cNvSpPr/>
          <p:nvPr/>
        </p:nvSpPr>
        <p:spPr>
          <a:xfrm>
            <a:off x="6309360" y="4590288"/>
            <a:ext cx="5321808" cy="105156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4709160"/>
            <a:ext cx="4956048" cy="292608"/>
          </a:xfrm>
          <a:prstGeom prst="rect">
            <a:avLst/>
          </a:prstGeom>
          <a:noFill/>
        </p:spPr>
        <p:txBody>
          <a:bodyPr wrap="square">
            <a:spAutoFit/>
          </a:bodyPr>
          <a:lstStyle/>
          <a:p>
            <a:pPr algn="l">
              <a:spcAft>
                <a:spcPts val="0"/>
              </a:spcAft>
            </a:pPr>
            <a:r>
              <a:rPr sz="1500" b="1" i="0">
                <a:solidFill>
                  <a:srgbClr val="0E7490"/>
                </a:solidFill>
                <a:latin typeface="Segoe UI"/>
              </a:rPr>
              <a:t>Pourquoi la décomposition tient</a:t>
            </a:r>
          </a:p>
        </p:txBody>
      </p:sp>
      <p:sp>
        <p:nvSpPr>
          <p:cNvPr id="18" name="TextBox 17"/>
          <p:cNvSpPr txBox="1"/>
          <p:nvPr/>
        </p:nvSpPr>
        <p:spPr>
          <a:xfrm>
            <a:off x="6510528" y="5065776"/>
            <a:ext cx="4937760" cy="502920"/>
          </a:xfrm>
          <a:prstGeom prst="rect">
            <a:avLst/>
          </a:prstGeom>
          <a:noFill/>
        </p:spPr>
        <p:txBody>
          <a:bodyPr wrap="square">
            <a:spAutoFit/>
          </a:bodyPr>
          <a:lstStyle/>
          <a:p>
            <a:pPr algn="l">
              <a:spcAft>
                <a:spcPts val="0"/>
              </a:spcAft>
            </a:pPr>
            <a:r>
              <a:rPr sz="1500" b="0" i="0">
                <a:solidFill>
                  <a:srgbClr val="1F2937"/>
                </a:solidFill>
                <a:latin typeface="Segoe UI"/>
              </a:rPr>
              <a:t>Les k-médoïdes de MS6 travaillent déjà sur la distance routière :
l'information géographique est injectée avant le routage.
La décomposition n'est pas subie, c'est de la connaissance du domaine.</a:t>
            </a:r>
          </a:p>
        </p:txBody>
      </p:sp>
      <p:sp>
        <p:nvSpPr>
          <p:cNvPr id="19" name="Rectangle 18"/>
          <p:cNvSpPr/>
          <p:nvPr/>
        </p:nvSpPr>
        <p:spPr>
          <a:xfrm>
            <a:off x="566928" y="5349240"/>
            <a:ext cx="5394960" cy="86868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5468112"/>
            <a:ext cx="5029200" cy="292608"/>
          </a:xfrm>
          <a:prstGeom prst="rect">
            <a:avLst/>
          </a:prstGeom>
          <a:noFill/>
        </p:spPr>
        <p:txBody>
          <a:bodyPr wrap="square">
            <a:spAutoFit/>
          </a:bodyPr>
          <a:lstStyle/>
          <a:p>
            <a:pPr algn="l">
              <a:spcAft>
                <a:spcPts val="0"/>
              </a:spcAft>
            </a:pPr>
            <a:r>
              <a:rPr sz="1500" b="1" i="0">
                <a:solidFill>
                  <a:srgbClr val="B45309"/>
                </a:solidFill>
                <a:latin typeface="Segoe UI"/>
              </a:rPr>
              <a:t>Le perdant est reclassé (règle 6)</a:t>
            </a:r>
          </a:p>
        </p:txBody>
      </p:sp>
      <p:sp>
        <p:nvSpPr>
          <p:cNvPr id="21" name="TextBox 20"/>
          <p:cNvSpPr txBox="1"/>
          <p:nvPr/>
        </p:nvSpPr>
        <p:spPr>
          <a:xfrm>
            <a:off x="768096" y="5824728"/>
            <a:ext cx="5010912" cy="320040"/>
          </a:xfrm>
          <a:prstGeom prst="rect">
            <a:avLst/>
          </a:prstGeom>
          <a:noFill/>
        </p:spPr>
        <p:txBody>
          <a:bodyPr wrap="square">
            <a:spAutoFit/>
          </a:bodyPr>
          <a:lstStyle/>
          <a:p>
            <a:pPr algn="l">
              <a:spcAft>
                <a:spcPts val="0"/>
              </a:spcAft>
            </a:pPr>
            <a:r>
              <a:rPr sz="1500" b="0" i="0">
                <a:solidFill>
                  <a:srgbClr val="1F2937"/>
                </a:solidFill>
                <a:latin typeface="Segoe UI"/>
              </a:rPr>
              <a:t>Le CVRP n'utilise que 6 bus au lieu de 7, chargés à 50/50 exactement.
Un bus et un chauffeur économisés → il devient l'outil de dimensionnement de flotte.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MS12 · DONNÉES ET FEATURES</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Prédire l'heure d'arrivée : données et variables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4 320 tronçons sur 180 jours d'école, ancrés sur des durées OSRM réelles de Meknès.</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MS12 · Prédiction de l'heure d'arrivée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14</a:t>
            </a:r>
          </a:p>
        </p:txBody>
      </p:sp>
      <p:sp>
        <p:nvSpPr>
          <p:cNvPr id="10" name="Rectangle 9"/>
          <p:cNvSpPr/>
          <p:nvPr/>
        </p:nvSpPr>
        <p:spPr>
          <a:xfrm>
            <a:off x="566928" y="2103120"/>
            <a:ext cx="6949440" cy="47548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194560"/>
            <a:ext cx="1828800" cy="292608"/>
          </a:xfrm>
          <a:prstGeom prst="rect">
            <a:avLst/>
          </a:prstGeom>
          <a:noFill/>
        </p:spPr>
        <p:txBody>
          <a:bodyPr wrap="square">
            <a:spAutoFit/>
          </a:bodyPr>
          <a:lstStyle/>
          <a:p>
            <a:pPr algn="l">
              <a:spcAft>
                <a:spcPts val="0"/>
              </a:spcAft>
            </a:pPr>
            <a:r>
              <a:rPr sz="1450" b="1" i="0">
                <a:solidFill>
                  <a:srgbClr val="0E7490"/>
                </a:solidFill>
                <a:latin typeface="Segoe UI"/>
              </a:rPr>
              <a:t>Temporel</a:t>
            </a:r>
          </a:p>
        </p:txBody>
      </p:sp>
      <p:sp>
        <p:nvSpPr>
          <p:cNvPr id="12" name="TextBox 11"/>
          <p:cNvSpPr txBox="1"/>
          <p:nvPr/>
        </p:nvSpPr>
        <p:spPr>
          <a:xfrm>
            <a:off x="2606040" y="2203704"/>
            <a:ext cx="2377440" cy="292608"/>
          </a:xfrm>
          <a:prstGeom prst="rect">
            <a:avLst/>
          </a:prstGeom>
          <a:noFill/>
        </p:spPr>
        <p:txBody>
          <a:bodyPr wrap="square">
            <a:spAutoFit/>
          </a:bodyPr>
          <a:lstStyle/>
          <a:p>
            <a:pPr algn="l">
              <a:spcAft>
                <a:spcPts val="0"/>
              </a:spcAft>
            </a:pPr>
            <a:r>
              <a:rPr sz="1300" b="0" i="0">
                <a:solidFill>
                  <a:srgbClr val="1F2937"/>
                </a:solidFill>
                <a:latin typeface="Segoe UI"/>
              </a:rPr>
              <a:t>heure_sin / heure_cos, jour, mois</a:t>
            </a:r>
          </a:p>
        </p:txBody>
      </p:sp>
      <p:sp>
        <p:nvSpPr>
          <p:cNvPr id="13" name="TextBox 12"/>
          <p:cNvSpPr txBox="1"/>
          <p:nvPr/>
        </p:nvSpPr>
        <p:spPr>
          <a:xfrm>
            <a:off x="5029200" y="2212848"/>
            <a:ext cx="2377440" cy="292608"/>
          </a:xfrm>
          <a:prstGeom prst="rect">
            <a:avLst/>
          </a:prstGeom>
          <a:noFill/>
        </p:spPr>
        <p:txBody>
          <a:bodyPr wrap="square">
            <a:spAutoFit/>
          </a:bodyPr>
          <a:lstStyle/>
          <a:p>
            <a:pPr algn="l">
              <a:spcAft>
                <a:spcPts val="0"/>
              </a:spcAft>
            </a:pPr>
            <a:r>
              <a:rPr sz="1200" b="0" i="1">
                <a:solidFill>
                  <a:srgbClr val="64748B"/>
                </a:solidFill>
                <a:latin typeface="Segoe UI"/>
              </a:rPr>
              <a:t>Encodage cyclique : 23 h est proche de 0 h</a:t>
            </a:r>
          </a:p>
        </p:txBody>
      </p:sp>
      <p:sp>
        <p:nvSpPr>
          <p:cNvPr id="14" name="Rectangle 13"/>
          <p:cNvSpPr/>
          <p:nvPr/>
        </p:nvSpPr>
        <p:spPr>
          <a:xfrm>
            <a:off x="566928" y="2606040"/>
            <a:ext cx="6949440" cy="475488"/>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697480"/>
            <a:ext cx="1828800" cy="292608"/>
          </a:xfrm>
          <a:prstGeom prst="rect">
            <a:avLst/>
          </a:prstGeom>
          <a:noFill/>
        </p:spPr>
        <p:txBody>
          <a:bodyPr wrap="square">
            <a:spAutoFit/>
          </a:bodyPr>
          <a:lstStyle/>
          <a:p>
            <a:pPr algn="l">
              <a:spcAft>
                <a:spcPts val="0"/>
              </a:spcAft>
            </a:pPr>
            <a:r>
              <a:rPr sz="1450" b="1" i="0">
                <a:solidFill>
                  <a:srgbClr val="0E7490"/>
                </a:solidFill>
                <a:latin typeface="Segoe UI"/>
              </a:rPr>
              <a:t>Conditions</a:t>
            </a:r>
          </a:p>
        </p:txBody>
      </p:sp>
      <p:sp>
        <p:nvSpPr>
          <p:cNvPr id="16" name="TextBox 15"/>
          <p:cNvSpPr txBox="1"/>
          <p:nvPr/>
        </p:nvSpPr>
        <p:spPr>
          <a:xfrm>
            <a:off x="2606040" y="2706624"/>
            <a:ext cx="2377440" cy="292608"/>
          </a:xfrm>
          <a:prstGeom prst="rect">
            <a:avLst/>
          </a:prstGeom>
          <a:noFill/>
        </p:spPr>
        <p:txBody>
          <a:bodyPr wrap="square">
            <a:spAutoFit/>
          </a:bodyPr>
          <a:lstStyle/>
          <a:p>
            <a:pPr algn="l">
              <a:spcAft>
                <a:spcPts val="0"/>
              </a:spcAft>
            </a:pPr>
            <a:r>
              <a:rPr sz="1300" b="0" i="0">
                <a:solidFill>
                  <a:srgbClr val="1F2937"/>
                </a:solidFill>
                <a:latin typeface="Segoe UI"/>
              </a:rPr>
              <a:t>météo · trafic  (one-hot, 4 + 4)</a:t>
            </a:r>
          </a:p>
        </p:txBody>
      </p:sp>
      <p:sp>
        <p:nvSpPr>
          <p:cNvPr id="17" name="TextBox 16"/>
          <p:cNvSpPr txBox="1"/>
          <p:nvPr/>
        </p:nvSpPr>
        <p:spPr>
          <a:xfrm>
            <a:off x="5029200" y="2715768"/>
            <a:ext cx="2377440" cy="292608"/>
          </a:xfrm>
          <a:prstGeom prst="rect">
            <a:avLst/>
          </a:prstGeom>
          <a:noFill/>
        </p:spPr>
        <p:txBody>
          <a:bodyPr wrap="square">
            <a:spAutoFit/>
          </a:bodyPr>
          <a:lstStyle/>
          <a:p>
            <a:pPr algn="l">
              <a:spcAft>
                <a:spcPts val="0"/>
              </a:spcAft>
            </a:pPr>
            <a:r>
              <a:rPr sz="1200" b="0" i="1">
                <a:solidFill>
                  <a:srgbClr val="64748B"/>
                </a:solidFill>
                <a:latin typeface="Segoe UI"/>
              </a:rPr>
              <a:t>Les deux familles qui portent tout le signal</a:t>
            </a:r>
          </a:p>
        </p:txBody>
      </p:sp>
      <p:sp>
        <p:nvSpPr>
          <p:cNvPr id="18" name="Rectangle 17"/>
          <p:cNvSpPr/>
          <p:nvPr/>
        </p:nvSpPr>
        <p:spPr>
          <a:xfrm>
            <a:off x="566928" y="3108960"/>
            <a:ext cx="6949440" cy="47548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00400"/>
            <a:ext cx="1828800" cy="292608"/>
          </a:xfrm>
          <a:prstGeom prst="rect">
            <a:avLst/>
          </a:prstGeom>
          <a:noFill/>
        </p:spPr>
        <p:txBody>
          <a:bodyPr wrap="square">
            <a:spAutoFit/>
          </a:bodyPr>
          <a:lstStyle/>
          <a:p>
            <a:pPr algn="l">
              <a:spcAft>
                <a:spcPts val="0"/>
              </a:spcAft>
            </a:pPr>
            <a:r>
              <a:rPr sz="1450" b="1" i="0">
                <a:solidFill>
                  <a:srgbClr val="0E7490"/>
                </a:solidFill>
                <a:latin typeface="Segoe UI"/>
              </a:rPr>
              <a:t>Route</a:t>
            </a:r>
          </a:p>
        </p:txBody>
      </p:sp>
      <p:sp>
        <p:nvSpPr>
          <p:cNvPr id="20" name="TextBox 19"/>
          <p:cNvSpPr txBox="1"/>
          <p:nvPr/>
        </p:nvSpPr>
        <p:spPr>
          <a:xfrm>
            <a:off x="2606040" y="3209544"/>
            <a:ext cx="2377440" cy="292608"/>
          </a:xfrm>
          <a:prstGeom prst="rect">
            <a:avLst/>
          </a:prstGeom>
          <a:noFill/>
        </p:spPr>
        <p:txBody>
          <a:bodyPr wrap="square">
            <a:spAutoFit/>
          </a:bodyPr>
          <a:lstStyle/>
          <a:p>
            <a:pPr algn="l">
              <a:spcAft>
                <a:spcPts val="0"/>
              </a:spcAft>
            </a:pPr>
            <a:r>
              <a:rPr sz="1300" b="0" i="0">
                <a:solidFill>
                  <a:srgbClr val="1F2937"/>
                </a:solidFill>
                <a:latin typeface="Segoe UI"/>
              </a:rPr>
              <a:t>distance OSRM, durée de base, feux, oued</a:t>
            </a:r>
          </a:p>
        </p:txBody>
      </p:sp>
      <p:sp>
        <p:nvSpPr>
          <p:cNvPr id="21" name="TextBox 20"/>
          <p:cNvSpPr txBox="1"/>
          <p:nvPr/>
        </p:nvSpPr>
        <p:spPr>
          <a:xfrm>
            <a:off x="5029200" y="3218688"/>
            <a:ext cx="2377440" cy="292608"/>
          </a:xfrm>
          <a:prstGeom prst="rect">
            <a:avLst/>
          </a:prstGeom>
          <a:noFill/>
        </p:spPr>
        <p:txBody>
          <a:bodyPr wrap="square">
            <a:spAutoFit/>
          </a:bodyPr>
          <a:lstStyle/>
          <a:p>
            <a:pPr algn="l">
              <a:spcAft>
                <a:spcPts val="0"/>
              </a:spcAft>
            </a:pPr>
            <a:r>
              <a:rPr sz="1200" b="0" i="1">
                <a:solidFill>
                  <a:srgbClr val="64748B"/>
                </a:solidFill>
                <a:latin typeface="Segoe UI"/>
              </a:rPr>
              <a:t>L'ancrage physique de la prédiction</a:t>
            </a:r>
          </a:p>
        </p:txBody>
      </p:sp>
      <p:sp>
        <p:nvSpPr>
          <p:cNvPr id="22" name="Rectangle 21"/>
          <p:cNvSpPr/>
          <p:nvPr/>
        </p:nvSpPr>
        <p:spPr>
          <a:xfrm>
            <a:off x="566928" y="3611880"/>
            <a:ext cx="6949440" cy="475488"/>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03320"/>
            <a:ext cx="1828800" cy="292608"/>
          </a:xfrm>
          <a:prstGeom prst="rect">
            <a:avLst/>
          </a:prstGeom>
          <a:noFill/>
        </p:spPr>
        <p:txBody>
          <a:bodyPr wrap="square">
            <a:spAutoFit/>
          </a:bodyPr>
          <a:lstStyle/>
          <a:p>
            <a:pPr algn="l">
              <a:spcAft>
                <a:spcPts val="0"/>
              </a:spcAft>
            </a:pPr>
            <a:r>
              <a:rPr sz="1450" b="1" i="0">
                <a:solidFill>
                  <a:srgbClr val="0E7490"/>
                </a:solidFill>
                <a:latin typeface="Segoe UI"/>
              </a:rPr>
              <a:t>Dwell</a:t>
            </a:r>
          </a:p>
        </p:txBody>
      </p:sp>
      <p:sp>
        <p:nvSpPr>
          <p:cNvPr id="24" name="TextBox 23"/>
          <p:cNvSpPr txBox="1"/>
          <p:nvPr/>
        </p:nvSpPr>
        <p:spPr>
          <a:xfrm>
            <a:off x="2606040" y="3712464"/>
            <a:ext cx="2377440" cy="292608"/>
          </a:xfrm>
          <a:prstGeom prst="rect">
            <a:avLst/>
          </a:prstGeom>
          <a:noFill/>
        </p:spPr>
        <p:txBody>
          <a:bodyPr wrap="square">
            <a:spAutoFit/>
          </a:bodyPr>
          <a:lstStyle/>
          <a:p>
            <a:pPr algn="l">
              <a:spcAft>
                <a:spcPts val="0"/>
              </a:spcAft>
            </a:pPr>
            <a:r>
              <a:rPr sz="1300" b="0" i="0">
                <a:solidFill>
                  <a:srgbClr val="1F2937"/>
                </a:solidFill>
                <a:latin typeface="Segoe UI"/>
              </a:rPr>
              <a:t>montées, descentes, taux d'occupation</a:t>
            </a:r>
          </a:p>
        </p:txBody>
      </p:sp>
      <p:sp>
        <p:nvSpPr>
          <p:cNvPr id="25" name="TextBox 24"/>
          <p:cNvSpPr txBox="1"/>
          <p:nvPr/>
        </p:nvSpPr>
        <p:spPr>
          <a:xfrm>
            <a:off x="5029200" y="3721608"/>
            <a:ext cx="2377440" cy="292608"/>
          </a:xfrm>
          <a:prstGeom prst="rect">
            <a:avLst/>
          </a:prstGeom>
          <a:noFill/>
        </p:spPr>
        <p:txBody>
          <a:bodyPr wrap="square">
            <a:spAutoFit/>
          </a:bodyPr>
          <a:lstStyle/>
          <a:p>
            <a:pPr algn="l">
              <a:spcAft>
                <a:spcPts val="0"/>
              </a:spcAft>
            </a:pPr>
            <a:r>
              <a:rPr sz="1200" b="0" i="1">
                <a:solidFill>
                  <a:srgbClr val="64748B"/>
                </a:solidFill>
                <a:latin typeface="Segoe UI"/>
              </a:rPr>
              <a:t>Temps d'arrêt aux stations</a:t>
            </a:r>
          </a:p>
        </p:txBody>
      </p:sp>
      <p:sp>
        <p:nvSpPr>
          <p:cNvPr id="26" name="Rectangle 25"/>
          <p:cNvSpPr/>
          <p:nvPr/>
        </p:nvSpPr>
        <p:spPr>
          <a:xfrm>
            <a:off x="566928" y="4114800"/>
            <a:ext cx="6949440" cy="47548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206240"/>
            <a:ext cx="1828800" cy="292608"/>
          </a:xfrm>
          <a:prstGeom prst="rect">
            <a:avLst/>
          </a:prstGeom>
          <a:noFill/>
        </p:spPr>
        <p:txBody>
          <a:bodyPr wrap="square">
            <a:spAutoFit/>
          </a:bodyPr>
          <a:lstStyle/>
          <a:p>
            <a:pPr algn="l">
              <a:spcAft>
                <a:spcPts val="0"/>
              </a:spcAft>
            </a:pPr>
            <a:r>
              <a:rPr sz="1450" b="1" i="0">
                <a:solidFill>
                  <a:srgbClr val="0E7490"/>
                </a:solidFill>
                <a:latin typeface="Segoe UI"/>
              </a:rPr>
              <a:t>Contexte marocain</a:t>
            </a:r>
          </a:p>
        </p:txBody>
      </p:sp>
      <p:sp>
        <p:nvSpPr>
          <p:cNvPr id="28" name="TextBox 27"/>
          <p:cNvSpPr txBox="1"/>
          <p:nvPr/>
        </p:nvSpPr>
        <p:spPr>
          <a:xfrm>
            <a:off x="2606040" y="4215384"/>
            <a:ext cx="2377440" cy="292608"/>
          </a:xfrm>
          <a:prstGeom prst="rect">
            <a:avLst/>
          </a:prstGeom>
          <a:noFill/>
        </p:spPr>
        <p:txBody>
          <a:bodyPr wrap="square">
            <a:spAutoFit/>
          </a:bodyPr>
          <a:lstStyle/>
          <a:p>
            <a:pPr algn="l">
              <a:spcAft>
                <a:spcPts val="0"/>
              </a:spcAft>
            </a:pPr>
            <a:r>
              <a:rPr sz="1300" b="0" i="0">
                <a:solidFill>
                  <a:srgbClr val="1F2937"/>
                </a:solidFill>
                <a:latin typeface="Segoe UI"/>
              </a:rPr>
              <a:t>ramadan · jour de souk</a:t>
            </a:r>
          </a:p>
        </p:txBody>
      </p:sp>
      <p:sp>
        <p:nvSpPr>
          <p:cNvPr id="29" name="TextBox 28"/>
          <p:cNvSpPr txBox="1"/>
          <p:nvPr/>
        </p:nvSpPr>
        <p:spPr>
          <a:xfrm>
            <a:off x="5029200" y="4224528"/>
            <a:ext cx="2377440" cy="292608"/>
          </a:xfrm>
          <a:prstGeom prst="rect">
            <a:avLst/>
          </a:prstGeom>
          <a:noFill/>
        </p:spPr>
        <p:txBody>
          <a:bodyPr wrap="square">
            <a:spAutoFit/>
          </a:bodyPr>
          <a:lstStyle/>
          <a:p>
            <a:pPr algn="l">
              <a:spcAft>
                <a:spcPts val="0"/>
              </a:spcAft>
            </a:pPr>
            <a:r>
              <a:rPr sz="1200" b="0" i="1">
                <a:solidFill>
                  <a:srgbClr val="64748B"/>
                </a:solidFill>
                <a:latin typeface="Segoe UI"/>
              </a:rPr>
              <a:t>Spécifique au terrain, absent des jeux publics</a:t>
            </a:r>
          </a:p>
        </p:txBody>
      </p:sp>
      <p:sp>
        <p:nvSpPr>
          <p:cNvPr id="30" name="Rectangle 29"/>
          <p:cNvSpPr/>
          <p:nvPr/>
        </p:nvSpPr>
        <p:spPr>
          <a:xfrm>
            <a:off x="566928" y="4617720"/>
            <a:ext cx="6949440" cy="475488"/>
          </a:xfrm>
          <a:prstGeom prst="rect">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709160"/>
            <a:ext cx="1828800" cy="292608"/>
          </a:xfrm>
          <a:prstGeom prst="rect">
            <a:avLst/>
          </a:prstGeom>
          <a:noFill/>
        </p:spPr>
        <p:txBody>
          <a:bodyPr wrap="square">
            <a:spAutoFit/>
          </a:bodyPr>
          <a:lstStyle/>
          <a:p>
            <a:pPr algn="l">
              <a:spcAft>
                <a:spcPts val="0"/>
              </a:spcAft>
            </a:pPr>
            <a:r>
              <a:rPr sz="1450" b="1" i="0">
                <a:solidFill>
                  <a:srgbClr val="0E7490"/>
                </a:solidFill>
                <a:latin typeface="Segoe UI"/>
              </a:rPr>
              <a:t>Historique</a:t>
            </a:r>
          </a:p>
        </p:txBody>
      </p:sp>
      <p:sp>
        <p:nvSpPr>
          <p:cNvPr id="32" name="TextBox 31"/>
          <p:cNvSpPr txBox="1"/>
          <p:nvPr/>
        </p:nvSpPr>
        <p:spPr>
          <a:xfrm>
            <a:off x="2606040" y="4718304"/>
            <a:ext cx="2377440" cy="292608"/>
          </a:xfrm>
          <a:prstGeom prst="rect">
            <a:avLst/>
          </a:prstGeom>
          <a:noFill/>
        </p:spPr>
        <p:txBody>
          <a:bodyPr wrap="square">
            <a:spAutoFit/>
          </a:bodyPr>
          <a:lstStyle/>
          <a:p>
            <a:pPr algn="l">
              <a:spcAft>
                <a:spcPts val="0"/>
              </a:spcAft>
            </a:pPr>
            <a:r>
              <a:rPr sz="1300" b="0" i="0">
                <a:solidFill>
                  <a:srgbClr val="1F2937"/>
                </a:solidFill>
                <a:latin typeface="Segoe UI"/>
              </a:rPr>
              <a:t>moyenne expanding().mean().shift(1)</a:t>
            </a:r>
          </a:p>
        </p:txBody>
      </p:sp>
      <p:sp>
        <p:nvSpPr>
          <p:cNvPr id="33" name="TextBox 32"/>
          <p:cNvSpPr txBox="1"/>
          <p:nvPr/>
        </p:nvSpPr>
        <p:spPr>
          <a:xfrm>
            <a:off x="5029200" y="4727448"/>
            <a:ext cx="2377440" cy="292608"/>
          </a:xfrm>
          <a:prstGeom prst="rect">
            <a:avLst/>
          </a:prstGeom>
          <a:noFill/>
        </p:spPr>
        <p:txBody>
          <a:bodyPr wrap="square">
            <a:spAutoFit/>
          </a:bodyPr>
          <a:lstStyle/>
          <a:p>
            <a:pPr algn="l">
              <a:spcAft>
                <a:spcPts val="0"/>
              </a:spcAft>
            </a:pPr>
            <a:r>
              <a:rPr sz="1200" b="0" i="1">
                <a:solidFill>
                  <a:srgbClr val="64748B"/>
                </a:solidFill>
                <a:latin typeface="Segoe UI"/>
              </a:rPr>
              <a:t>Décalée d'un pas : aucune fuite temporelle</a:t>
            </a:r>
          </a:p>
        </p:txBody>
      </p:sp>
      <p:sp>
        <p:nvSpPr>
          <p:cNvPr id="34" name="Rectangle 33"/>
          <p:cNvSpPr/>
          <p:nvPr/>
        </p:nvSpPr>
        <p:spPr>
          <a:xfrm>
            <a:off x="7818120" y="2103120"/>
            <a:ext cx="3813048" cy="105156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18120" y="2103120"/>
            <a:ext cx="50292" cy="10515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37576" y="2231136"/>
            <a:ext cx="3447288" cy="548640"/>
          </a:xfrm>
          <a:prstGeom prst="rect">
            <a:avLst/>
          </a:prstGeom>
          <a:noFill/>
        </p:spPr>
        <p:txBody>
          <a:bodyPr wrap="square">
            <a:spAutoFit/>
          </a:bodyPr>
          <a:lstStyle/>
          <a:p>
            <a:pPr algn="l">
              <a:spcAft>
                <a:spcPts val="0"/>
              </a:spcAft>
            </a:pPr>
            <a:r>
              <a:rPr sz="2600" b="1" i="0">
                <a:solidFill>
                  <a:srgbClr val="0E7490"/>
                </a:solidFill>
                <a:latin typeface="Segoe UI"/>
              </a:rPr>
              <a:t>26</a:t>
            </a:r>
          </a:p>
        </p:txBody>
      </p:sp>
      <p:sp>
        <p:nvSpPr>
          <p:cNvPr id="37" name="TextBox 36"/>
          <p:cNvSpPr txBox="1"/>
          <p:nvPr/>
        </p:nvSpPr>
        <p:spPr>
          <a:xfrm>
            <a:off x="8037576" y="2761488"/>
            <a:ext cx="3447288" cy="457200"/>
          </a:xfrm>
          <a:prstGeom prst="rect">
            <a:avLst/>
          </a:prstGeom>
          <a:noFill/>
        </p:spPr>
        <p:txBody>
          <a:bodyPr wrap="square">
            <a:spAutoFit/>
          </a:bodyPr>
          <a:lstStyle/>
          <a:p>
            <a:pPr algn="l">
              <a:spcAft>
                <a:spcPts val="0"/>
              </a:spcAft>
            </a:pPr>
            <a:r>
              <a:rPr sz="1400" b="1" i="0">
                <a:solidFill>
                  <a:srgbClr val="1F2937"/>
                </a:solidFill>
                <a:latin typeface="Segoe UI"/>
              </a:rPr>
              <a:t>variables construites</a:t>
            </a:r>
          </a:p>
        </p:txBody>
      </p:sp>
      <p:sp>
        <p:nvSpPr>
          <p:cNvPr id="38" name="Rectangle 37"/>
          <p:cNvSpPr/>
          <p:nvPr/>
        </p:nvSpPr>
        <p:spPr>
          <a:xfrm>
            <a:off x="7818120" y="3273552"/>
            <a:ext cx="3813048" cy="105156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818120" y="3273552"/>
            <a:ext cx="50292" cy="10515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37576" y="3401568"/>
            <a:ext cx="3447288" cy="548640"/>
          </a:xfrm>
          <a:prstGeom prst="rect">
            <a:avLst/>
          </a:prstGeom>
          <a:noFill/>
        </p:spPr>
        <p:txBody>
          <a:bodyPr wrap="square">
            <a:spAutoFit/>
          </a:bodyPr>
          <a:lstStyle/>
          <a:p>
            <a:pPr algn="l">
              <a:spcAft>
                <a:spcPts val="0"/>
              </a:spcAft>
            </a:pPr>
            <a:r>
              <a:rPr sz="2600" b="1" i="0">
                <a:solidFill>
                  <a:srgbClr val="0E7490"/>
                </a:solidFill>
                <a:latin typeface="Segoe UI"/>
              </a:rPr>
              <a:t>4 320</a:t>
            </a:r>
          </a:p>
        </p:txBody>
      </p:sp>
      <p:sp>
        <p:nvSpPr>
          <p:cNvPr id="41" name="TextBox 40"/>
          <p:cNvSpPr txBox="1"/>
          <p:nvPr/>
        </p:nvSpPr>
        <p:spPr>
          <a:xfrm>
            <a:off x="8037576" y="3931920"/>
            <a:ext cx="3447288" cy="457200"/>
          </a:xfrm>
          <a:prstGeom prst="rect">
            <a:avLst/>
          </a:prstGeom>
          <a:noFill/>
        </p:spPr>
        <p:txBody>
          <a:bodyPr wrap="square">
            <a:spAutoFit/>
          </a:bodyPr>
          <a:lstStyle/>
          <a:p>
            <a:pPr algn="l">
              <a:spcAft>
                <a:spcPts val="0"/>
              </a:spcAft>
            </a:pPr>
            <a:r>
              <a:rPr sz="1400" b="1" i="0">
                <a:solidFill>
                  <a:srgbClr val="1F2937"/>
                </a:solidFill>
                <a:latin typeface="Segoe UI"/>
              </a:rPr>
              <a:t>observations · 180 jours</a:t>
            </a:r>
          </a:p>
        </p:txBody>
      </p:sp>
      <p:sp>
        <p:nvSpPr>
          <p:cNvPr id="42" name="TextBox 41"/>
          <p:cNvSpPr txBox="1"/>
          <p:nvPr/>
        </p:nvSpPr>
        <p:spPr>
          <a:xfrm>
            <a:off x="8037576" y="4242816"/>
            <a:ext cx="3429000" cy="640080"/>
          </a:xfrm>
          <a:prstGeom prst="rect">
            <a:avLst/>
          </a:prstGeom>
          <a:noFill/>
        </p:spPr>
        <p:txBody>
          <a:bodyPr wrap="square">
            <a:spAutoFit/>
          </a:bodyPr>
          <a:lstStyle/>
          <a:p>
            <a:pPr algn="l">
              <a:spcAft>
                <a:spcPts val="0"/>
              </a:spcAft>
            </a:pPr>
            <a:r>
              <a:rPr sz="1200" b="0" i="0">
                <a:solidFill>
                  <a:srgbClr val="64748B"/>
                </a:solidFill>
                <a:latin typeface="Segoe UI"/>
              </a:rPr>
              <a:t>Calendrier marocain réel : week-ends, vacances, 5 jours fériés.</a:t>
            </a:r>
          </a:p>
        </p:txBody>
      </p:sp>
      <p:sp>
        <p:nvSpPr>
          <p:cNvPr id="43" name="Rectangle 42"/>
          <p:cNvSpPr/>
          <p:nvPr/>
        </p:nvSpPr>
        <p:spPr>
          <a:xfrm>
            <a:off x="7818120" y="4443984"/>
            <a:ext cx="3813048" cy="1133856"/>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19288" y="4562856"/>
            <a:ext cx="3447288" cy="292608"/>
          </a:xfrm>
          <a:prstGeom prst="rect">
            <a:avLst/>
          </a:prstGeom>
          <a:noFill/>
        </p:spPr>
        <p:txBody>
          <a:bodyPr wrap="square">
            <a:spAutoFit/>
          </a:bodyPr>
          <a:lstStyle/>
          <a:p>
            <a:pPr algn="l">
              <a:spcAft>
                <a:spcPts val="0"/>
              </a:spcAft>
            </a:pPr>
            <a:r>
              <a:rPr sz="1500" b="1" i="0">
                <a:solidFill>
                  <a:srgbClr val="0E7490"/>
                </a:solidFill>
                <a:latin typeface="Segoe UI"/>
              </a:rPr>
              <a:t>Un piège évité</a:t>
            </a:r>
          </a:p>
        </p:txBody>
      </p:sp>
      <p:sp>
        <p:nvSpPr>
          <p:cNvPr id="45" name="TextBox 44"/>
          <p:cNvSpPr txBox="1"/>
          <p:nvPr/>
        </p:nvSpPr>
        <p:spPr>
          <a:xfrm>
            <a:off x="8019288" y="4919472"/>
            <a:ext cx="3429000" cy="585216"/>
          </a:xfrm>
          <a:prstGeom prst="rect">
            <a:avLst/>
          </a:prstGeom>
          <a:noFill/>
        </p:spPr>
        <p:txBody>
          <a:bodyPr wrap="square">
            <a:spAutoFit/>
          </a:bodyPr>
          <a:lstStyle/>
          <a:p>
            <a:pPr algn="l">
              <a:spcAft>
                <a:spcPts val="0"/>
              </a:spcAft>
            </a:pPr>
            <a:r>
              <a:rPr sz="1500" b="0" i="0">
                <a:solidFill>
                  <a:srgbClr val="1F2937"/>
                </a:solidFill>
                <a:latin typeface="Segoe UI"/>
              </a:rPr>
              <a:t>incident_type (panne, accident…) est un
LABEL, jamais une feature : il n'est pas
connu à l'heure du départ. Il sert à
l'évaluation en double vue.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MS12 · EXPÉRIMENTATION</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11 modèles, un protocole anti-triche, un gagnant inattendu</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Split temporel (30 derniers jours) · double vue tous / normaux · baseline métier = durée OSRM brute.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MS12 · Prédiction de l'heure d'arrivée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15</a:t>
            </a:r>
          </a:p>
        </p:txBody>
      </p:sp>
      <p:pic>
        <p:nvPicPr>
          <p:cNvPr id="10" name="Picture 9" descr="02_mae_comparaison.png"/>
          <p:cNvPicPr>
            <a:picLocks noChangeAspect="1"/>
          </p:cNvPicPr>
          <p:nvPr/>
        </p:nvPicPr>
        <p:blipFill>
          <a:blip r:embed="rId2"/>
          <a:stretch>
            <a:fillRect/>
          </a:stretch>
        </p:blipFill>
        <p:spPr>
          <a:xfrm>
            <a:off x="566928" y="2148840"/>
            <a:ext cx="5760720" cy="2843091"/>
          </a:xfrm>
          <a:prstGeom prst="rect">
            <a:avLst/>
          </a:prstGeom>
        </p:spPr>
      </p:pic>
      <p:graphicFrame>
        <p:nvGraphicFramePr>
          <p:cNvPr id="11" name="Table 10"/>
          <p:cNvGraphicFramePr>
            <a:graphicFrameLocks noGrp="1"/>
          </p:cNvGraphicFramePr>
          <p:nvPr/>
        </p:nvGraphicFramePr>
        <p:xfrm>
          <a:off x="6629400" y="2103120"/>
          <a:ext cx="5001767" cy="2761488"/>
        </p:xfrm>
        <a:graphic>
          <a:graphicData uri="http://schemas.openxmlformats.org/drawingml/2006/table">
            <a:tbl>
              <a:tblPr firstRow="1" bandRow="1">
                <a:tableStyleId>{5C22544A-7EE6-4342-B048-85BDC9FD1C3A}</a:tableStyleId>
              </a:tblPr>
              <a:tblGrid>
                <a:gridCol w="2632509"/>
                <a:gridCol w="1140754"/>
                <a:gridCol w="1228504"/>
              </a:tblGrid>
              <a:tr h="457200">
                <a:tc>
                  <a:txBody>
                    <a:bodyPr/>
                    <a:lstStyle/>
                    <a:p>
                      <a:pPr algn="l"/>
                      <a:r>
                        <a:rPr sz="1350" b="1">
                          <a:solidFill>
                            <a:srgbClr val="FFFFFF"/>
                          </a:solidFill>
                          <a:latin typeface="Segoe UI"/>
                        </a:rPr>
                        <a:t>Modèle</a:t>
                      </a:r>
                    </a:p>
                  </a:txBody>
                  <a:tcPr anchor="ctr" marL="91440" marR="73152" marT="27432" marB="27432">
                    <a:solidFill>
                      <a:srgbClr val="0F2942"/>
                    </a:solidFill>
                  </a:tcPr>
                </a:tc>
                <a:tc>
                  <a:txBody>
                    <a:bodyPr/>
                    <a:lstStyle/>
                    <a:p>
                      <a:pPr algn="ctr"/>
                      <a:r>
                        <a:rPr sz="1350" b="1">
                          <a:solidFill>
                            <a:srgbClr val="FFFFFF"/>
                          </a:solidFill>
                          <a:latin typeface="Segoe UI"/>
                        </a:rPr>
                        <a:t>MAE (min)</a:t>
                      </a:r>
                    </a:p>
                  </a:txBody>
                  <a:tcPr anchor="ctr" marL="91440" marR="73152" marT="27432" marB="27432">
                    <a:solidFill>
                      <a:srgbClr val="0F2942"/>
                    </a:solidFill>
                  </a:tcPr>
                </a:tc>
                <a:tc>
                  <a:txBody>
                    <a:bodyPr/>
                    <a:lstStyle/>
                    <a:p>
                      <a:pPr algn="ctr"/>
                      <a:r>
                        <a:rPr sz="1350" b="1">
                          <a:solidFill>
                            <a:srgbClr val="FFFFFF"/>
                          </a:solidFill>
                          <a:latin typeface="Segoe UI"/>
                        </a:rPr>
                        <a:t>R² normaux</a:t>
                      </a:r>
                    </a:p>
                  </a:txBody>
                  <a:tcPr anchor="ctr" marL="91440" marR="73152" marT="27432" marB="27432">
                    <a:solidFill>
                      <a:srgbClr val="0F2942"/>
                    </a:solidFill>
                  </a:tcPr>
                </a:tc>
              </a:tr>
              <a:tr h="384048">
                <a:tc>
                  <a:txBody>
                    <a:bodyPr/>
                    <a:lstStyle/>
                    <a:p>
                      <a:pPr algn="l"/>
                      <a:r>
                        <a:rPr sz="1350" b="1">
                          <a:solidFill>
                            <a:srgbClr val="1F2937"/>
                          </a:solidFill>
                          <a:latin typeface="Segoe UI"/>
                        </a:rPr>
                        <a:t>ElasticNet</a:t>
                      </a:r>
                    </a:p>
                  </a:txBody>
                  <a:tcPr anchor="ctr" marL="91440" marR="73152" marT="27432" marB="27432">
                    <a:solidFill>
                      <a:srgbClr val="E0F2F7"/>
                    </a:solidFill>
                  </a:tcPr>
                </a:tc>
                <a:tc>
                  <a:txBody>
                    <a:bodyPr/>
                    <a:lstStyle/>
                    <a:p>
                      <a:pPr algn="ctr"/>
                      <a:r>
                        <a:rPr sz="1350" b="0">
                          <a:solidFill>
                            <a:srgbClr val="1F2937"/>
                          </a:solidFill>
                          <a:latin typeface="Segoe UI"/>
                        </a:rPr>
                        <a:t>1,3219</a:t>
                      </a:r>
                    </a:p>
                  </a:txBody>
                  <a:tcPr anchor="ctr" marL="91440" marR="73152" marT="27432" marB="27432">
                    <a:solidFill>
                      <a:srgbClr val="E0F2F7"/>
                    </a:solidFill>
                  </a:tcPr>
                </a:tc>
                <a:tc>
                  <a:txBody>
                    <a:bodyPr/>
                    <a:lstStyle/>
                    <a:p>
                      <a:pPr algn="ctr"/>
                      <a:r>
                        <a:rPr sz="1350" b="0">
                          <a:solidFill>
                            <a:srgbClr val="1F2937"/>
                          </a:solidFill>
                          <a:latin typeface="Segoe UI"/>
                        </a:rPr>
                        <a:t>0,8195</a:t>
                      </a:r>
                    </a:p>
                  </a:txBody>
                  <a:tcPr anchor="ctr" marL="91440" marR="73152" marT="27432" marB="27432">
                    <a:solidFill>
                      <a:srgbClr val="E0F2F7"/>
                    </a:solidFill>
                  </a:tcPr>
                </a:tc>
              </a:tr>
              <a:tr h="384048">
                <a:tc>
                  <a:txBody>
                    <a:bodyPr/>
                    <a:lstStyle/>
                    <a:p>
                      <a:pPr algn="l"/>
                      <a:r>
                        <a:rPr sz="1350" b="0">
                          <a:solidFill>
                            <a:srgbClr val="1F2937"/>
                          </a:solidFill>
                          <a:latin typeface="Segoe UI"/>
                        </a:rPr>
                        <a:t>Ridge</a:t>
                      </a:r>
                    </a:p>
                  </a:txBody>
                  <a:tcPr anchor="ctr" marL="91440" marR="73152" marT="27432" marB="27432">
                    <a:solidFill>
                      <a:srgbClr val="F6F8FB"/>
                    </a:solidFill>
                  </a:tcPr>
                </a:tc>
                <a:tc>
                  <a:txBody>
                    <a:bodyPr/>
                    <a:lstStyle/>
                    <a:p>
                      <a:pPr algn="ctr"/>
                      <a:r>
                        <a:rPr sz="1350" b="0">
                          <a:solidFill>
                            <a:srgbClr val="1F2937"/>
                          </a:solidFill>
                          <a:latin typeface="Segoe UI"/>
                        </a:rPr>
                        <a:t>1,3668</a:t>
                      </a:r>
                    </a:p>
                  </a:txBody>
                  <a:tcPr anchor="ctr" marL="91440" marR="73152" marT="27432" marB="27432">
                    <a:solidFill>
                      <a:srgbClr val="F6F8FB"/>
                    </a:solidFill>
                  </a:tcPr>
                </a:tc>
                <a:tc>
                  <a:txBody>
                    <a:bodyPr/>
                    <a:lstStyle/>
                    <a:p>
                      <a:pPr algn="ctr"/>
                      <a:r>
                        <a:rPr sz="1350" b="0">
                          <a:solidFill>
                            <a:srgbClr val="1F2937"/>
                          </a:solidFill>
                          <a:latin typeface="Segoe UI"/>
                        </a:rPr>
                        <a:t>0,8064</a:t>
                      </a:r>
                    </a:p>
                  </a:txBody>
                  <a:tcPr anchor="ctr" marL="91440" marR="73152" marT="27432" marB="27432">
                    <a:solidFill>
                      <a:srgbClr val="F6F8FB"/>
                    </a:solidFill>
                  </a:tcPr>
                </a:tc>
              </a:tr>
              <a:tr h="384048">
                <a:tc>
                  <a:txBody>
                    <a:bodyPr/>
                    <a:lstStyle/>
                    <a:p>
                      <a:pPr algn="l"/>
                      <a:r>
                        <a:rPr sz="1350" b="0">
                          <a:solidFill>
                            <a:srgbClr val="1F2937"/>
                          </a:solidFill>
                          <a:latin typeface="Segoe UI"/>
                        </a:rPr>
                        <a:t>Gradient Boosting</a:t>
                      </a:r>
                    </a:p>
                  </a:txBody>
                  <a:tcPr anchor="ctr" marL="91440" marR="73152" marT="27432" marB="27432">
                    <a:solidFill>
                      <a:srgbClr val="FFFFFF"/>
                    </a:solidFill>
                  </a:tcPr>
                </a:tc>
                <a:tc>
                  <a:txBody>
                    <a:bodyPr/>
                    <a:lstStyle/>
                    <a:p>
                      <a:pPr algn="ctr"/>
                      <a:r>
                        <a:rPr sz="1350" b="0">
                          <a:solidFill>
                            <a:srgbClr val="1F2937"/>
                          </a:solidFill>
                          <a:latin typeface="Segoe UI"/>
                        </a:rPr>
                        <a:t>1,4756</a:t>
                      </a:r>
                    </a:p>
                  </a:txBody>
                  <a:tcPr anchor="ctr" marL="91440" marR="73152" marT="27432" marB="27432">
                    <a:solidFill>
                      <a:srgbClr val="FFFFFF"/>
                    </a:solidFill>
                  </a:tcPr>
                </a:tc>
                <a:tc>
                  <a:txBody>
                    <a:bodyPr/>
                    <a:lstStyle/>
                    <a:p>
                      <a:pPr algn="ctr"/>
                      <a:r>
                        <a:rPr sz="1350" b="0">
                          <a:solidFill>
                            <a:srgbClr val="1F2937"/>
                          </a:solidFill>
                          <a:latin typeface="Segoe UI"/>
                        </a:rPr>
                        <a:t>0,4457</a:t>
                      </a:r>
                    </a:p>
                  </a:txBody>
                  <a:tcPr anchor="ctr" marL="91440" marR="73152" marT="27432" marB="27432">
                    <a:solidFill>
                      <a:srgbClr val="FFFFFF"/>
                    </a:solidFill>
                  </a:tcPr>
                </a:tc>
              </a:tr>
              <a:tr h="384048">
                <a:tc>
                  <a:txBody>
                    <a:bodyPr/>
                    <a:lstStyle/>
                    <a:p>
                      <a:pPr algn="l"/>
                      <a:r>
                        <a:rPr sz="1350" b="0">
                          <a:solidFill>
                            <a:srgbClr val="1F2937"/>
                          </a:solidFill>
                          <a:latin typeface="Segoe UI"/>
                        </a:rPr>
                        <a:t>XGBoost</a:t>
                      </a:r>
                    </a:p>
                  </a:txBody>
                  <a:tcPr anchor="ctr" marL="91440" marR="73152" marT="27432" marB="27432">
                    <a:solidFill>
                      <a:srgbClr val="F6F8FB"/>
                    </a:solidFill>
                  </a:tcPr>
                </a:tc>
                <a:tc>
                  <a:txBody>
                    <a:bodyPr/>
                    <a:lstStyle/>
                    <a:p>
                      <a:pPr algn="ctr"/>
                      <a:r>
                        <a:rPr sz="1350" b="0">
                          <a:solidFill>
                            <a:srgbClr val="1F2937"/>
                          </a:solidFill>
                          <a:latin typeface="Segoe UI"/>
                        </a:rPr>
                        <a:t>1,6755</a:t>
                      </a:r>
                    </a:p>
                  </a:txBody>
                  <a:tcPr anchor="ctr" marL="91440" marR="73152" marT="27432" marB="27432">
                    <a:solidFill>
                      <a:srgbClr val="F6F8FB"/>
                    </a:solidFill>
                  </a:tcPr>
                </a:tc>
                <a:tc>
                  <a:txBody>
                    <a:bodyPr/>
                    <a:lstStyle/>
                    <a:p>
                      <a:pPr algn="ctr"/>
                      <a:r>
                        <a:rPr sz="1350" b="0">
                          <a:solidFill>
                            <a:srgbClr val="1F2937"/>
                          </a:solidFill>
                          <a:latin typeface="Segoe UI"/>
                        </a:rPr>
                        <a:t>−0,3606</a:t>
                      </a:r>
                    </a:p>
                  </a:txBody>
                  <a:tcPr anchor="ctr" marL="91440" marR="73152" marT="27432" marB="27432">
                    <a:solidFill>
                      <a:srgbClr val="F6F8FB"/>
                    </a:solidFill>
                  </a:tcPr>
                </a:tc>
              </a:tr>
              <a:tr h="384048">
                <a:tc>
                  <a:txBody>
                    <a:bodyPr/>
                    <a:lstStyle/>
                    <a:p>
                      <a:pPr algn="l"/>
                      <a:r>
                        <a:rPr sz="1350" b="0">
                          <a:solidFill>
                            <a:srgbClr val="1F2937"/>
                          </a:solidFill>
                          <a:latin typeface="Segoe UI"/>
                        </a:rPr>
                        <a:t>LightGBM</a:t>
                      </a:r>
                    </a:p>
                  </a:txBody>
                  <a:tcPr anchor="ctr" marL="91440" marR="73152" marT="27432" marB="27432">
                    <a:solidFill>
                      <a:srgbClr val="FFFFFF"/>
                    </a:solidFill>
                  </a:tcPr>
                </a:tc>
                <a:tc>
                  <a:txBody>
                    <a:bodyPr/>
                    <a:lstStyle/>
                    <a:p>
                      <a:pPr algn="ctr"/>
                      <a:r>
                        <a:rPr sz="1350" b="0">
                          <a:solidFill>
                            <a:srgbClr val="1F2937"/>
                          </a:solidFill>
                          <a:latin typeface="Segoe UI"/>
                        </a:rPr>
                        <a:t>1,9259</a:t>
                      </a:r>
                    </a:p>
                  </a:txBody>
                  <a:tcPr anchor="ctr" marL="91440" marR="73152" marT="27432" marB="27432">
                    <a:solidFill>
                      <a:srgbClr val="FFFFFF"/>
                    </a:solidFill>
                  </a:tcPr>
                </a:tc>
                <a:tc>
                  <a:txBody>
                    <a:bodyPr/>
                    <a:lstStyle/>
                    <a:p>
                      <a:pPr algn="ctr"/>
                      <a:r>
                        <a:rPr sz="1350" b="0">
                          <a:solidFill>
                            <a:srgbClr val="1F2937"/>
                          </a:solidFill>
                          <a:latin typeface="Segoe UI"/>
                        </a:rPr>
                        <a:t>0,0851</a:t>
                      </a:r>
                    </a:p>
                  </a:txBody>
                  <a:tcPr anchor="ctr" marL="91440" marR="73152" marT="27432" marB="27432">
                    <a:solidFill>
                      <a:srgbClr val="FFFFFF"/>
                    </a:solidFill>
                  </a:tcPr>
                </a:tc>
              </a:tr>
              <a:tr h="384048">
                <a:tc>
                  <a:txBody>
                    <a:bodyPr/>
                    <a:lstStyle/>
                    <a:p>
                      <a:pPr algn="l"/>
                      <a:r>
                        <a:rPr sz="1350" b="0">
                          <a:solidFill>
                            <a:srgbClr val="1F2937"/>
                          </a:solidFill>
                          <a:latin typeface="Segoe UI"/>
                        </a:rPr>
                        <a:t>Baseline OSRM brut</a:t>
                      </a:r>
                    </a:p>
                  </a:txBody>
                  <a:tcPr anchor="ctr" marL="91440" marR="73152" marT="27432" marB="27432">
                    <a:solidFill>
                      <a:srgbClr val="F6F8FB"/>
                    </a:solidFill>
                  </a:tcPr>
                </a:tc>
                <a:tc>
                  <a:txBody>
                    <a:bodyPr/>
                    <a:lstStyle/>
                    <a:p>
                      <a:pPr algn="ctr"/>
                      <a:r>
                        <a:rPr sz="1350" b="0">
                          <a:solidFill>
                            <a:srgbClr val="1F2937"/>
                          </a:solidFill>
                          <a:latin typeface="Segoe UI"/>
                        </a:rPr>
                        <a:t>2,7957</a:t>
                      </a:r>
                    </a:p>
                  </a:txBody>
                  <a:tcPr anchor="ctr" marL="91440" marR="73152" marT="27432" marB="27432">
                    <a:solidFill>
                      <a:srgbClr val="F6F8FB"/>
                    </a:solidFill>
                  </a:tcPr>
                </a:tc>
                <a:tc>
                  <a:txBody>
                    <a:bodyPr/>
                    <a:lstStyle/>
                    <a:p>
                      <a:pPr algn="ctr"/>
                      <a:r>
                        <a:rPr sz="1350" b="0">
                          <a:solidFill>
                            <a:srgbClr val="1F2937"/>
                          </a:solidFill>
                          <a:latin typeface="Segoe UI"/>
                        </a:rPr>
                        <a:t>−0,2521</a:t>
                      </a:r>
                    </a:p>
                  </a:txBody>
                  <a:tcPr anchor="ctr" marL="91440" marR="73152" marT="27432" marB="27432">
                    <a:solidFill>
                      <a:srgbClr val="F6F8FB"/>
                    </a:solidFill>
                  </a:tcPr>
                </a:tc>
              </a:tr>
            </a:tbl>
          </a:graphicData>
        </a:graphic>
      </p:graphicFrame>
      <p:sp>
        <p:nvSpPr>
          <p:cNvPr id="12" name="TextBox 11"/>
          <p:cNvSpPr txBox="1"/>
          <p:nvPr/>
        </p:nvSpPr>
        <p:spPr>
          <a:xfrm>
            <a:off x="6629400" y="5029200"/>
            <a:ext cx="5001768" cy="640080"/>
          </a:xfrm>
          <a:prstGeom prst="rect">
            <a:avLst/>
          </a:prstGeom>
          <a:noFill/>
        </p:spPr>
        <p:txBody>
          <a:bodyPr wrap="square">
            <a:spAutoFit/>
          </a:bodyPr>
          <a:lstStyle/>
          <a:p>
            <a:pPr algn="l">
              <a:spcAft>
                <a:spcPts val="0"/>
              </a:spcAft>
            </a:pPr>
            <a:r>
              <a:rPr sz="1600" b="1" i="0">
                <a:solidFill>
                  <a:srgbClr val="0E7490"/>
                </a:solidFill>
                <a:latin typeface="Segoe UI"/>
              </a:rPr>
              <a:t>Gain vs durée OSRM brute :  +52,7 %
R² sur trajets normaux :  0,8195</a:t>
            </a:r>
          </a:p>
        </p:txBody>
      </p:sp>
      <p:sp>
        <p:nvSpPr>
          <p:cNvPr id="13" name="Rectangle 12"/>
          <p:cNvSpPr/>
          <p:nvPr/>
        </p:nvSpPr>
        <p:spPr>
          <a:xfrm>
            <a:off x="6629400" y="5715000"/>
            <a:ext cx="5001768" cy="896112"/>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0568" y="5833872"/>
            <a:ext cx="4636008" cy="292608"/>
          </a:xfrm>
          <a:prstGeom prst="rect">
            <a:avLst/>
          </a:prstGeom>
          <a:noFill/>
        </p:spPr>
        <p:txBody>
          <a:bodyPr wrap="square">
            <a:spAutoFit/>
          </a:bodyPr>
          <a:lstStyle/>
          <a:p>
            <a:pPr algn="l">
              <a:spcAft>
                <a:spcPts val="0"/>
              </a:spcAft>
            </a:pPr>
            <a:r>
              <a:rPr sz="1500" b="1" i="0">
                <a:solidFill>
                  <a:srgbClr val="0E7490"/>
                </a:solidFill>
                <a:latin typeface="Segoe UI"/>
              </a:rPr>
              <a:t>L'écart de 2,7 s avec Ridge est significatif</a:t>
            </a:r>
          </a:p>
        </p:txBody>
      </p:sp>
      <p:sp>
        <p:nvSpPr>
          <p:cNvPr id="15" name="TextBox 14"/>
          <p:cNvSpPr txBox="1"/>
          <p:nvPr/>
        </p:nvSpPr>
        <p:spPr>
          <a:xfrm>
            <a:off x="6830568" y="6190488"/>
            <a:ext cx="4617720" cy="347472"/>
          </a:xfrm>
          <a:prstGeom prst="rect">
            <a:avLst/>
          </a:prstGeom>
          <a:noFill/>
        </p:spPr>
        <p:txBody>
          <a:bodyPr wrap="square">
            <a:spAutoFit/>
          </a:bodyPr>
          <a:lstStyle/>
          <a:p>
            <a:pPr algn="l">
              <a:spcAft>
                <a:spcPts val="0"/>
              </a:spcAft>
            </a:pPr>
            <a:r>
              <a:rPr sz="1500" b="0" i="0">
                <a:solidFill>
                  <a:srgbClr val="1F2937"/>
                </a:solidFill>
                <a:latin typeface="Segoe UI"/>
              </a:rPr>
              <a:t>On le croyait du bruit. Un bootstrap apparié (5 000
rééchantillonnages) montre que l'écart est systématique
sur les mêmes trajets. L'incertitude ne va pas toujours
dans le sens qu'on croit.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MS12 · LA LIMITE STRUCTURELLE, ET SON TRAITEMENT</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Le modèle publié n'était pas celui qui tournait</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Règle 7 : la question n'est pas « quel notebook ai-je écrit ? » mais « quel code s'exécute quand un parent ouvre l'application ? »</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MS12 · Prédiction de l'heure d'arrivée</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16</a:t>
            </a:r>
          </a:p>
        </p:txBody>
      </p:sp>
      <p:sp>
        <p:nvSpPr>
          <p:cNvPr id="10" name="Rectangle 9"/>
          <p:cNvSpPr/>
          <p:nvPr/>
        </p:nvSpPr>
        <p:spPr>
          <a:xfrm>
            <a:off x="566928" y="2103120"/>
            <a:ext cx="5394960" cy="146304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31136"/>
            <a:ext cx="5029200" cy="292608"/>
          </a:xfrm>
          <a:prstGeom prst="rect">
            <a:avLst/>
          </a:prstGeom>
          <a:noFill/>
        </p:spPr>
        <p:txBody>
          <a:bodyPr wrap="square">
            <a:spAutoFit/>
          </a:bodyPr>
          <a:lstStyle/>
          <a:p>
            <a:pPr algn="l">
              <a:spcAft>
                <a:spcPts val="0"/>
              </a:spcAft>
            </a:pPr>
            <a:r>
              <a:rPr sz="1600" b="1" i="0">
                <a:solidFill>
                  <a:srgbClr val="B45309"/>
                </a:solidFill>
                <a:latin typeface="Segoe UI"/>
              </a:rPr>
              <a:t>Le constat</a:t>
            </a:r>
          </a:p>
        </p:txBody>
      </p:sp>
      <p:sp>
        <p:nvSpPr>
          <p:cNvPr id="12" name="TextBox 11"/>
          <p:cNvSpPr txBox="1"/>
          <p:nvPr/>
        </p:nvSpPr>
        <p:spPr>
          <a:xfrm>
            <a:off x="777240" y="2578608"/>
            <a:ext cx="5029200" cy="914400"/>
          </a:xfrm>
          <a:prstGeom prst="rect">
            <a:avLst/>
          </a:prstGeom>
          <a:noFill/>
        </p:spPr>
        <p:txBody>
          <a:bodyPr wrap="square">
            <a:spAutoFit/>
          </a:bodyPr>
          <a:lstStyle/>
          <a:p>
            <a:pPr algn="l">
              <a:spcAft>
                <a:spcPts val="0"/>
              </a:spcAft>
            </a:pPr>
            <a:r>
              <a:rPr sz="1500" b="0" i="0">
                <a:solidFill>
                  <a:srgbClr val="1F2937"/>
                </a:solidFill>
                <a:latin typeface="Segoe UI"/>
              </a:rPr>
              <a:t>Le modèle est entraîné sur des tronçons de 0,7 à 4 km.
En service, la tournée restante fait 6 à 12 km.
→  100 % des appels de production sortent du domaine.</a:t>
            </a:r>
          </a:p>
        </p:txBody>
      </p:sp>
      <p:sp>
        <p:nvSpPr>
          <p:cNvPr id="13" name="Rectangle 12"/>
          <p:cNvSpPr/>
          <p:nvPr/>
        </p:nvSpPr>
        <p:spPr>
          <a:xfrm>
            <a:off x="6236208" y="2103120"/>
            <a:ext cx="5394960" cy="146304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31136"/>
            <a:ext cx="5029200" cy="292608"/>
          </a:xfrm>
          <a:prstGeom prst="rect">
            <a:avLst/>
          </a:prstGeom>
          <a:noFill/>
        </p:spPr>
        <p:txBody>
          <a:bodyPr wrap="square">
            <a:spAutoFit/>
          </a:bodyPr>
          <a:lstStyle/>
          <a:p>
            <a:pPr algn="l">
              <a:spcAft>
                <a:spcPts val="0"/>
              </a:spcAft>
            </a:pPr>
            <a:r>
              <a:rPr sz="1600" b="1" i="0">
                <a:solidFill>
                  <a:srgbClr val="0E7490"/>
                </a:solidFill>
                <a:latin typeface="Segoe UI"/>
              </a:rPr>
              <a:t>La garde  ·  mode facteur_contexte</a:t>
            </a:r>
          </a:p>
        </p:txBody>
      </p:sp>
      <p:sp>
        <p:nvSpPr>
          <p:cNvPr id="15" name="TextBox 14"/>
          <p:cNvSpPr txBox="1"/>
          <p:nvPr/>
        </p:nvSpPr>
        <p:spPr>
          <a:xfrm>
            <a:off x="6446520" y="2578608"/>
            <a:ext cx="5029200" cy="914400"/>
          </a:xfrm>
          <a:prstGeom prst="rect">
            <a:avLst/>
          </a:prstGeom>
          <a:noFill/>
        </p:spPr>
        <p:txBody>
          <a:bodyPr wrap="square">
            <a:spAutoFit/>
          </a:bodyPr>
          <a:lstStyle/>
          <a:p>
            <a:pPr algn="l">
              <a:spcAft>
                <a:spcPts val="0"/>
              </a:spcAft>
            </a:pPr>
            <a:r>
              <a:rPr sz="1400" b="0" i="0">
                <a:solidFill>
                  <a:srgbClr val="1F2937"/>
                </a:solidFill>
                <a:latin typeface="Segoe UI"/>
              </a:rPr>
              <a:t>On n'extrapole plus. Le modèle est interrogé sur un tronçon
de référence avec le contexte réel du jour → un facteur
d'inflation (×1,32 fluide … ×2,36 embouteillage + pluie)
appliqué à la durée OSRM restante.</a:t>
            </a:r>
          </a:p>
        </p:txBody>
      </p:sp>
      <p:sp>
        <p:nvSpPr>
          <p:cNvPr id="16" name="TextBox 15"/>
          <p:cNvSpPr txBox="1"/>
          <p:nvPr/>
        </p:nvSpPr>
        <p:spPr>
          <a:xfrm>
            <a:off x="566928" y="3730752"/>
            <a:ext cx="11064240" cy="320040"/>
          </a:xfrm>
          <a:prstGeom prst="rect">
            <a:avLst/>
          </a:prstGeom>
          <a:noFill/>
        </p:spPr>
        <p:txBody>
          <a:bodyPr wrap="square">
            <a:spAutoFit/>
          </a:bodyPr>
          <a:lstStyle/>
          <a:p>
            <a:pPr algn="ctr">
              <a:spcAft>
                <a:spcPts val="0"/>
              </a:spcAft>
            </a:pPr>
            <a:r>
              <a:rPr sz="1700" b="1" i="0">
                <a:solidFill>
                  <a:srgbClr val="0F2942"/>
                </a:solidFill>
                <a:latin typeface="Segoe UI"/>
              </a:rPr>
              <a:t>Le ML dit de combien la circulation se dégrade aujourd'hui ; OSRM dit la distance.</a:t>
            </a:r>
          </a:p>
        </p:txBody>
      </p:sp>
      <p:graphicFrame>
        <p:nvGraphicFramePr>
          <p:cNvPr id="17" name="Table 16"/>
          <p:cNvGraphicFramePr>
            <a:graphicFrameLocks noGrp="1"/>
          </p:cNvGraphicFramePr>
          <p:nvPr/>
        </p:nvGraphicFramePr>
        <p:xfrm>
          <a:off x="566928" y="4160520"/>
          <a:ext cx="11064238" cy="1664208"/>
        </p:xfrm>
        <a:graphic>
          <a:graphicData uri="http://schemas.openxmlformats.org/drawingml/2006/table">
            <a:tbl>
              <a:tblPr firstRow="1" bandRow="1">
                <a:tableStyleId>{5C22544A-7EE6-4342-B048-85BDC9FD1C3A}</a:tableStyleId>
              </a:tblPr>
              <a:tblGrid>
                <a:gridCol w="4801462"/>
                <a:gridCol w="1670073"/>
                <a:gridCol w="1878833"/>
                <a:gridCol w="2713870"/>
              </a:tblGrid>
              <a:tr h="457200">
                <a:tc>
                  <a:txBody>
                    <a:bodyPr/>
                    <a:lstStyle/>
                    <a:p>
                      <a:pPr algn="l"/>
                      <a:r>
                        <a:rPr sz="1350" b="1">
                          <a:solidFill>
                            <a:srgbClr val="FFFFFF"/>
                          </a:solidFill>
                          <a:latin typeface="Segoe UI"/>
                        </a:rPr>
                        <a:t>Sur trajets entiers (6,4 – 11,8 km)</a:t>
                      </a:r>
                    </a:p>
                  </a:txBody>
                  <a:tcPr anchor="ctr" marL="91440" marR="73152" marT="27432" marB="27432">
                    <a:solidFill>
                      <a:srgbClr val="0F2942"/>
                    </a:solidFill>
                  </a:tcPr>
                </a:tc>
                <a:tc>
                  <a:txBody>
                    <a:bodyPr/>
                    <a:lstStyle/>
                    <a:p>
                      <a:pPr algn="ctr"/>
                      <a:r>
                        <a:rPr sz="1350" b="1">
                          <a:solidFill>
                            <a:srgbClr val="FFFFFF"/>
                          </a:solidFill>
                          <a:latin typeface="Segoe UI"/>
                        </a:rPr>
                        <a:t>MAE tous</a:t>
                      </a:r>
                    </a:p>
                  </a:txBody>
                  <a:tcPr anchor="ctr" marL="91440" marR="73152" marT="27432" marB="27432">
                    <a:solidFill>
                      <a:srgbClr val="0F2942"/>
                    </a:solidFill>
                  </a:tcPr>
                </a:tc>
                <a:tc>
                  <a:txBody>
                    <a:bodyPr/>
                    <a:lstStyle/>
                    <a:p>
                      <a:pPr algn="ctr"/>
                      <a:r>
                        <a:rPr sz="1350" b="1">
                          <a:solidFill>
                            <a:srgbClr val="FFFFFF"/>
                          </a:solidFill>
                          <a:latin typeface="Segoe UI"/>
                        </a:rPr>
                        <a:t>MAE normaux</a:t>
                      </a:r>
                    </a:p>
                  </a:txBody>
                  <a:tcPr anchor="ctr" marL="91440" marR="73152" marT="27432" marB="27432">
                    <a:solidFill>
                      <a:srgbClr val="0F2942"/>
                    </a:solidFill>
                  </a:tcPr>
                </a:tc>
                <a:tc>
                  <a:txBody>
                    <a:bodyPr/>
                    <a:lstStyle/>
                    <a:p>
                      <a:pPr algn="ctr"/>
                      <a:r>
                        <a:rPr sz="1350" b="1">
                          <a:solidFill>
                            <a:srgbClr val="FFFFFF"/>
                          </a:solidFill>
                          <a:latin typeface="Segoe UI"/>
                        </a:rPr>
                        <a:t>Verdict</a:t>
                      </a:r>
                    </a:p>
                  </a:txBody>
                  <a:tcPr anchor="ctr" marL="91440" marR="73152" marT="27432" marB="27432">
                    <a:solidFill>
                      <a:srgbClr val="0F2942"/>
                    </a:solidFill>
                  </a:tcPr>
                </a:tc>
              </a:tr>
              <a:tr h="402336">
                <a:tc>
                  <a:txBody>
                    <a:bodyPr/>
                    <a:lstStyle/>
                    <a:p>
                      <a:pPr algn="l"/>
                      <a:r>
                        <a:rPr sz="1350" b="1">
                          <a:solidFill>
                            <a:srgbClr val="1F2937"/>
                          </a:solidFill>
                          <a:latin typeface="Segoe UI"/>
                        </a:rPr>
                        <a:t>Garde facteur_contexte  (déployé)</a:t>
                      </a:r>
                    </a:p>
                  </a:txBody>
                  <a:tcPr anchor="ctr" marL="91440" marR="73152" marT="27432" marB="27432">
                    <a:solidFill>
                      <a:srgbClr val="E0F2F7"/>
                    </a:solidFill>
                  </a:tcPr>
                </a:tc>
                <a:tc>
                  <a:txBody>
                    <a:bodyPr/>
                    <a:lstStyle/>
                    <a:p>
                      <a:pPr algn="ctr"/>
                      <a:r>
                        <a:rPr sz="1350" b="0">
                          <a:solidFill>
                            <a:srgbClr val="1F2937"/>
                          </a:solidFill>
                          <a:latin typeface="Segoe UI"/>
                        </a:rPr>
                        <a:t>3,93 min</a:t>
                      </a:r>
                    </a:p>
                  </a:txBody>
                  <a:tcPr anchor="ctr" marL="91440" marR="73152" marT="27432" marB="27432">
                    <a:solidFill>
                      <a:srgbClr val="E0F2F7"/>
                    </a:solidFill>
                  </a:tcPr>
                </a:tc>
                <a:tc>
                  <a:txBody>
                    <a:bodyPr/>
                    <a:lstStyle/>
                    <a:p>
                      <a:pPr algn="ctr"/>
                      <a:r>
                        <a:rPr sz="1350" b="0">
                          <a:solidFill>
                            <a:srgbClr val="1F2937"/>
                          </a:solidFill>
                          <a:latin typeface="Segoe UI"/>
                        </a:rPr>
                        <a:t>2,17 min</a:t>
                      </a:r>
                    </a:p>
                  </a:txBody>
                  <a:tcPr anchor="ctr" marL="91440" marR="73152" marT="27432" marB="27432">
                    <a:solidFill>
                      <a:srgbClr val="E0F2F7"/>
                    </a:solidFill>
                  </a:tcPr>
                </a:tc>
                <a:tc>
                  <a:txBody>
                    <a:bodyPr/>
                    <a:lstStyle/>
                    <a:p>
                      <a:pPr algn="ctr"/>
                      <a:r>
                        <a:rPr sz="1350" b="0">
                          <a:solidFill>
                            <a:srgbClr val="1F2937"/>
                          </a:solidFill>
                          <a:latin typeface="Segoe UI"/>
                        </a:rPr>
                        <a:t>référence</a:t>
                      </a:r>
                    </a:p>
                  </a:txBody>
                  <a:tcPr anchor="ctr" marL="91440" marR="73152" marT="27432" marB="27432">
                    <a:solidFill>
                      <a:srgbClr val="E0F2F7"/>
                    </a:solidFill>
                  </a:tcPr>
                </a:tc>
              </a:tr>
              <a:tr h="402336">
                <a:tc>
                  <a:txBody>
                    <a:bodyPr/>
                    <a:lstStyle/>
                    <a:p>
                      <a:pPr algn="l"/>
                      <a:r>
                        <a:rPr sz="1350" b="0">
                          <a:solidFill>
                            <a:srgbClr val="1F2937"/>
                          </a:solidFill>
                          <a:latin typeface="Segoe UI"/>
                        </a:rPr>
                        <a:t>Modèle extrapolé hors domaine</a:t>
                      </a:r>
                    </a:p>
                  </a:txBody>
                  <a:tcPr anchor="ctr" marL="91440" marR="73152" marT="27432" marB="27432">
                    <a:solidFill>
                      <a:srgbClr val="F6F8FB"/>
                    </a:solidFill>
                  </a:tcPr>
                </a:tc>
                <a:tc>
                  <a:txBody>
                    <a:bodyPr/>
                    <a:lstStyle/>
                    <a:p>
                      <a:pPr algn="ctr"/>
                      <a:r>
                        <a:rPr sz="1350" b="0">
                          <a:solidFill>
                            <a:srgbClr val="1F2937"/>
                          </a:solidFill>
                          <a:latin typeface="Segoe UI"/>
                        </a:rPr>
                        <a:t>5,20 min</a:t>
                      </a:r>
                    </a:p>
                  </a:txBody>
                  <a:tcPr anchor="ctr" marL="91440" marR="73152" marT="27432" marB="27432">
                    <a:solidFill>
                      <a:srgbClr val="F6F8FB"/>
                    </a:solidFill>
                  </a:tcPr>
                </a:tc>
                <a:tc>
                  <a:txBody>
                    <a:bodyPr/>
                    <a:lstStyle/>
                    <a:p>
                      <a:pPr algn="ctr"/>
                      <a:r>
                        <a:rPr sz="1350" b="0">
                          <a:solidFill>
                            <a:srgbClr val="1F2937"/>
                          </a:solidFill>
                          <a:latin typeface="Segoe UI"/>
                        </a:rPr>
                        <a:t>3,45 min</a:t>
                      </a:r>
                    </a:p>
                  </a:txBody>
                  <a:tcPr anchor="ctr" marL="91440" marR="73152" marT="27432" marB="27432">
                    <a:solidFill>
                      <a:srgbClr val="F6F8FB"/>
                    </a:solidFill>
                  </a:tcPr>
                </a:tc>
                <a:tc>
                  <a:txBody>
                    <a:bodyPr/>
                    <a:lstStyle/>
                    <a:p>
                      <a:pPr algn="ctr"/>
                      <a:r>
                        <a:rPr sz="1350" b="0">
                          <a:solidFill>
                            <a:srgbClr val="1F2937"/>
                          </a:solidFill>
                          <a:latin typeface="Segoe UI"/>
                        </a:rPr>
                        <a:t>−37 % d'erreur évitée</a:t>
                      </a:r>
                    </a:p>
                  </a:txBody>
                  <a:tcPr anchor="ctr" marL="91440" marR="73152" marT="27432" marB="27432">
                    <a:solidFill>
                      <a:srgbClr val="F6F8FB"/>
                    </a:solidFill>
                  </a:tcPr>
                </a:tc>
              </a:tr>
              <a:tr h="402336">
                <a:tc>
                  <a:txBody>
                    <a:bodyPr/>
                    <a:lstStyle/>
                    <a:p>
                      <a:pPr algn="l"/>
                      <a:r>
                        <a:rPr sz="1350" b="0">
                          <a:solidFill>
                            <a:srgbClr val="1F2937"/>
                          </a:solidFill>
                          <a:latin typeface="Segoe UI"/>
                        </a:rPr>
                        <a:t>OSRM brut</a:t>
                      </a:r>
                    </a:p>
                  </a:txBody>
                  <a:tcPr anchor="ctr" marL="91440" marR="73152" marT="27432" marB="27432">
                    <a:solidFill>
                      <a:srgbClr val="FFFFFF"/>
                    </a:solidFill>
                  </a:tcPr>
                </a:tc>
                <a:tc>
                  <a:txBody>
                    <a:bodyPr/>
                    <a:lstStyle/>
                    <a:p>
                      <a:pPr algn="ctr"/>
                      <a:r>
                        <a:rPr sz="1350" b="0">
                          <a:solidFill>
                            <a:srgbClr val="1F2937"/>
                          </a:solidFill>
                          <a:latin typeface="Segoe UI"/>
                        </a:rPr>
                        <a:t>11,13 min</a:t>
                      </a:r>
                    </a:p>
                  </a:txBody>
                  <a:tcPr anchor="ctr" marL="91440" marR="73152" marT="27432" marB="27432">
                    <a:solidFill>
                      <a:srgbClr val="FFFFFF"/>
                    </a:solidFill>
                  </a:tcPr>
                </a:tc>
                <a:tc>
                  <a:txBody>
                    <a:bodyPr/>
                    <a:lstStyle/>
                    <a:p>
                      <a:pPr algn="ctr"/>
                      <a:r>
                        <a:rPr sz="1350" b="0">
                          <a:solidFill>
                            <a:srgbClr val="1F2937"/>
                          </a:solidFill>
                          <a:latin typeface="Segoe UI"/>
                        </a:rPr>
                        <a:t>9,33 min</a:t>
                      </a:r>
                    </a:p>
                  </a:txBody>
                  <a:tcPr anchor="ctr" marL="91440" marR="73152" marT="27432" marB="27432">
                    <a:solidFill>
                      <a:srgbClr val="FFFFFF"/>
                    </a:solidFill>
                  </a:tcPr>
                </a:tc>
                <a:tc>
                  <a:txBody>
                    <a:bodyPr/>
                    <a:lstStyle/>
                    <a:p>
                      <a:pPr algn="ctr"/>
                      <a:r>
                        <a:rPr sz="1350" b="0">
                          <a:solidFill>
                            <a:srgbClr val="1F2937"/>
                          </a:solidFill>
                          <a:latin typeface="Segoe UI"/>
                        </a:rPr>
                        <a:t>−77 % d'erreur évitée</a:t>
                      </a:r>
                    </a:p>
                  </a:txBody>
                  <a:tcPr anchor="ctr" marL="91440" marR="73152" marT="27432" marB="27432">
                    <a:solidFill>
                      <a:srgbClr val="FFFFFF"/>
                    </a:solidFill>
                  </a:tcPr>
                </a:tc>
              </a:tr>
            </a:tbl>
          </a:graphicData>
        </a:graphic>
      </p:graphicFrame>
      <p:sp>
        <p:nvSpPr>
          <p:cNvPr id="18" name="Rectangle 17"/>
          <p:cNvSpPr/>
          <p:nvPr/>
        </p:nvSpPr>
        <p:spPr>
          <a:xfrm>
            <a:off x="566928" y="5806440"/>
            <a:ext cx="11064240" cy="658368"/>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5925312"/>
            <a:ext cx="10698480" cy="292608"/>
          </a:xfrm>
          <a:prstGeom prst="rect">
            <a:avLst/>
          </a:prstGeom>
          <a:noFill/>
        </p:spPr>
        <p:txBody>
          <a:bodyPr wrap="square">
            <a:spAutoFit/>
          </a:bodyPr>
          <a:lstStyle/>
          <a:p>
            <a:pPr algn="l">
              <a:spcAft>
                <a:spcPts val="0"/>
              </a:spcAft>
            </a:pPr>
            <a:r>
              <a:rPr sz="1500" b="1" i="0">
                <a:solidFill>
                  <a:srgbClr val="B45309"/>
                </a:solidFill>
                <a:latin typeface="Segoe UI"/>
              </a:rPr>
              <a:t>L'ablation contredit l'importance publiée</a:t>
            </a:r>
          </a:p>
        </p:txBody>
      </p:sp>
      <p:sp>
        <p:nvSpPr>
          <p:cNvPr id="20" name="TextBox 19"/>
          <p:cNvSpPr txBox="1"/>
          <p:nvPr/>
        </p:nvSpPr>
        <p:spPr>
          <a:xfrm>
            <a:off x="768096" y="6281928"/>
            <a:ext cx="10680192" cy="109728"/>
          </a:xfrm>
          <a:prstGeom prst="rect">
            <a:avLst/>
          </a:prstGeom>
          <a:noFill/>
        </p:spPr>
        <p:txBody>
          <a:bodyPr wrap="square">
            <a:spAutoFit/>
          </a:bodyPr>
          <a:lstStyle/>
          <a:p>
            <a:pPr algn="l">
              <a:spcAft>
                <a:spcPts val="0"/>
              </a:spcAft>
            </a:pPr>
            <a:r>
              <a:rPr sz="1500" b="0" i="0">
                <a:solidFill>
                  <a:srgbClr val="1F2937"/>
                </a:solidFill>
                <a:latin typeface="Segoe UI"/>
              </a:rPr>
              <a:t>duree_moyenne_historique_s est la 7ᵉ importance du modèle ; son ablation coûte 0,003 min — rien. À l'inverse, retirer dwell et temporel AMÉLIORE le modèle.
Et la baseline manquante (moyenne historique) ramène le gain réel de 52,7 % à 44 %. Une importance dit ce que le modèle utilise ; seule l'ablation dit ce qu'il perdrait.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MS11 · LE PROBLÈME</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Deux horizons de surveillance</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Un modèle qui score des trajets complets ne peut pas juger un ping GPS isolé. D'où deux dispositifs, pas un.</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MS11 · Détection d'anomalies</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17</a:t>
            </a:r>
          </a:p>
        </p:txBody>
      </p:sp>
      <p:sp>
        <p:nvSpPr>
          <p:cNvPr id="10" name="Rectangle 9"/>
          <p:cNvSpPr/>
          <p:nvPr/>
        </p:nvSpPr>
        <p:spPr>
          <a:xfrm>
            <a:off x="566928" y="2103120"/>
            <a:ext cx="5394960" cy="265176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40280"/>
            <a:ext cx="4937760" cy="320040"/>
          </a:xfrm>
          <a:prstGeom prst="rect">
            <a:avLst/>
          </a:prstGeom>
          <a:noFill/>
        </p:spPr>
        <p:txBody>
          <a:bodyPr wrap="square">
            <a:spAutoFit/>
          </a:bodyPr>
          <a:lstStyle/>
          <a:p>
            <a:pPr algn="l">
              <a:spcAft>
                <a:spcPts val="0"/>
              </a:spcAft>
            </a:pPr>
            <a:r>
              <a:rPr sz="1650" b="1" i="0">
                <a:solidFill>
                  <a:srgbClr val="0E7490"/>
                </a:solidFill>
                <a:latin typeface="Segoe UI"/>
              </a:rPr>
              <a:t>A — Règles instantanées  ·  chaque ping GPS</a:t>
            </a:r>
          </a:p>
        </p:txBody>
      </p:sp>
      <p:sp>
        <p:nvSpPr>
          <p:cNvPr id="12" name="TextBox 11"/>
          <p:cNvSpPr txBox="1"/>
          <p:nvPr/>
        </p:nvSpPr>
        <p:spPr>
          <a:xfrm>
            <a:off x="777240" y="2670048"/>
            <a:ext cx="4937760" cy="1920240"/>
          </a:xfrm>
          <a:prstGeom prst="rect">
            <a:avLst/>
          </a:prstGeom>
          <a:noFill/>
        </p:spPr>
        <p:txBody>
          <a:bodyPr wrap="square">
            <a:spAutoFit/>
          </a:bodyPr>
          <a:lstStyle/>
          <a:p>
            <a:pPr>
              <a:spcAft>
                <a:spcPts val="1100"/>
              </a:spcAft>
            </a:pPr>
            <a:r>
              <a:rPr sz="1125">
                <a:solidFill>
                  <a:srgbClr val="0E7490"/>
                </a:solidFill>
                <a:latin typeface="Segoe UI"/>
              </a:rPr>
              <a:t>▪  </a:t>
            </a:r>
            <a:r>
              <a:rPr sz="1500" b="0">
                <a:solidFill>
                  <a:srgbClr val="1F2937"/>
                </a:solidFill>
                <a:latin typeface="Segoe UI"/>
              </a:rPr>
              <a:t>VITESSE_EXCESSIVE  ·  seuil 90 km/h</a:t>
            </a:r>
          </a:p>
          <a:p>
            <a:pPr>
              <a:spcAft>
                <a:spcPts val="1100"/>
              </a:spcAft>
            </a:pPr>
            <a:r>
              <a:rPr sz="1125">
                <a:solidFill>
                  <a:srgbClr val="0E7490"/>
                </a:solidFill>
                <a:latin typeface="Segoe UI"/>
              </a:rPr>
              <a:t>▪  </a:t>
            </a:r>
            <a:r>
              <a:rPr sz="1500" b="0">
                <a:solidFill>
                  <a:srgbClr val="1F2937"/>
                </a:solidFill>
                <a:latin typeface="Segoe UI"/>
              </a:rPr>
              <a:t>ARRET_PROLONGE  ·  immobile &gt; 5 min dans 30 m</a:t>
            </a:r>
          </a:p>
          <a:p>
            <a:pPr>
              <a:spcAft>
                <a:spcPts val="1100"/>
              </a:spcAft>
            </a:pPr>
            <a:r>
              <a:rPr sz="1125">
                <a:solidFill>
                  <a:srgbClr val="0E7490"/>
                </a:solidFill>
                <a:latin typeface="Segoe UI"/>
              </a:rPr>
              <a:t>▪  </a:t>
            </a:r>
            <a:r>
              <a:rPr sz="1500" b="0">
                <a:solidFill>
                  <a:srgbClr val="1F2937"/>
                </a:solidFill>
                <a:latin typeface="Segoe UI"/>
              </a:rPr>
              <a:t>DEVIATION_ITINERAIRE  ·  &gt; 250 m de la polyligne figée, sur 2 pings consécutifs</a:t>
            </a:r>
          </a:p>
        </p:txBody>
      </p:sp>
      <p:sp>
        <p:nvSpPr>
          <p:cNvPr id="13" name="TextBox 12"/>
          <p:cNvSpPr txBox="1"/>
          <p:nvPr/>
        </p:nvSpPr>
        <p:spPr>
          <a:xfrm>
            <a:off x="777240" y="4297680"/>
            <a:ext cx="4937760" cy="320040"/>
          </a:xfrm>
          <a:prstGeom prst="rect">
            <a:avLst/>
          </a:prstGeom>
          <a:noFill/>
        </p:spPr>
        <p:txBody>
          <a:bodyPr wrap="square">
            <a:spAutoFit/>
          </a:bodyPr>
          <a:lstStyle/>
          <a:p>
            <a:pPr algn="l">
              <a:spcAft>
                <a:spcPts val="0"/>
              </a:spcAft>
            </a:pPr>
            <a:r>
              <a:rPr sz="1300" b="0" i="1">
                <a:solidFill>
                  <a:srgbClr val="64748B"/>
                </a:solidFill>
                <a:latin typeface="Segoe UI"/>
              </a:rPr>
              <a:t>Sortie : anomalie.detectee → alerte administration</a:t>
            </a:r>
          </a:p>
        </p:txBody>
      </p:sp>
      <p:sp>
        <p:nvSpPr>
          <p:cNvPr id="14" name="Rectangle 13"/>
          <p:cNvSpPr/>
          <p:nvPr/>
        </p:nvSpPr>
        <p:spPr>
          <a:xfrm>
            <a:off x="6236208" y="2103120"/>
            <a:ext cx="5394960" cy="265176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40280"/>
            <a:ext cx="4937760" cy="320040"/>
          </a:xfrm>
          <a:prstGeom prst="rect">
            <a:avLst/>
          </a:prstGeom>
          <a:noFill/>
        </p:spPr>
        <p:txBody>
          <a:bodyPr wrap="square">
            <a:spAutoFit/>
          </a:bodyPr>
          <a:lstStyle/>
          <a:p>
            <a:pPr algn="l">
              <a:spcAft>
                <a:spcPts val="0"/>
              </a:spcAft>
            </a:pPr>
            <a:r>
              <a:rPr sz="1650" b="1" i="0">
                <a:solidFill>
                  <a:srgbClr val="0F2942"/>
                </a:solidFill>
                <a:latin typeface="Segoe UI"/>
              </a:rPr>
              <a:t>B — Isolation Forest  ·  trajet complet, post-hoc</a:t>
            </a:r>
          </a:p>
        </p:txBody>
      </p:sp>
      <p:sp>
        <p:nvSpPr>
          <p:cNvPr id="16" name="TextBox 15"/>
          <p:cNvSpPr txBox="1"/>
          <p:nvPr/>
        </p:nvSpPr>
        <p:spPr>
          <a:xfrm>
            <a:off x="6446520" y="2670048"/>
            <a:ext cx="4937760" cy="1920240"/>
          </a:xfrm>
          <a:prstGeom prst="rect">
            <a:avLst/>
          </a:prstGeom>
          <a:noFill/>
        </p:spPr>
        <p:txBody>
          <a:bodyPr wrap="square">
            <a:spAutoFit/>
          </a:bodyPr>
          <a:lstStyle/>
          <a:p>
            <a:pPr>
              <a:spcAft>
                <a:spcPts val="1100"/>
              </a:spcAft>
            </a:pPr>
            <a:r>
              <a:rPr sz="1125">
                <a:solidFill>
                  <a:srgbClr val="0E7490"/>
                </a:solidFill>
                <a:latin typeface="Segoe UI"/>
              </a:rPr>
              <a:t>▪  </a:t>
            </a:r>
            <a:r>
              <a:rPr sz="1500" b="0">
                <a:solidFill>
                  <a:srgbClr val="1F2937"/>
                </a:solidFill>
                <a:latin typeface="Segoe UI"/>
              </a:rPr>
              <a:t>Apprentissage non supervisé : le label n'est jamais vu à l'entraînement</a:t>
            </a:r>
          </a:p>
          <a:p>
            <a:pPr>
              <a:spcAft>
                <a:spcPts val="1100"/>
              </a:spcAft>
            </a:pPr>
            <a:r>
              <a:rPr sz="1125">
                <a:solidFill>
                  <a:srgbClr val="0E7490"/>
                </a:solidFill>
                <a:latin typeface="Segoe UI"/>
              </a:rPr>
              <a:t>▪  </a:t>
            </a:r>
            <a:r>
              <a:rPr sz="1500" b="0">
                <a:solidFill>
                  <a:srgbClr val="1F2937"/>
                </a:solidFill>
                <a:latin typeface="Segoe UI"/>
              </a:rPr>
              <a:t>300 arbres, contamination estimée à 1,28 %</a:t>
            </a:r>
          </a:p>
          <a:p>
            <a:pPr>
              <a:spcAft>
                <a:spcPts val="1100"/>
              </a:spcAft>
            </a:pPr>
            <a:r>
              <a:rPr sz="1125">
                <a:solidFill>
                  <a:srgbClr val="0E7490"/>
                </a:solidFill>
                <a:latin typeface="Segoe UI"/>
              </a:rPr>
              <a:t>▪  </a:t>
            </a:r>
            <a:r>
              <a:rPr sz="1500" b="0">
                <a:solidFill>
                  <a:srgbClr val="1F2937"/>
                </a:solidFill>
                <a:latin typeface="Segoe UI"/>
              </a:rPr>
              <a:t>Le label incident_type sert uniquement à évaluer</a:t>
            </a:r>
          </a:p>
        </p:txBody>
      </p:sp>
      <p:sp>
        <p:nvSpPr>
          <p:cNvPr id="17" name="TextBox 16"/>
          <p:cNvSpPr txBox="1"/>
          <p:nvPr/>
        </p:nvSpPr>
        <p:spPr>
          <a:xfrm>
            <a:off x="6446520" y="4297680"/>
            <a:ext cx="4937760" cy="320040"/>
          </a:xfrm>
          <a:prstGeom prst="rect">
            <a:avLst/>
          </a:prstGeom>
          <a:noFill/>
        </p:spPr>
        <p:txBody>
          <a:bodyPr wrap="square">
            <a:spAutoFit/>
          </a:bodyPr>
          <a:lstStyle/>
          <a:p>
            <a:pPr algn="l">
              <a:spcAft>
                <a:spcPts val="0"/>
              </a:spcAft>
            </a:pPr>
            <a:r>
              <a:rPr sz="1300" b="0" i="1">
                <a:solidFill>
                  <a:srgbClr val="64748B"/>
                </a:solidFill>
                <a:latin typeface="Segoe UI"/>
              </a:rPr>
              <a:t>Sortie : score d'anomalie + niveau (normal / suspect / critique)</a:t>
            </a:r>
          </a:p>
        </p:txBody>
      </p:sp>
      <p:sp>
        <p:nvSpPr>
          <p:cNvPr id="18" name="Rectangle 17"/>
          <p:cNvSpPr/>
          <p:nvPr/>
        </p:nvSpPr>
        <p:spPr>
          <a:xfrm>
            <a:off x="566928" y="4956048"/>
            <a:ext cx="11064240" cy="77724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5074920"/>
            <a:ext cx="10698480" cy="292608"/>
          </a:xfrm>
          <a:prstGeom prst="rect">
            <a:avLst/>
          </a:prstGeom>
          <a:noFill/>
        </p:spPr>
        <p:txBody>
          <a:bodyPr wrap="square">
            <a:spAutoFit/>
          </a:bodyPr>
          <a:lstStyle/>
          <a:p>
            <a:pPr algn="l">
              <a:spcAft>
                <a:spcPts val="0"/>
              </a:spcAft>
            </a:pPr>
            <a:r>
              <a:rPr sz="1500" b="1" i="0">
                <a:solidFill>
                  <a:srgbClr val="0E7490"/>
                </a:solidFill>
                <a:latin typeface="Segoe UI"/>
              </a:rPr>
              <a:t>Trois natures d'anomalie, construites exprès pour être hétérogènes</a:t>
            </a:r>
          </a:p>
        </p:txBody>
      </p:sp>
      <p:sp>
        <p:nvSpPr>
          <p:cNvPr id="20" name="TextBox 19"/>
          <p:cNvSpPr txBox="1"/>
          <p:nvPr/>
        </p:nvSpPr>
        <p:spPr>
          <a:xfrm>
            <a:off x="768096" y="5431536"/>
            <a:ext cx="10680192" cy="228600"/>
          </a:xfrm>
          <a:prstGeom prst="rect">
            <a:avLst/>
          </a:prstGeom>
          <a:noFill/>
        </p:spPr>
        <p:txBody>
          <a:bodyPr wrap="square">
            <a:spAutoFit/>
          </a:bodyPr>
          <a:lstStyle/>
          <a:p>
            <a:pPr algn="l">
              <a:spcAft>
                <a:spcPts val="0"/>
              </a:spcAft>
            </a:pPr>
            <a:r>
              <a:rPr sz="1500" b="0" i="0">
                <a:solidFill>
                  <a:srgbClr val="1F2937"/>
                </a:solidFill>
                <a:latin typeface="Segoe UI"/>
              </a:rPr>
              <a:t>franc (panne : ratio énorme) · contextuel (ratio modéré mais conditions favorables — donc anormal) · surcharge (ratio normal, montées anormales).
Aucun seuil univarié ne peut les capter toutes : c'est ce qui justifie une approche multivariée — et ce qui permet de la tester honnêtement.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MS11 · EXPÉRIMENTATION</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Le feature engineering prime sur l'algorithme</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Quatre détecteurs, budget d'alerte égalisé : chacun émet exactement le même nombre d'alertes.</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MS11 · Détection d'anomalies</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18</a:t>
            </a:r>
          </a:p>
        </p:txBody>
      </p:sp>
      <p:pic>
        <p:nvPicPr>
          <p:cNvPr id="10" name="Picture 9" descr="04_benchmark_prauc.png"/>
          <p:cNvPicPr>
            <a:picLocks noChangeAspect="1"/>
          </p:cNvPicPr>
          <p:nvPr/>
        </p:nvPicPr>
        <p:blipFill>
          <a:blip r:embed="rId2"/>
          <a:stretch>
            <a:fillRect/>
          </a:stretch>
        </p:blipFill>
        <p:spPr>
          <a:xfrm>
            <a:off x="566928" y="2148840"/>
            <a:ext cx="5486400" cy="2381955"/>
          </a:xfrm>
          <a:prstGeom prst="rect">
            <a:avLst/>
          </a:prstGeom>
        </p:spPr>
      </p:pic>
      <p:graphicFrame>
        <p:nvGraphicFramePr>
          <p:cNvPr id="11" name="Table 10"/>
          <p:cNvGraphicFramePr>
            <a:graphicFrameLocks noGrp="1"/>
          </p:cNvGraphicFramePr>
          <p:nvPr/>
        </p:nvGraphicFramePr>
        <p:xfrm>
          <a:off x="6355080" y="2103120"/>
          <a:ext cx="5276085" cy="2139696"/>
        </p:xfrm>
        <a:graphic>
          <a:graphicData uri="http://schemas.openxmlformats.org/drawingml/2006/table">
            <a:tbl>
              <a:tblPr firstRow="1" bandRow="1">
                <a:tableStyleId>{5C22544A-7EE6-4342-B048-85BDC9FD1C3A}</a:tableStyleId>
              </a:tblPr>
              <a:tblGrid>
                <a:gridCol w="2519922"/>
                <a:gridCol w="944970"/>
                <a:gridCol w="944970"/>
                <a:gridCol w="866223"/>
              </a:tblGrid>
              <a:tr h="457200">
                <a:tc>
                  <a:txBody>
                    <a:bodyPr/>
                    <a:lstStyle/>
                    <a:p>
                      <a:pPr algn="l"/>
                      <a:r>
                        <a:rPr sz="1350" b="1">
                          <a:solidFill>
                            <a:srgbClr val="FFFFFF"/>
                          </a:solidFill>
                          <a:latin typeface="Segoe UI"/>
                        </a:rPr>
                        <a:t>Détecteur</a:t>
                      </a:r>
                    </a:p>
                  </a:txBody>
                  <a:tcPr anchor="ctr" marL="91440" marR="73152" marT="27432" marB="27432">
                    <a:solidFill>
                      <a:srgbClr val="0F2942"/>
                    </a:solidFill>
                  </a:tcPr>
                </a:tc>
                <a:tc>
                  <a:txBody>
                    <a:bodyPr/>
                    <a:lstStyle/>
                    <a:p>
                      <a:pPr algn="ctr"/>
                      <a:r>
                        <a:rPr sz="1350" b="1">
                          <a:solidFill>
                            <a:srgbClr val="FFFFFF"/>
                          </a:solidFill>
                          <a:latin typeface="Segoe UI"/>
                        </a:rPr>
                        <a:t>PR-AUC</a:t>
                      </a:r>
                    </a:p>
                  </a:txBody>
                  <a:tcPr anchor="ctr" marL="91440" marR="73152" marT="27432" marB="27432">
                    <a:solidFill>
                      <a:srgbClr val="0F2942"/>
                    </a:solidFill>
                  </a:tcPr>
                </a:tc>
                <a:tc>
                  <a:txBody>
                    <a:bodyPr/>
                    <a:lstStyle/>
                    <a:p>
                      <a:pPr algn="ctr"/>
                      <a:r>
                        <a:rPr sz="1350" b="1">
                          <a:solidFill>
                            <a:srgbClr val="FFFFFF"/>
                          </a:solidFill>
                          <a:latin typeface="Segoe UI"/>
                        </a:rPr>
                        <a:t>Précision</a:t>
                      </a:r>
                    </a:p>
                  </a:txBody>
                  <a:tcPr anchor="ctr" marL="91440" marR="73152" marT="27432" marB="27432">
                    <a:solidFill>
                      <a:srgbClr val="0F2942"/>
                    </a:solidFill>
                  </a:tcPr>
                </a:tc>
                <a:tc>
                  <a:txBody>
                    <a:bodyPr/>
                    <a:lstStyle/>
                    <a:p>
                      <a:pPr algn="ctr"/>
                      <a:r>
                        <a:rPr sz="1350" b="1">
                          <a:solidFill>
                            <a:srgbClr val="FFFFFF"/>
                          </a:solidFill>
                          <a:latin typeface="Segoe UI"/>
                        </a:rPr>
                        <a:t>Rappel</a:t>
                      </a:r>
                    </a:p>
                  </a:txBody>
                  <a:tcPr anchor="ctr" marL="91440" marR="73152" marT="27432" marB="27432">
                    <a:solidFill>
                      <a:srgbClr val="0F2942"/>
                    </a:solidFill>
                  </a:tcPr>
                </a:tc>
              </a:tr>
              <a:tr h="420624">
                <a:tc>
                  <a:txBody>
                    <a:bodyPr/>
                    <a:lstStyle/>
                    <a:p>
                      <a:pPr algn="l"/>
                      <a:r>
                        <a:rPr sz="1350" b="1">
                          <a:solidFill>
                            <a:srgbClr val="1F2937"/>
                          </a:solidFill>
                          <a:latin typeface="Segoe UI"/>
                        </a:rPr>
                        <a:t>Isolation Forest  ·  6 features curées</a:t>
                      </a:r>
                    </a:p>
                  </a:txBody>
                  <a:tcPr anchor="ctr" marL="91440" marR="73152" marT="27432" marB="27432">
                    <a:solidFill>
                      <a:srgbClr val="E0F2F7"/>
                    </a:solidFill>
                  </a:tcPr>
                </a:tc>
                <a:tc>
                  <a:txBody>
                    <a:bodyPr/>
                    <a:lstStyle/>
                    <a:p>
                      <a:pPr algn="ctr"/>
                      <a:r>
                        <a:rPr sz="1350" b="0">
                          <a:solidFill>
                            <a:srgbClr val="1F2937"/>
                          </a:solidFill>
                          <a:latin typeface="Segoe UI"/>
                        </a:rPr>
                        <a:t>0,9127</a:t>
                      </a:r>
                    </a:p>
                  </a:txBody>
                  <a:tcPr anchor="ctr" marL="91440" marR="73152" marT="27432" marB="27432">
                    <a:solidFill>
                      <a:srgbClr val="E0F2F7"/>
                    </a:solidFill>
                  </a:tcPr>
                </a:tc>
                <a:tc>
                  <a:txBody>
                    <a:bodyPr/>
                    <a:lstStyle/>
                    <a:p>
                      <a:pPr algn="ctr"/>
                      <a:r>
                        <a:rPr sz="1350" b="0">
                          <a:solidFill>
                            <a:srgbClr val="1F2937"/>
                          </a:solidFill>
                          <a:latin typeface="Segoe UI"/>
                        </a:rPr>
                        <a:t>0,70</a:t>
                      </a:r>
                    </a:p>
                  </a:txBody>
                  <a:tcPr anchor="ctr" marL="91440" marR="73152" marT="27432" marB="27432">
                    <a:solidFill>
                      <a:srgbClr val="E0F2F7"/>
                    </a:solidFill>
                  </a:tcPr>
                </a:tc>
                <a:tc>
                  <a:txBody>
                    <a:bodyPr/>
                    <a:lstStyle/>
                    <a:p>
                      <a:pPr algn="ctr"/>
                      <a:r>
                        <a:rPr sz="1350" b="0">
                          <a:solidFill>
                            <a:srgbClr val="1F2937"/>
                          </a:solidFill>
                          <a:latin typeface="Segoe UI"/>
                        </a:rPr>
                        <a:t>0,875</a:t>
                      </a:r>
                    </a:p>
                  </a:txBody>
                  <a:tcPr anchor="ctr" marL="91440" marR="73152" marT="27432" marB="27432">
                    <a:solidFill>
                      <a:srgbClr val="E0F2F7"/>
                    </a:solidFill>
                  </a:tcPr>
                </a:tc>
              </a:tr>
              <a:tr h="420624">
                <a:tc>
                  <a:txBody>
                    <a:bodyPr/>
                    <a:lstStyle/>
                    <a:p>
                      <a:pPr algn="l"/>
                      <a:r>
                        <a:rPr sz="1350" b="0">
                          <a:solidFill>
                            <a:srgbClr val="1F2937"/>
                          </a:solidFill>
                          <a:latin typeface="Segoe UI"/>
                        </a:rPr>
                        <a:t>Seuil sur surprise</a:t>
                      </a:r>
                    </a:p>
                  </a:txBody>
                  <a:tcPr anchor="ctr" marL="91440" marR="73152" marT="27432" marB="27432">
                    <a:solidFill>
                      <a:srgbClr val="F6F8FB"/>
                    </a:solidFill>
                  </a:tcPr>
                </a:tc>
                <a:tc>
                  <a:txBody>
                    <a:bodyPr/>
                    <a:lstStyle/>
                    <a:p>
                      <a:pPr algn="ctr"/>
                      <a:r>
                        <a:rPr sz="1350" b="0">
                          <a:solidFill>
                            <a:srgbClr val="1F2937"/>
                          </a:solidFill>
                          <a:latin typeface="Segoe UI"/>
                        </a:rPr>
                        <a:t>0,8043</a:t>
                      </a:r>
                    </a:p>
                  </a:txBody>
                  <a:tcPr anchor="ctr" marL="91440" marR="73152" marT="27432" marB="27432">
                    <a:solidFill>
                      <a:srgbClr val="F6F8FB"/>
                    </a:solidFill>
                  </a:tcPr>
                </a:tc>
                <a:tc>
                  <a:txBody>
                    <a:bodyPr/>
                    <a:lstStyle/>
                    <a:p>
                      <a:pPr algn="ctr"/>
                      <a:r>
                        <a:rPr sz="1350" b="0">
                          <a:solidFill>
                            <a:srgbClr val="1F2937"/>
                          </a:solidFill>
                          <a:latin typeface="Segoe UI"/>
                        </a:rPr>
                        <a:t>0,55</a:t>
                      </a:r>
                    </a:p>
                  </a:txBody>
                  <a:tcPr anchor="ctr" marL="91440" marR="73152" marT="27432" marB="27432">
                    <a:solidFill>
                      <a:srgbClr val="F6F8FB"/>
                    </a:solidFill>
                  </a:tcPr>
                </a:tc>
                <a:tc>
                  <a:txBody>
                    <a:bodyPr/>
                    <a:lstStyle/>
                    <a:p>
                      <a:pPr algn="ctr"/>
                      <a:r>
                        <a:rPr sz="1350" b="0">
                          <a:solidFill>
                            <a:srgbClr val="1F2937"/>
                          </a:solidFill>
                          <a:latin typeface="Segoe UI"/>
                        </a:rPr>
                        <a:t>0,75</a:t>
                      </a:r>
                    </a:p>
                  </a:txBody>
                  <a:tcPr anchor="ctr" marL="91440" marR="73152" marT="27432" marB="27432">
                    <a:solidFill>
                      <a:srgbClr val="F6F8FB"/>
                    </a:solidFill>
                  </a:tcPr>
                </a:tc>
              </a:tr>
              <a:tr h="420624">
                <a:tc>
                  <a:txBody>
                    <a:bodyPr/>
                    <a:lstStyle/>
                    <a:p>
                      <a:pPr algn="l"/>
                      <a:r>
                        <a:rPr sz="1350" b="0">
                          <a:solidFill>
                            <a:srgbClr val="1F2937"/>
                          </a:solidFill>
                          <a:latin typeface="Segoe UI"/>
                        </a:rPr>
                        <a:t>Seuil sur ratio</a:t>
                      </a:r>
                    </a:p>
                  </a:txBody>
                  <a:tcPr anchor="ctr" marL="91440" marR="73152" marT="27432" marB="27432">
                    <a:solidFill>
                      <a:srgbClr val="FFFFFF"/>
                    </a:solidFill>
                  </a:tcPr>
                </a:tc>
                <a:tc>
                  <a:txBody>
                    <a:bodyPr/>
                    <a:lstStyle/>
                    <a:p>
                      <a:pPr algn="ctr"/>
                      <a:r>
                        <a:rPr sz="1350" b="0">
                          <a:solidFill>
                            <a:srgbClr val="1F2937"/>
                          </a:solidFill>
                          <a:latin typeface="Segoe UI"/>
                        </a:rPr>
                        <a:t>0,7934</a:t>
                      </a:r>
                    </a:p>
                  </a:txBody>
                  <a:tcPr anchor="ctr" marL="91440" marR="73152" marT="27432" marB="27432">
                    <a:solidFill>
                      <a:srgbClr val="FFFFFF"/>
                    </a:solidFill>
                  </a:tcPr>
                </a:tc>
                <a:tc>
                  <a:txBody>
                    <a:bodyPr/>
                    <a:lstStyle/>
                    <a:p>
                      <a:pPr algn="ctr"/>
                      <a:r>
                        <a:rPr sz="1350" b="0">
                          <a:solidFill>
                            <a:srgbClr val="1F2937"/>
                          </a:solidFill>
                          <a:latin typeface="Segoe UI"/>
                        </a:rPr>
                        <a:t>0,60</a:t>
                      </a:r>
                    </a:p>
                  </a:txBody>
                  <a:tcPr anchor="ctr" marL="91440" marR="73152" marT="27432" marB="27432">
                    <a:solidFill>
                      <a:srgbClr val="FFFFFF"/>
                    </a:solidFill>
                  </a:tcPr>
                </a:tc>
                <a:tc>
                  <a:txBody>
                    <a:bodyPr/>
                    <a:lstStyle/>
                    <a:p>
                      <a:pPr algn="ctr"/>
                      <a:r>
                        <a:rPr sz="1350" b="0">
                          <a:solidFill>
                            <a:srgbClr val="1F2937"/>
                          </a:solidFill>
                          <a:latin typeface="Segoe UI"/>
                        </a:rPr>
                        <a:t>0,75</a:t>
                      </a:r>
                    </a:p>
                  </a:txBody>
                  <a:tcPr anchor="ctr" marL="91440" marR="73152" marT="27432" marB="27432">
                    <a:solidFill>
                      <a:srgbClr val="FFFFFF"/>
                    </a:solidFill>
                  </a:tcPr>
                </a:tc>
              </a:tr>
              <a:tr h="420624">
                <a:tc>
                  <a:txBody>
                    <a:bodyPr/>
                    <a:lstStyle/>
                    <a:p>
                      <a:pPr algn="l"/>
                      <a:r>
                        <a:rPr sz="1350" b="0">
                          <a:solidFill>
                            <a:srgbClr val="1F2937"/>
                          </a:solidFill>
                          <a:latin typeface="Segoe UI"/>
                        </a:rPr>
                        <a:t>Isolation Forest  ·  25 features brutes</a:t>
                      </a:r>
                    </a:p>
                  </a:txBody>
                  <a:tcPr anchor="ctr" marL="91440" marR="73152" marT="27432" marB="27432">
                    <a:solidFill>
                      <a:srgbClr val="F6F8FB"/>
                    </a:solidFill>
                  </a:tcPr>
                </a:tc>
                <a:tc>
                  <a:txBody>
                    <a:bodyPr/>
                    <a:lstStyle/>
                    <a:p>
                      <a:pPr algn="ctr"/>
                      <a:r>
                        <a:rPr sz="1350" b="0">
                          <a:solidFill>
                            <a:srgbClr val="1F2937"/>
                          </a:solidFill>
                          <a:latin typeface="Segoe UI"/>
                        </a:rPr>
                        <a:t>0,4818</a:t>
                      </a:r>
                    </a:p>
                  </a:txBody>
                  <a:tcPr anchor="ctr" marL="91440" marR="73152" marT="27432" marB="27432">
                    <a:solidFill>
                      <a:srgbClr val="F6F8FB"/>
                    </a:solidFill>
                  </a:tcPr>
                </a:tc>
                <a:tc>
                  <a:txBody>
                    <a:bodyPr/>
                    <a:lstStyle/>
                    <a:p>
                      <a:pPr algn="ctr"/>
                      <a:r>
                        <a:rPr sz="1350" b="0">
                          <a:solidFill>
                            <a:srgbClr val="1F2937"/>
                          </a:solidFill>
                          <a:latin typeface="Segoe UI"/>
                        </a:rPr>
                        <a:t>0,40</a:t>
                      </a:r>
                    </a:p>
                  </a:txBody>
                  <a:tcPr anchor="ctr" marL="91440" marR="73152" marT="27432" marB="27432">
                    <a:solidFill>
                      <a:srgbClr val="F6F8FB"/>
                    </a:solidFill>
                  </a:tcPr>
                </a:tc>
                <a:tc>
                  <a:txBody>
                    <a:bodyPr/>
                    <a:lstStyle/>
                    <a:p>
                      <a:pPr algn="ctr"/>
                      <a:r>
                        <a:rPr sz="1350" b="0">
                          <a:solidFill>
                            <a:srgbClr val="1F2937"/>
                          </a:solidFill>
                          <a:latin typeface="Segoe UI"/>
                        </a:rPr>
                        <a:t>0,50</a:t>
                      </a:r>
                    </a:p>
                  </a:txBody>
                  <a:tcPr anchor="ctr" marL="91440" marR="73152" marT="27432" marB="27432">
                    <a:solidFill>
                      <a:srgbClr val="F6F8FB"/>
                    </a:solidFill>
                  </a:tcPr>
                </a:tc>
              </a:tr>
            </a:tbl>
          </a:graphicData>
        </a:graphic>
      </p:graphicFrame>
      <p:sp>
        <p:nvSpPr>
          <p:cNvPr id="12" name="Rectangle 11"/>
          <p:cNvSpPr/>
          <p:nvPr/>
        </p:nvSpPr>
        <p:spPr>
          <a:xfrm>
            <a:off x="6355080" y="4297680"/>
            <a:ext cx="5276088" cy="123444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4416552"/>
            <a:ext cx="4910328" cy="292608"/>
          </a:xfrm>
          <a:prstGeom prst="rect">
            <a:avLst/>
          </a:prstGeom>
          <a:noFill/>
        </p:spPr>
        <p:txBody>
          <a:bodyPr wrap="square">
            <a:spAutoFit/>
          </a:bodyPr>
          <a:lstStyle/>
          <a:p>
            <a:pPr algn="l">
              <a:spcAft>
                <a:spcPts val="0"/>
              </a:spcAft>
            </a:pPr>
            <a:r>
              <a:rPr sz="1500" b="1" i="0">
                <a:solidFill>
                  <a:srgbClr val="0E7490"/>
                </a:solidFill>
                <a:latin typeface="Segoe UI"/>
              </a:rPr>
              <a:t>0,9127 contre 0,4818 — le même algorithme</a:t>
            </a:r>
          </a:p>
        </p:txBody>
      </p:sp>
      <p:sp>
        <p:nvSpPr>
          <p:cNvPr id="14" name="TextBox 13"/>
          <p:cNvSpPr txBox="1"/>
          <p:nvPr/>
        </p:nvSpPr>
        <p:spPr>
          <a:xfrm>
            <a:off x="6556248" y="4773168"/>
            <a:ext cx="4892040" cy="685800"/>
          </a:xfrm>
          <a:prstGeom prst="rect">
            <a:avLst/>
          </a:prstGeom>
          <a:noFill/>
        </p:spPr>
        <p:txBody>
          <a:bodyPr wrap="square">
            <a:spAutoFit/>
          </a:bodyPr>
          <a:lstStyle/>
          <a:p>
            <a:pPr algn="l">
              <a:spcAft>
                <a:spcPts val="0"/>
              </a:spcAft>
            </a:pPr>
            <a:r>
              <a:rPr sz="1500" b="0" i="0">
                <a:solidFill>
                  <a:srgbClr val="1F2937"/>
                </a:solidFill>
                <a:latin typeface="Segoe UI"/>
              </a:rPr>
              <a:t>Mêmes données, mêmes hyperparamètres, même graine.
Seule différence : 6 features choisies au lieu de 25.
La curation vaut plus que le choix de l'algorithme.</a:t>
            </a:r>
          </a:p>
        </p:txBody>
      </p:sp>
      <p:sp>
        <p:nvSpPr>
          <p:cNvPr id="15" name="TextBox 14"/>
          <p:cNvSpPr txBox="1"/>
          <p:nvPr/>
        </p:nvSpPr>
        <p:spPr>
          <a:xfrm>
            <a:off x="6355080" y="5687568"/>
            <a:ext cx="5276088" cy="914400"/>
          </a:xfrm>
          <a:prstGeom prst="rect">
            <a:avLst/>
          </a:prstGeom>
          <a:noFill/>
        </p:spPr>
        <p:txBody>
          <a:bodyPr wrap="square">
            <a:spAutoFit/>
          </a:bodyPr>
          <a:lstStyle/>
          <a:p>
            <a:pPr algn="l">
              <a:spcAft>
                <a:spcPts val="0"/>
              </a:spcAft>
            </a:pPr>
            <a:r>
              <a:rPr sz="1400" b="0" i="0">
                <a:solidFill>
                  <a:srgbClr val="1F2937"/>
                </a:solidFill>
                <a:latin typeface="Segoe UI"/>
              </a:rPr>
              <a:t>La feature décisive  ·  surprise
= ratio observé / congestion attendue au vu du contexte.
Un retard de 40 % est banal sous la pluie aux heures de pointe ;
il est anormal par temps clair et trafic fluide.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MS11 · LIMITES MESURÉES</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Deux mesures qui contredisent mon propre dossier</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Règle 6 : la première question devant un classement est « combien d'observations le départagent ? »</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MS11 · Détection d'anomalies</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19</a:t>
            </a:r>
          </a:p>
        </p:txBody>
      </p:sp>
      <p:sp>
        <p:nvSpPr>
          <p:cNvPr id="10" name="Rectangle 9"/>
          <p:cNvSpPr/>
          <p:nvPr/>
        </p:nvSpPr>
        <p:spPr>
          <a:xfrm>
            <a:off x="566928" y="2103120"/>
            <a:ext cx="5394960" cy="288036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31136"/>
            <a:ext cx="4937760" cy="320040"/>
          </a:xfrm>
          <a:prstGeom prst="rect">
            <a:avLst/>
          </a:prstGeom>
          <a:noFill/>
        </p:spPr>
        <p:txBody>
          <a:bodyPr wrap="square">
            <a:spAutoFit/>
          </a:bodyPr>
          <a:lstStyle/>
          <a:p>
            <a:pPr algn="l">
              <a:spcAft>
                <a:spcPts val="0"/>
              </a:spcAft>
            </a:pPr>
            <a:r>
              <a:rPr sz="1650" b="1" i="0">
                <a:solidFill>
                  <a:srgbClr val="B45309"/>
                </a:solidFill>
                <a:latin typeface="Segoe UI"/>
              </a:rPr>
              <a:t>1 — Le classement s'inverse</a:t>
            </a:r>
          </a:p>
        </p:txBody>
      </p:sp>
      <p:sp>
        <p:nvSpPr>
          <p:cNvPr id="12" name="TextBox 11"/>
          <p:cNvSpPr txBox="1"/>
          <p:nvPr/>
        </p:nvSpPr>
        <p:spPr>
          <a:xfrm>
            <a:off x="777240" y="2615184"/>
            <a:ext cx="5029200" cy="914400"/>
          </a:xfrm>
          <a:prstGeom prst="rect">
            <a:avLst/>
          </a:prstGeom>
          <a:noFill/>
        </p:spPr>
        <p:txBody>
          <a:bodyPr wrap="square">
            <a:spAutoFit/>
          </a:bodyPr>
          <a:lstStyle/>
          <a:p>
            <a:pPr algn="l">
              <a:spcAft>
                <a:spcPts val="0"/>
              </a:spcAft>
            </a:pPr>
            <a:r>
              <a:rPr sz="1450" b="0" i="0">
                <a:solidFill>
                  <a:srgbClr val="1F2937"/>
                </a:solidFill>
                <a:latin typeface="Segoe UI"/>
              </a:rPr>
              <a:t>Le verdict gelé repose sur 8 anomalies de test.
Les intervalles bootstrap se recouvrent largement.
En validation glissante (4 blocs, 38 positifs) :</a:t>
            </a:r>
          </a:p>
        </p:txBody>
      </p:sp>
      <p:graphicFrame>
        <p:nvGraphicFramePr>
          <p:cNvPr id="13" name="Table 12"/>
          <p:cNvGraphicFramePr>
            <a:graphicFrameLocks noGrp="1"/>
          </p:cNvGraphicFramePr>
          <p:nvPr/>
        </p:nvGraphicFramePr>
        <p:xfrm>
          <a:off x="777240" y="3584448"/>
          <a:ext cx="4937758" cy="1225296"/>
        </p:xfrm>
        <a:graphic>
          <a:graphicData uri="http://schemas.openxmlformats.org/drawingml/2006/table">
            <a:tbl>
              <a:tblPr firstRow="1" bandRow="1">
                <a:tableStyleId>{5C22544A-7EE6-4342-B048-85BDC9FD1C3A}</a:tableStyleId>
              </a:tblPr>
              <a:tblGrid>
                <a:gridCol w="2517289"/>
                <a:gridCol w="1161825"/>
                <a:gridCol w="1258644"/>
              </a:tblGrid>
              <a:tr h="457200">
                <a:tc>
                  <a:txBody>
                    <a:bodyPr/>
                    <a:lstStyle/>
                    <a:p>
                      <a:pPr algn="l"/>
                      <a:r>
                        <a:rPr sz="1300" b="1">
                          <a:solidFill>
                            <a:srgbClr val="FFFFFF"/>
                          </a:solidFill>
                          <a:latin typeface="Segoe UI"/>
                        </a:rPr>
                        <a:t>Détecteur</a:t>
                      </a:r>
                    </a:p>
                  </a:txBody>
                  <a:tcPr anchor="ctr" marL="91440" marR="73152" marT="27432" marB="27432">
                    <a:solidFill>
                      <a:srgbClr val="0F2942"/>
                    </a:solidFill>
                  </a:tcPr>
                </a:tc>
                <a:tc>
                  <a:txBody>
                    <a:bodyPr/>
                    <a:lstStyle/>
                    <a:p>
                      <a:pPr algn="ctr"/>
                      <a:r>
                        <a:rPr sz="1300" b="1">
                          <a:solidFill>
                            <a:srgbClr val="FFFFFF"/>
                          </a:solidFill>
                          <a:latin typeface="Segoe UI"/>
                        </a:rPr>
                        <a:t>8 positifs</a:t>
                      </a:r>
                    </a:p>
                  </a:txBody>
                  <a:tcPr anchor="ctr" marL="91440" marR="73152" marT="27432" marB="27432">
                    <a:solidFill>
                      <a:srgbClr val="0F2942"/>
                    </a:solidFill>
                  </a:tcPr>
                </a:tc>
                <a:tc>
                  <a:txBody>
                    <a:bodyPr/>
                    <a:lstStyle/>
                    <a:p>
                      <a:pPr algn="ctr"/>
                      <a:r>
                        <a:rPr sz="1300" b="1">
                          <a:solidFill>
                            <a:srgbClr val="FFFFFF"/>
                          </a:solidFill>
                          <a:latin typeface="Segoe UI"/>
                        </a:rPr>
                        <a:t>38 positifs</a:t>
                      </a:r>
                    </a:p>
                  </a:txBody>
                  <a:tcPr anchor="ctr" marL="91440" marR="73152" marT="27432" marB="27432">
                    <a:solidFill>
                      <a:srgbClr val="0F2942"/>
                    </a:solidFill>
                  </a:tcPr>
                </a:tc>
              </a:tr>
              <a:tr h="384048">
                <a:tc>
                  <a:txBody>
                    <a:bodyPr/>
                    <a:lstStyle/>
                    <a:p>
                      <a:pPr algn="l"/>
                      <a:r>
                        <a:rPr sz="1300">
                          <a:solidFill>
                            <a:srgbClr val="1F2937"/>
                          </a:solidFill>
                          <a:latin typeface="Segoe UI"/>
                        </a:rPr>
                        <a:t>Seuil surprise</a:t>
                      </a:r>
                    </a:p>
                  </a:txBody>
                  <a:tcPr anchor="ctr" marL="91440" marR="73152" marT="27432" marB="27432">
                    <a:solidFill>
                      <a:srgbClr val="FFFFFF"/>
                    </a:solidFill>
                  </a:tcPr>
                </a:tc>
                <a:tc>
                  <a:txBody>
                    <a:bodyPr/>
                    <a:lstStyle/>
                    <a:p>
                      <a:pPr algn="ctr"/>
                      <a:r>
                        <a:rPr sz="1300">
                          <a:solidFill>
                            <a:srgbClr val="1F2937"/>
                          </a:solidFill>
                          <a:latin typeface="Segoe UI"/>
                        </a:rPr>
                        <a:t>0,8043</a:t>
                      </a:r>
                    </a:p>
                  </a:txBody>
                  <a:tcPr anchor="ctr" marL="91440" marR="73152" marT="27432" marB="27432">
                    <a:solidFill>
                      <a:srgbClr val="FFFFFF"/>
                    </a:solidFill>
                  </a:tcPr>
                </a:tc>
                <a:tc>
                  <a:txBody>
                    <a:bodyPr/>
                    <a:lstStyle/>
                    <a:p>
                      <a:pPr algn="ctr"/>
                      <a:r>
                        <a:rPr sz="1300">
                          <a:solidFill>
                            <a:srgbClr val="1F2937"/>
                          </a:solidFill>
                          <a:latin typeface="Segoe UI"/>
                        </a:rPr>
                        <a:t>0,9262</a:t>
                      </a:r>
                    </a:p>
                  </a:txBody>
                  <a:tcPr anchor="ctr" marL="91440" marR="73152" marT="27432" marB="27432">
                    <a:solidFill>
                      <a:srgbClr val="FFFFFF"/>
                    </a:solidFill>
                  </a:tcPr>
                </a:tc>
              </a:tr>
              <a:tr h="384048">
                <a:tc>
                  <a:txBody>
                    <a:bodyPr/>
                    <a:lstStyle/>
                    <a:p>
                      <a:pPr algn="l"/>
                      <a:r>
                        <a:rPr sz="1300">
                          <a:solidFill>
                            <a:srgbClr val="1F2937"/>
                          </a:solidFill>
                          <a:latin typeface="Segoe UI"/>
                        </a:rPr>
                        <a:t>Isolation Forest curé</a:t>
                      </a:r>
                    </a:p>
                  </a:txBody>
                  <a:tcPr anchor="ctr" marL="91440" marR="73152" marT="27432" marB="27432">
                    <a:solidFill>
                      <a:srgbClr val="F6F8FB"/>
                    </a:solidFill>
                  </a:tcPr>
                </a:tc>
                <a:tc>
                  <a:txBody>
                    <a:bodyPr/>
                    <a:lstStyle/>
                    <a:p>
                      <a:pPr algn="ctr"/>
                      <a:r>
                        <a:rPr sz="1300">
                          <a:solidFill>
                            <a:srgbClr val="1F2937"/>
                          </a:solidFill>
                          <a:latin typeface="Segoe UI"/>
                        </a:rPr>
                        <a:t>0,9127</a:t>
                      </a:r>
                    </a:p>
                  </a:txBody>
                  <a:tcPr anchor="ctr" marL="91440" marR="73152" marT="27432" marB="27432">
                    <a:solidFill>
                      <a:srgbClr val="F6F8FB"/>
                    </a:solidFill>
                  </a:tcPr>
                </a:tc>
                <a:tc>
                  <a:txBody>
                    <a:bodyPr/>
                    <a:lstStyle/>
                    <a:p>
                      <a:pPr algn="ctr"/>
                      <a:r>
                        <a:rPr sz="1300">
                          <a:solidFill>
                            <a:srgbClr val="1F2937"/>
                          </a:solidFill>
                          <a:latin typeface="Segoe UI"/>
                        </a:rPr>
                        <a:t>0,8465</a:t>
                      </a:r>
                    </a:p>
                  </a:txBody>
                  <a:tcPr anchor="ctr" marL="91440" marR="73152" marT="27432" marB="27432">
                    <a:solidFill>
                      <a:srgbClr val="F6F8FB"/>
                    </a:solidFill>
                  </a:tcPr>
                </a:tc>
              </a:tr>
            </a:tbl>
          </a:graphicData>
        </a:graphic>
      </p:graphicFrame>
      <p:sp>
        <p:nvSpPr>
          <p:cNvPr id="14" name="TextBox 13"/>
          <p:cNvSpPr txBox="1"/>
          <p:nvPr/>
        </p:nvSpPr>
        <p:spPr>
          <a:xfrm>
            <a:off x="777240" y="4709160"/>
            <a:ext cx="4937760" cy="274320"/>
          </a:xfrm>
          <a:prstGeom prst="rect">
            <a:avLst/>
          </a:prstGeom>
          <a:noFill/>
        </p:spPr>
        <p:txBody>
          <a:bodyPr wrap="square">
            <a:spAutoFit/>
          </a:bodyPr>
          <a:lstStyle/>
          <a:p>
            <a:pPr algn="l">
              <a:spcAft>
                <a:spcPts val="0"/>
              </a:spcAft>
            </a:pPr>
            <a:r>
              <a:rPr sz="1400" b="1" i="0">
                <a:solidFill>
                  <a:srgbClr val="B45309"/>
                </a:solidFill>
                <a:latin typeface="Segoe UI"/>
              </a:rPr>
              <a:t>Le seuil univarié passe devant le multivarié.</a:t>
            </a:r>
          </a:p>
        </p:txBody>
      </p:sp>
      <p:sp>
        <p:nvSpPr>
          <p:cNvPr id="15" name="Rectangle 14"/>
          <p:cNvSpPr/>
          <p:nvPr/>
        </p:nvSpPr>
        <p:spPr>
          <a:xfrm>
            <a:off x="6236208" y="2103120"/>
            <a:ext cx="5394960" cy="288036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231136"/>
            <a:ext cx="4937760" cy="320040"/>
          </a:xfrm>
          <a:prstGeom prst="rect">
            <a:avLst/>
          </a:prstGeom>
          <a:noFill/>
        </p:spPr>
        <p:txBody>
          <a:bodyPr wrap="square">
            <a:spAutoFit/>
          </a:bodyPr>
          <a:lstStyle/>
          <a:p>
            <a:pPr algn="l">
              <a:spcAft>
                <a:spcPts val="0"/>
              </a:spcAft>
            </a:pPr>
            <a:r>
              <a:rPr sz="1650" b="1" i="0">
                <a:solidFill>
                  <a:srgbClr val="B45309"/>
                </a:solidFill>
                <a:latin typeface="Segoe UI"/>
              </a:rPr>
              <a:t>2 — La règle de déviation est largement aveugle</a:t>
            </a:r>
          </a:p>
        </p:txBody>
      </p:sp>
      <p:sp>
        <p:nvSpPr>
          <p:cNvPr id="17" name="TextBox 16"/>
          <p:cNvSpPr txBox="1"/>
          <p:nvPr/>
        </p:nvSpPr>
        <p:spPr>
          <a:xfrm>
            <a:off x="6446520" y="2615184"/>
            <a:ext cx="5029200" cy="777240"/>
          </a:xfrm>
          <a:prstGeom prst="rect">
            <a:avLst/>
          </a:prstGeom>
          <a:noFill/>
        </p:spPr>
        <p:txBody>
          <a:bodyPr wrap="square">
            <a:spAutoFit/>
          </a:bodyPr>
          <a:lstStyle/>
          <a:p>
            <a:pPr algn="l">
              <a:spcAft>
                <a:spcPts val="0"/>
              </a:spcAft>
            </a:pPr>
            <a:r>
              <a:rPr sz="1400" b="0" i="0">
                <a:solidFill>
                  <a:srgbClr val="1F2937"/>
                </a:solidFill>
                <a:latin typeface="Segoe UI"/>
              </a:rPr>
              <a:t>Rejeu sur une vraie tournée de 753 points.
La règle mesure la distance à TOUTE la polyligne — or une
tournée de 50 arrêts repasse dans le même quartier.</a:t>
            </a:r>
          </a:p>
        </p:txBody>
      </p:sp>
      <p:graphicFrame>
        <p:nvGraphicFramePr>
          <p:cNvPr id="18" name="Table 17"/>
          <p:cNvGraphicFramePr>
            <a:graphicFrameLocks noGrp="1"/>
          </p:cNvGraphicFramePr>
          <p:nvPr/>
        </p:nvGraphicFramePr>
        <p:xfrm>
          <a:off x="6446520" y="3520440"/>
          <a:ext cx="4937760" cy="1609344"/>
        </p:xfrm>
        <a:graphic>
          <a:graphicData uri="http://schemas.openxmlformats.org/drawingml/2006/table">
            <a:tbl>
              <a:tblPr firstRow="1" bandRow="1">
                <a:tableStyleId>{5C22544A-7EE6-4342-B048-85BDC9FD1C3A}</a:tableStyleId>
              </a:tblPr>
              <a:tblGrid>
                <a:gridCol w="2468880"/>
                <a:gridCol w="2468880"/>
              </a:tblGrid>
              <a:tr h="457200">
                <a:tc>
                  <a:txBody>
                    <a:bodyPr/>
                    <a:lstStyle/>
                    <a:p>
                      <a:pPr algn="l"/>
                      <a:r>
                        <a:rPr sz="1300" b="1">
                          <a:solidFill>
                            <a:srgbClr val="FFFFFF"/>
                          </a:solidFill>
                          <a:latin typeface="Segoe UI"/>
                        </a:rPr>
                        <a:t>Détour réel</a:t>
                      </a:r>
                    </a:p>
                  </a:txBody>
                  <a:tcPr anchor="ctr" marL="91440" marR="73152" marT="27432" marB="27432">
                    <a:solidFill>
                      <a:srgbClr val="0F2942"/>
                    </a:solidFill>
                  </a:tcPr>
                </a:tc>
                <a:tc>
                  <a:txBody>
                    <a:bodyPr/>
                    <a:lstStyle/>
                    <a:p>
                      <a:pPr algn="ctr"/>
                      <a:r>
                        <a:rPr sz="1300" b="1">
                          <a:solidFill>
                            <a:srgbClr val="FFFFFF"/>
                          </a:solidFill>
                          <a:latin typeface="Segoe UI"/>
                        </a:rPr>
                        <a:t>Couverture à 250 m</a:t>
                      </a:r>
                    </a:p>
                  </a:txBody>
                  <a:tcPr anchor="ctr" marL="91440" marR="73152" marT="27432" marB="27432">
                    <a:solidFill>
                      <a:srgbClr val="0F2942"/>
                    </a:solidFill>
                  </a:tcPr>
                </a:tc>
              </a:tr>
              <a:tr h="384048">
                <a:tc>
                  <a:txBody>
                    <a:bodyPr/>
                    <a:lstStyle/>
                    <a:p>
                      <a:pPr algn="l"/>
                      <a:r>
                        <a:rPr sz="1300">
                          <a:solidFill>
                            <a:srgbClr val="1F2937"/>
                          </a:solidFill>
                          <a:latin typeface="Segoe UI"/>
                        </a:rPr>
                        <a:t>150 m</a:t>
                      </a:r>
                    </a:p>
                  </a:txBody>
                  <a:tcPr anchor="ctr" marL="91440" marR="73152" marT="27432" marB="27432">
                    <a:solidFill>
                      <a:srgbClr val="FFFFFF"/>
                    </a:solidFill>
                  </a:tcPr>
                </a:tc>
                <a:tc>
                  <a:txBody>
                    <a:bodyPr/>
                    <a:lstStyle/>
                    <a:p>
                      <a:pPr algn="ctr"/>
                      <a:r>
                        <a:rPr sz="1300">
                          <a:solidFill>
                            <a:srgbClr val="1F2937"/>
                          </a:solidFill>
                          <a:latin typeface="Segoe UI"/>
                        </a:rPr>
                        <a:t>0,0 %</a:t>
                      </a:r>
                    </a:p>
                  </a:txBody>
                  <a:tcPr anchor="ctr" marL="91440" marR="73152" marT="27432" marB="27432">
                    <a:solidFill>
                      <a:srgbClr val="FFFFFF"/>
                    </a:solidFill>
                  </a:tcPr>
                </a:tc>
              </a:tr>
              <a:tr h="384048">
                <a:tc>
                  <a:txBody>
                    <a:bodyPr/>
                    <a:lstStyle/>
                    <a:p>
                      <a:pPr algn="l"/>
                      <a:r>
                        <a:rPr sz="1300">
                          <a:solidFill>
                            <a:srgbClr val="1F2937"/>
                          </a:solidFill>
                          <a:latin typeface="Segoe UI"/>
                        </a:rPr>
                        <a:t>250 m</a:t>
                      </a:r>
                    </a:p>
                  </a:txBody>
                  <a:tcPr anchor="ctr" marL="91440" marR="73152" marT="27432" marB="27432">
                    <a:solidFill>
                      <a:srgbClr val="F6F8FB"/>
                    </a:solidFill>
                  </a:tcPr>
                </a:tc>
                <a:tc>
                  <a:txBody>
                    <a:bodyPr/>
                    <a:lstStyle/>
                    <a:p>
                      <a:pPr algn="ctr"/>
                      <a:r>
                        <a:rPr sz="1300">
                          <a:solidFill>
                            <a:srgbClr val="1F2937"/>
                          </a:solidFill>
                          <a:latin typeface="Segoe UI"/>
                        </a:rPr>
                        <a:t>9,6 %</a:t>
                      </a:r>
                    </a:p>
                  </a:txBody>
                  <a:tcPr anchor="ctr" marL="91440" marR="73152" marT="27432" marB="27432">
                    <a:solidFill>
                      <a:srgbClr val="F6F8FB"/>
                    </a:solidFill>
                  </a:tcPr>
                </a:tc>
              </a:tr>
              <a:tr h="384048">
                <a:tc>
                  <a:txBody>
                    <a:bodyPr/>
                    <a:lstStyle/>
                    <a:p>
                      <a:pPr algn="l"/>
                      <a:r>
                        <a:rPr sz="1300">
                          <a:solidFill>
                            <a:srgbClr val="1F2937"/>
                          </a:solidFill>
                          <a:latin typeface="Segoe UI"/>
                        </a:rPr>
                        <a:t>400 m</a:t>
                      </a:r>
                    </a:p>
                  </a:txBody>
                  <a:tcPr anchor="ctr" marL="91440" marR="73152" marT="27432" marB="27432">
                    <a:solidFill>
                      <a:srgbClr val="FFFFFF"/>
                    </a:solidFill>
                  </a:tcPr>
                </a:tc>
                <a:tc>
                  <a:txBody>
                    <a:bodyPr/>
                    <a:lstStyle/>
                    <a:p>
                      <a:pPr algn="ctr"/>
                      <a:r>
                        <a:rPr sz="1300">
                          <a:solidFill>
                            <a:srgbClr val="1F2937"/>
                          </a:solidFill>
                          <a:latin typeface="Segoe UI"/>
                        </a:rPr>
                        <a:t>35,8 %</a:t>
                      </a:r>
                    </a:p>
                  </a:txBody>
                  <a:tcPr anchor="ctr" marL="91440" marR="73152" marT="27432" marB="27432">
                    <a:solidFill>
                      <a:srgbClr val="FFFFFF"/>
                    </a:solidFill>
                  </a:tcPr>
                </a:tc>
              </a:tr>
            </a:tbl>
          </a:graphicData>
        </a:graphic>
      </p:graphicFrame>
      <p:sp>
        <p:nvSpPr>
          <p:cNvPr id="19" name="TextBox 18"/>
          <p:cNvSpPr txBox="1"/>
          <p:nvPr/>
        </p:nvSpPr>
        <p:spPr>
          <a:xfrm>
            <a:off x="6446520" y="4645152"/>
            <a:ext cx="5029200" cy="365760"/>
          </a:xfrm>
          <a:prstGeom prst="rect">
            <a:avLst/>
          </a:prstGeom>
          <a:noFill/>
        </p:spPr>
        <p:txBody>
          <a:bodyPr wrap="square">
            <a:spAutoFit/>
          </a:bodyPr>
          <a:lstStyle/>
          <a:p>
            <a:pPr algn="l">
              <a:spcAft>
                <a:spcPts val="0"/>
              </a:spcAft>
            </a:pPr>
            <a:r>
              <a:rPr sz="1350" b="1" i="0">
                <a:solidFill>
                  <a:srgbClr val="B45309"/>
                </a:solidFill>
                <a:latin typeface="Segoe UI"/>
              </a:rPr>
              <a:t>À 120 m, la couverture double sans aucune fausse alarme
mesurée (jusqu'à σ = 30 m de bruit GPS).</a:t>
            </a:r>
          </a:p>
        </p:txBody>
      </p:sp>
      <p:sp>
        <p:nvSpPr>
          <p:cNvPr id="20" name="Rectangle 19"/>
          <p:cNvSpPr/>
          <p:nvPr/>
        </p:nvSpPr>
        <p:spPr>
          <a:xfrm>
            <a:off x="566928" y="5193792"/>
            <a:ext cx="11064240" cy="658368"/>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312664"/>
            <a:ext cx="10698480" cy="292608"/>
          </a:xfrm>
          <a:prstGeom prst="rect">
            <a:avLst/>
          </a:prstGeom>
          <a:noFill/>
        </p:spPr>
        <p:txBody>
          <a:bodyPr wrap="square">
            <a:spAutoFit/>
          </a:bodyPr>
          <a:lstStyle/>
          <a:p>
            <a:pPr algn="l">
              <a:spcAft>
                <a:spcPts val="0"/>
              </a:spcAft>
            </a:pPr>
            <a:r>
              <a:rPr sz="1500" b="1" i="0">
                <a:solidFill>
                  <a:srgbClr val="0E7490"/>
                </a:solidFill>
                <a:latin typeface="Segoe UI"/>
              </a:rPr>
              <a:t>Ce que ces deux mesures ont en commun</a:t>
            </a:r>
          </a:p>
        </p:txBody>
      </p:sp>
      <p:sp>
        <p:nvSpPr>
          <p:cNvPr id="22" name="TextBox 21"/>
          <p:cNvSpPr txBox="1"/>
          <p:nvPr/>
        </p:nvSpPr>
        <p:spPr>
          <a:xfrm>
            <a:off x="768096" y="5669280"/>
            <a:ext cx="10680192" cy="109728"/>
          </a:xfrm>
          <a:prstGeom prst="rect">
            <a:avLst/>
          </a:prstGeom>
          <a:noFill/>
        </p:spPr>
        <p:txBody>
          <a:bodyPr wrap="square">
            <a:spAutoFit/>
          </a:bodyPr>
          <a:lstStyle/>
          <a:p>
            <a:pPr algn="l">
              <a:spcAft>
                <a:spcPts val="0"/>
              </a:spcAft>
            </a:pPr>
            <a:r>
              <a:rPr sz="1500" b="0" i="0">
                <a:solidFill>
                  <a:srgbClr val="1F2937"/>
                </a:solidFill>
                <a:latin typeface="Segoe UI"/>
              </a:rPr>
              <a:t>Dans les deux cas, le dossier affirmait un résultat qui n'était pas faux — il était simplement fondé sur trop peu d'observations, ou mesuré sur autre chose
que ce qui tourne. Les défauts sont rapportés et chiffrés, non corrigés : la correction est une décision de production, pas de mémoire.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MS9 · AGENT TOOL-CALLING</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Un agent qui n'a le droit de voir que vos enfants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Boucle de function-calling écrite à la main, sans LangChain — pour que la garde de portée soit dans mon code.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MS9 · Assistant conversationnel (GenAI)</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20</a:t>
            </a:r>
          </a:p>
        </p:txBody>
      </p:sp>
      <p:sp>
        <p:nvSpPr>
          <p:cNvPr id="10" name="Rectangle 9"/>
          <p:cNvSpPr/>
          <p:nvPr/>
        </p:nvSpPr>
        <p:spPr>
          <a:xfrm>
            <a:off x="566928" y="2103120"/>
            <a:ext cx="2542032" cy="9601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03120"/>
            <a:ext cx="2542032" cy="502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2286000"/>
            <a:ext cx="2286000" cy="320040"/>
          </a:xfrm>
          <a:prstGeom prst="rect">
            <a:avLst/>
          </a:prstGeom>
          <a:noFill/>
        </p:spPr>
        <p:txBody>
          <a:bodyPr wrap="square">
            <a:spAutoFit/>
          </a:bodyPr>
          <a:lstStyle/>
          <a:p>
            <a:pPr algn="l">
              <a:spcAft>
                <a:spcPts val="0"/>
              </a:spcAft>
            </a:pPr>
            <a:r>
              <a:rPr sz="1450" b="1" i="0">
                <a:solidFill>
                  <a:srgbClr val="0F2942"/>
                </a:solidFill>
                <a:latin typeface="Segoe UI"/>
              </a:rPr>
              <a:t>Question du parent</a:t>
            </a:r>
          </a:p>
        </p:txBody>
      </p:sp>
      <p:sp>
        <p:nvSpPr>
          <p:cNvPr id="13" name="TextBox 12"/>
          <p:cNvSpPr txBox="1"/>
          <p:nvPr/>
        </p:nvSpPr>
        <p:spPr>
          <a:xfrm>
            <a:off x="704088" y="2633472"/>
            <a:ext cx="2331720" cy="320040"/>
          </a:xfrm>
          <a:prstGeom prst="rect">
            <a:avLst/>
          </a:prstGeom>
          <a:noFill/>
        </p:spPr>
        <p:txBody>
          <a:bodyPr wrap="square">
            <a:spAutoFit/>
          </a:bodyPr>
          <a:lstStyle/>
          <a:p>
            <a:pPr algn="l">
              <a:spcAft>
                <a:spcPts val="0"/>
              </a:spcAft>
            </a:pPr>
            <a:r>
              <a:rPr sz="1250" b="0" i="0">
                <a:solidFill>
                  <a:srgbClr val="64748B"/>
                </a:solidFill>
                <a:latin typeface="Segoe UI"/>
              </a:rPr>
              <a:t>français · arabe · darija</a:t>
            </a:r>
          </a:p>
        </p:txBody>
      </p:sp>
      <p:sp>
        <p:nvSpPr>
          <p:cNvPr id="14" name="TextBox 13"/>
          <p:cNvSpPr txBox="1"/>
          <p:nvPr/>
        </p:nvSpPr>
        <p:spPr>
          <a:xfrm>
            <a:off x="3127248" y="2377440"/>
            <a:ext cx="320040" cy="365760"/>
          </a:xfrm>
          <a:prstGeom prst="rect">
            <a:avLst/>
          </a:prstGeom>
          <a:noFill/>
        </p:spPr>
        <p:txBody>
          <a:bodyPr wrap="square">
            <a:spAutoFit/>
          </a:bodyPr>
          <a:lstStyle/>
          <a:p>
            <a:pPr algn="l">
              <a:spcAft>
                <a:spcPts val="0"/>
              </a:spcAft>
            </a:pPr>
            <a:r>
              <a:rPr sz="1900" b="1" i="0">
                <a:solidFill>
                  <a:srgbClr val="0E7490"/>
                </a:solidFill>
                <a:latin typeface="Segoe UI"/>
              </a:rPr>
              <a:t>→</a:t>
            </a:r>
          </a:p>
        </p:txBody>
      </p:sp>
      <p:sp>
        <p:nvSpPr>
          <p:cNvPr id="15" name="Rectangle 14"/>
          <p:cNvSpPr/>
          <p:nvPr/>
        </p:nvSpPr>
        <p:spPr>
          <a:xfrm>
            <a:off x="3429000" y="2103120"/>
            <a:ext cx="2542032" cy="9601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2103120"/>
            <a:ext cx="2542032" cy="502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2286000"/>
            <a:ext cx="2286000" cy="320040"/>
          </a:xfrm>
          <a:prstGeom prst="rect">
            <a:avLst/>
          </a:prstGeom>
          <a:noFill/>
        </p:spPr>
        <p:txBody>
          <a:bodyPr wrap="square">
            <a:spAutoFit/>
          </a:bodyPr>
          <a:lstStyle/>
          <a:p>
            <a:pPr algn="l">
              <a:spcAft>
                <a:spcPts val="0"/>
              </a:spcAft>
            </a:pPr>
            <a:r>
              <a:rPr sz="1450" b="1" i="0">
                <a:solidFill>
                  <a:srgbClr val="0F2942"/>
                </a:solidFill>
                <a:latin typeface="Segoe UI"/>
              </a:rPr>
              <a:t>Le LLM choisit un outil</a:t>
            </a:r>
          </a:p>
        </p:txBody>
      </p:sp>
      <p:sp>
        <p:nvSpPr>
          <p:cNvPr id="18" name="TextBox 17"/>
          <p:cNvSpPr txBox="1"/>
          <p:nvPr/>
        </p:nvSpPr>
        <p:spPr>
          <a:xfrm>
            <a:off x="3566160" y="2633472"/>
            <a:ext cx="2331720" cy="320040"/>
          </a:xfrm>
          <a:prstGeom prst="rect">
            <a:avLst/>
          </a:prstGeom>
          <a:noFill/>
        </p:spPr>
        <p:txBody>
          <a:bodyPr wrap="square">
            <a:spAutoFit/>
          </a:bodyPr>
          <a:lstStyle/>
          <a:p>
            <a:pPr algn="l">
              <a:spcAft>
                <a:spcPts val="0"/>
              </a:spcAft>
            </a:pPr>
            <a:r>
              <a:rPr sz="1250" b="0" i="0">
                <a:solidFill>
                  <a:srgbClr val="64748B"/>
                </a:solidFill>
                <a:latin typeface="Segoe UI"/>
              </a:rPr>
              <a:t>5 outils déclarés en JSON Schema</a:t>
            </a:r>
          </a:p>
        </p:txBody>
      </p:sp>
      <p:sp>
        <p:nvSpPr>
          <p:cNvPr id="19" name="TextBox 18"/>
          <p:cNvSpPr txBox="1"/>
          <p:nvPr/>
        </p:nvSpPr>
        <p:spPr>
          <a:xfrm>
            <a:off x="5989320" y="2377440"/>
            <a:ext cx="320040" cy="365760"/>
          </a:xfrm>
          <a:prstGeom prst="rect">
            <a:avLst/>
          </a:prstGeom>
          <a:noFill/>
        </p:spPr>
        <p:txBody>
          <a:bodyPr wrap="square">
            <a:spAutoFit/>
          </a:bodyPr>
          <a:lstStyle/>
          <a:p>
            <a:pPr algn="l">
              <a:spcAft>
                <a:spcPts val="0"/>
              </a:spcAft>
            </a:pPr>
            <a:r>
              <a:rPr sz="1900" b="1" i="0">
                <a:solidFill>
                  <a:srgbClr val="0E7490"/>
                </a:solidFill>
                <a:latin typeface="Segoe UI"/>
              </a:rPr>
              <a:t>→</a:t>
            </a:r>
          </a:p>
        </p:txBody>
      </p:sp>
      <p:sp>
        <p:nvSpPr>
          <p:cNvPr id="20" name="Rectangle 19"/>
          <p:cNvSpPr/>
          <p:nvPr/>
        </p:nvSpPr>
        <p:spPr>
          <a:xfrm>
            <a:off x="6291072" y="2103120"/>
            <a:ext cx="2542032" cy="9601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91072" y="2103120"/>
            <a:ext cx="2542032" cy="502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286000"/>
            <a:ext cx="2286000" cy="320040"/>
          </a:xfrm>
          <a:prstGeom prst="rect">
            <a:avLst/>
          </a:prstGeom>
          <a:noFill/>
        </p:spPr>
        <p:txBody>
          <a:bodyPr wrap="square">
            <a:spAutoFit/>
          </a:bodyPr>
          <a:lstStyle/>
          <a:p>
            <a:pPr algn="l">
              <a:spcAft>
                <a:spcPts val="0"/>
              </a:spcAft>
            </a:pPr>
            <a:r>
              <a:rPr sz="1450" b="1" i="0">
                <a:solidFill>
                  <a:srgbClr val="0F2942"/>
                </a:solidFill>
                <a:latin typeface="Segoe UI"/>
              </a:rPr>
              <a:t>L'outil interroge un service</a:t>
            </a:r>
          </a:p>
        </p:txBody>
      </p:sp>
      <p:sp>
        <p:nvSpPr>
          <p:cNvPr id="23" name="TextBox 22"/>
          <p:cNvSpPr txBox="1"/>
          <p:nvPr/>
        </p:nvSpPr>
        <p:spPr>
          <a:xfrm>
            <a:off x="6428232" y="2633472"/>
            <a:ext cx="2331720" cy="320040"/>
          </a:xfrm>
          <a:prstGeom prst="rect">
            <a:avLst/>
          </a:prstGeom>
          <a:noFill/>
        </p:spPr>
        <p:txBody>
          <a:bodyPr wrap="square">
            <a:spAutoFit/>
          </a:bodyPr>
          <a:lstStyle/>
          <a:p>
            <a:pPr algn="l">
              <a:spcAft>
                <a:spcPts val="0"/>
              </a:spcAft>
            </a:pPr>
            <a:r>
              <a:rPr sz="1250" b="0" i="0">
                <a:solidFill>
                  <a:srgbClr val="64748B"/>
                </a:solidFill>
                <a:latin typeface="Segoe UI"/>
              </a:rPr>
              <a:t>avec le JWT du parent</a:t>
            </a:r>
          </a:p>
        </p:txBody>
      </p:sp>
      <p:sp>
        <p:nvSpPr>
          <p:cNvPr id="24" name="TextBox 23"/>
          <p:cNvSpPr txBox="1"/>
          <p:nvPr/>
        </p:nvSpPr>
        <p:spPr>
          <a:xfrm>
            <a:off x="8851392" y="2377440"/>
            <a:ext cx="320040" cy="365760"/>
          </a:xfrm>
          <a:prstGeom prst="rect">
            <a:avLst/>
          </a:prstGeom>
          <a:noFill/>
        </p:spPr>
        <p:txBody>
          <a:bodyPr wrap="square">
            <a:spAutoFit/>
          </a:bodyPr>
          <a:lstStyle/>
          <a:p>
            <a:pPr algn="l">
              <a:spcAft>
                <a:spcPts val="0"/>
              </a:spcAft>
            </a:pPr>
            <a:r>
              <a:rPr sz="1900" b="1" i="0">
                <a:solidFill>
                  <a:srgbClr val="0E7490"/>
                </a:solidFill>
                <a:latin typeface="Segoe UI"/>
              </a:rPr>
              <a:t>→</a:t>
            </a:r>
          </a:p>
        </p:txBody>
      </p:sp>
      <p:sp>
        <p:nvSpPr>
          <p:cNvPr id="25" name="Rectangle 24"/>
          <p:cNvSpPr/>
          <p:nvPr/>
        </p:nvSpPr>
        <p:spPr>
          <a:xfrm>
            <a:off x="9153144" y="2103120"/>
            <a:ext cx="2542032" cy="96012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53144" y="2103120"/>
            <a:ext cx="2542032" cy="5029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90304" y="2286000"/>
            <a:ext cx="2286000" cy="320040"/>
          </a:xfrm>
          <a:prstGeom prst="rect">
            <a:avLst/>
          </a:prstGeom>
          <a:noFill/>
        </p:spPr>
        <p:txBody>
          <a:bodyPr wrap="square">
            <a:spAutoFit/>
          </a:bodyPr>
          <a:lstStyle/>
          <a:p>
            <a:pPr algn="l">
              <a:spcAft>
                <a:spcPts val="0"/>
              </a:spcAft>
            </a:pPr>
            <a:r>
              <a:rPr sz="1450" b="1" i="0">
                <a:solidFill>
                  <a:srgbClr val="0F2942"/>
                </a:solidFill>
                <a:latin typeface="Segoe UI"/>
              </a:rPr>
              <a:t>Réponse en langue naturelle</a:t>
            </a:r>
          </a:p>
        </p:txBody>
      </p:sp>
      <p:sp>
        <p:nvSpPr>
          <p:cNvPr id="28" name="TextBox 27"/>
          <p:cNvSpPr txBox="1"/>
          <p:nvPr/>
        </p:nvSpPr>
        <p:spPr>
          <a:xfrm>
            <a:off x="9290304" y="2633472"/>
            <a:ext cx="2331720" cy="320040"/>
          </a:xfrm>
          <a:prstGeom prst="rect">
            <a:avLst/>
          </a:prstGeom>
          <a:noFill/>
        </p:spPr>
        <p:txBody>
          <a:bodyPr wrap="square">
            <a:spAutoFit/>
          </a:bodyPr>
          <a:lstStyle/>
          <a:p>
            <a:pPr algn="l">
              <a:spcAft>
                <a:spcPts val="0"/>
              </a:spcAft>
            </a:pPr>
            <a:r>
              <a:rPr sz="1250" b="0" i="0">
                <a:solidFill>
                  <a:srgbClr val="64748B"/>
                </a:solidFill>
                <a:latin typeface="Segoe UI"/>
              </a:rPr>
              <a:t>faits vérifiés, pas hallucinés</a:t>
            </a:r>
          </a:p>
        </p:txBody>
      </p:sp>
      <p:sp>
        <p:nvSpPr>
          <p:cNvPr id="29" name="TextBox 28"/>
          <p:cNvSpPr txBox="1"/>
          <p:nvPr/>
        </p:nvSpPr>
        <p:spPr>
          <a:xfrm>
            <a:off x="566928" y="3273552"/>
            <a:ext cx="5486400" cy="320040"/>
          </a:xfrm>
          <a:prstGeom prst="rect">
            <a:avLst/>
          </a:prstGeom>
          <a:noFill/>
        </p:spPr>
        <p:txBody>
          <a:bodyPr wrap="square">
            <a:spAutoFit/>
          </a:bodyPr>
          <a:lstStyle/>
          <a:p>
            <a:pPr algn="l">
              <a:spcAft>
                <a:spcPts val="0"/>
              </a:spcAft>
            </a:pPr>
            <a:r>
              <a:rPr sz="1500" b="1" i="0">
                <a:solidFill>
                  <a:srgbClr val="0F2942"/>
                </a:solidFill>
                <a:latin typeface="Segoe UI"/>
              </a:rPr>
              <a:t>Les 5 outils</a:t>
            </a:r>
          </a:p>
        </p:txBody>
      </p:sp>
      <p:sp>
        <p:nvSpPr>
          <p:cNvPr id="30" name="TextBox 29"/>
          <p:cNvSpPr txBox="1"/>
          <p:nvPr/>
        </p:nvSpPr>
        <p:spPr>
          <a:xfrm>
            <a:off x="566928" y="3584448"/>
            <a:ext cx="5486400" cy="1828800"/>
          </a:xfrm>
          <a:prstGeom prst="rect">
            <a:avLst/>
          </a:prstGeom>
          <a:noFill/>
        </p:spPr>
        <p:txBody>
          <a:bodyPr wrap="square">
            <a:spAutoFit/>
          </a:bodyPr>
          <a:lstStyle/>
          <a:p>
            <a:pPr>
              <a:spcAft>
                <a:spcPts val="800"/>
              </a:spcAft>
            </a:pPr>
            <a:r>
              <a:rPr sz="1050">
                <a:solidFill>
                  <a:srgbClr val="0E7490"/>
                </a:solidFill>
                <a:latin typeface="Segoe UI"/>
              </a:rPr>
              <a:t>▪  </a:t>
            </a:r>
            <a:r>
              <a:rPr sz="1400" b="0">
                <a:solidFill>
                  <a:srgbClr val="1F2937"/>
                </a:solidFill>
                <a:latin typeface="Segoe UI"/>
              </a:rPr>
              <a:t>get_mes_enfants  →  MS2</a:t>
            </a:r>
          </a:p>
          <a:p>
            <a:pPr>
              <a:spcAft>
                <a:spcPts val="800"/>
              </a:spcAft>
            </a:pPr>
            <a:r>
              <a:rPr sz="1050">
                <a:solidFill>
                  <a:srgbClr val="0E7490"/>
                </a:solidFill>
                <a:latin typeface="Segoe UI"/>
              </a:rPr>
              <a:t>▪  </a:t>
            </a:r>
            <a:r>
              <a:rPr sz="1400" b="0">
                <a:solidFill>
                  <a:srgbClr val="1F2937"/>
                </a:solidFill>
                <a:latin typeface="Segoe UI"/>
              </a:rPr>
              <a:t>get_position_bus  →  MS3  (+ géocodage inverse OSM : « rue Zitoune »)</a:t>
            </a:r>
          </a:p>
          <a:p>
            <a:pPr>
              <a:spcAft>
                <a:spcPts val="800"/>
              </a:spcAft>
            </a:pPr>
            <a:r>
              <a:rPr sz="1050">
                <a:solidFill>
                  <a:srgbClr val="0E7490"/>
                </a:solidFill>
                <a:latin typeface="Segoe UI"/>
              </a:rPr>
              <a:t>▪  </a:t>
            </a:r>
            <a:r>
              <a:rPr sz="1400" b="0">
                <a:solidFill>
                  <a:srgbClr val="1F2937"/>
                </a:solidFill>
                <a:latin typeface="Segoe UI"/>
              </a:rPr>
              <a:t>get_eta_ecole  →  MS12</a:t>
            </a:r>
          </a:p>
          <a:p>
            <a:pPr>
              <a:spcAft>
                <a:spcPts val="800"/>
              </a:spcAft>
            </a:pPr>
            <a:r>
              <a:rPr sz="1050">
                <a:solidFill>
                  <a:srgbClr val="0E7490"/>
                </a:solidFill>
                <a:latin typeface="Segoe UI"/>
              </a:rPr>
              <a:t>▪  </a:t>
            </a:r>
            <a:r>
              <a:rPr sz="1400" b="0">
                <a:solidFill>
                  <a:srgbClr val="1F2937"/>
                </a:solidFill>
                <a:latin typeface="Segoe UI"/>
              </a:rPr>
              <a:t>get_trajet_actif  →  MS1</a:t>
            </a:r>
          </a:p>
          <a:p>
            <a:pPr>
              <a:spcAft>
                <a:spcPts val="800"/>
              </a:spcAft>
            </a:pPr>
            <a:r>
              <a:rPr sz="1050">
                <a:solidFill>
                  <a:srgbClr val="0E7490"/>
                </a:solidFill>
                <a:latin typeface="Segoe UI"/>
              </a:rPr>
              <a:t>▪  </a:t>
            </a:r>
            <a:r>
              <a:rPr sz="1400" b="0">
                <a:solidFill>
                  <a:srgbClr val="1F2937"/>
                </a:solidFill>
                <a:latin typeface="Segoe UI"/>
              </a:rPr>
              <a:t>get_incidents_bus  →  MS10</a:t>
            </a:r>
          </a:p>
        </p:txBody>
      </p:sp>
      <p:sp>
        <p:nvSpPr>
          <p:cNvPr id="31" name="Rectangle 30"/>
          <p:cNvSpPr/>
          <p:nvPr/>
        </p:nvSpPr>
        <p:spPr>
          <a:xfrm>
            <a:off x="6309360" y="3273552"/>
            <a:ext cx="5321808" cy="233172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3401568"/>
            <a:ext cx="4937760" cy="320040"/>
          </a:xfrm>
          <a:prstGeom prst="rect">
            <a:avLst/>
          </a:prstGeom>
          <a:noFill/>
        </p:spPr>
        <p:txBody>
          <a:bodyPr wrap="square">
            <a:spAutoFit/>
          </a:bodyPr>
          <a:lstStyle/>
          <a:p>
            <a:pPr algn="l">
              <a:spcAft>
                <a:spcPts val="0"/>
              </a:spcAft>
            </a:pPr>
            <a:r>
              <a:rPr sz="1600" b="1" i="0">
                <a:solidFill>
                  <a:srgbClr val="0E7490"/>
                </a:solidFill>
                <a:latin typeface="Segoe UI"/>
              </a:rPr>
              <a:t>La garde de portée</a:t>
            </a:r>
          </a:p>
        </p:txBody>
      </p:sp>
      <p:sp>
        <p:nvSpPr>
          <p:cNvPr id="33" name="TextBox 32"/>
          <p:cNvSpPr txBox="1"/>
          <p:nvPr/>
        </p:nvSpPr>
        <p:spPr>
          <a:xfrm>
            <a:off x="6537960" y="3767328"/>
            <a:ext cx="4937760" cy="1737360"/>
          </a:xfrm>
          <a:prstGeom prst="rect">
            <a:avLst/>
          </a:prstGeom>
          <a:noFill/>
        </p:spPr>
        <p:txBody>
          <a:bodyPr wrap="square">
            <a:spAutoFit/>
          </a:bodyPr>
          <a:lstStyle/>
          <a:p>
            <a:pPr algn="l">
              <a:spcAft>
                <a:spcPts val="0"/>
              </a:spcAft>
            </a:pPr>
            <a:r>
              <a:rPr sz="1400" b="0" i="0">
                <a:solidFill>
                  <a:srgbClr val="1F2937"/>
                </a:solidFill>
                <a:latin typeface="Segoe UI"/>
              </a:rPr>
              <a:t>allowed_bus_ids est dérivé du parentId contenu
dans le jeton — jamais des identifiants proposés
par le modèle.
Un LLM à qui l'on demande « et le bus 3 ? » propose
volontiers 3. L'outil vérifie que 3 appartient à
l'appelant, sinon il refuse avant tout appel réseau.</a:t>
            </a:r>
          </a:p>
        </p:txBody>
      </p:sp>
      <p:sp>
        <p:nvSpPr>
          <p:cNvPr id="34" name="Rectangle 33"/>
          <p:cNvSpPr/>
          <p:nvPr/>
        </p:nvSpPr>
        <p:spPr>
          <a:xfrm>
            <a:off x="566928" y="5504688"/>
            <a:ext cx="11064240" cy="658368"/>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623560"/>
            <a:ext cx="10698480" cy="292608"/>
          </a:xfrm>
          <a:prstGeom prst="rect">
            <a:avLst/>
          </a:prstGeom>
          <a:noFill/>
        </p:spPr>
        <p:txBody>
          <a:bodyPr wrap="square">
            <a:spAutoFit/>
          </a:bodyPr>
          <a:lstStyle/>
          <a:p>
            <a:pPr algn="l">
              <a:spcAft>
                <a:spcPts val="0"/>
              </a:spcAft>
            </a:pPr>
            <a:r>
              <a:rPr sz="1500" b="1" i="0">
                <a:solidFill>
                  <a:srgbClr val="0E7490"/>
                </a:solidFill>
                <a:latin typeface="Segoe UI"/>
              </a:rPr>
              <a:t>Deux optimisations qui changent l'expérience</a:t>
            </a:r>
          </a:p>
        </p:txBody>
      </p:sp>
      <p:sp>
        <p:nvSpPr>
          <p:cNvPr id="36" name="TextBox 35"/>
          <p:cNvSpPr txBox="1"/>
          <p:nvPr/>
        </p:nvSpPr>
        <p:spPr>
          <a:xfrm>
            <a:off x="768096" y="5980176"/>
            <a:ext cx="10680192" cy="109728"/>
          </a:xfrm>
          <a:prstGeom prst="rect">
            <a:avLst/>
          </a:prstGeom>
          <a:noFill/>
        </p:spPr>
        <p:txBody>
          <a:bodyPr wrap="square">
            <a:spAutoFit/>
          </a:bodyPr>
          <a:lstStyle/>
          <a:p>
            <a:pPr algn="l">
              <a:spcAft>
                <a:spcPts val="0"/>
              </a:spcAft>
            </a:pPr>
            <a:r>
              <a:rPr sz="1500" b="0" i="0">
                <a:solidFill>
                  <a:srgbClr val="1F2937"/>
                </a:solidFill>
                <a:latin typeface="Segoe UI"/>
              </a:rPr>
              <a:t>Pré-fetch des enfants une seule fois par requête (le modèle n'a plus à demander « de quel enfant parlez-vous ? ») et exécution des appels d'outils
en parallèle via asyncio.gather. Latence médiane obtenue : 1,62 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MS9 · PHASE B — ASSISTANT ADMINISTRATEUR</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NL2SQL : trois couches, parce qu'on ne peut pas compter sur la docilité d'un modèle</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Question en langue naturelle → SQL PostgreSQL → exécution → synthèse.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MS9 · Assistant conversationnel (GenAI)</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21</a:t>
            </a:r>
          </a:p>
        </p:txBody>
      </p:sp>
      <p:sp>
        <p:nvSpPr>
          <p:cNvPr id="10" name="Rectangle 9"/>
          <p:cNvSpPr/>
          <p:nvPr/>
        </p:nvSpPr>
        <p:spPr>
          <a:xfrm>
            <a:off x="566928" y="2103120"/>
            <a:ext cx="3520440" cy="160020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103120"/>
            <a:ext cx="352044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267712"/>
            <a:ext cx="3200400" cy="274320"/>
          </a:xfrm>
          <a:prstGeom prst="rect">
            <a:avLst/>
          </a:prstGeom>
          <a:noFill/>
        </p:spPr>
        <p:txBody>
          <a:bodyPr wrap="square">
            <a:spAutoFit/>
          </a:bodyPr>
          <a:lstStyle/>
          <a:p>
            <a:pPr algn="l">
              <a:spcAft>
                <a:spcPts val="0"/>
              </a:spcAft>
            </a:pPr>
            <a:r>
              <a:rPr sz="1200" b="1" i="0">
                <a:solidFill>
                  <a:srgbClr val="64748B"/>
                </a:solidFill>
                <a:latin typeface="Segoe UI"/>
              </a:rPr>
              <a:t>Couche 1</a:t>
            </a:r>
          </a:p>
        </p:txBody>
      </p:sp>
      <p:sp>
        <p:nvSpPr>
          <p:cNvPr id="13" name="TextBox 12"/>
          <p:cNvSpPr txBox="1"/>
          <p:nvPr/>
        </p:nvSpPr>
        <p:spPr>
          <a:xfrm>
            <a:off x="731520" y="2542032"/>
            <a:ext cx="3246120" cy="320040"/>
          </a:xfrm>
          <a:prstGeom prst="rect">
            <a:avLst/>
          </a:prstGeom>
          <a:noFill/>
        </p:spPr>
        <p:txBody>
          <a:bodyPr wrap="square">
            <a:spAutoFit/>
          </a:bodyPr>
          <a:lstStyle/>
          <a:p>
            <a:pPr algn="l">
              <a:spcAft>
                <a:spcPts val="0"/>
              </a:spcAft>
            </a:pPr>
            <a:r>
              <a:rPr sz="1550" b="1" i="0">
                <a:solidFill>
                  <a:srgbClr val="0F2942"/>
                </a:solidFill>
                <a:latin typeface="Segoe UI"/>
              </a:rPr>
              <a:t>Garde applicatif</a:t>
            </a:r>
          </a:p>
        </p:txBody>
      </p:sp>
      <p:sp>
        <p:nvSpPr>
          <p:cNvPr id="14" name="TextBox 13"/>
          <p:cNvSpPr txBox="1"/>
          <p:nvPr/>
        </p:nvSpPr>
        <p:spPr>
          <a:xfrm>
            <a:off x="731520" y="2907792"/>
            <a:ext cx="3246120" cy="731520"/>
          </a:xfrm>
          <a:prstGeom prst="rect">
            <a:avLst/>
          </a:prstGeom>
          <a:noFill/>
        </p:spPr>
        <p:txBody>
          <a:bodyPr wrap="square">
            <a:spAutoFit/>
          </a:bodyPr>
          <a:lstStyle/>
          <a:p>
            <a:pPr algn="l">
              <a:spcAft>
                <a:spcPts val="0"/>
              </a:spcAft>
            </a:pPr>
            <a:r>
              <a:rPr sz="1300" b="0" i="0">
                <a:solidFill>
                  <a:srgbClr val="64748B"/>
                </a:solidFill>
                <a:latin typeface="Segoe UI"/>
              </a:rPr>
              <a:t>Liste noire par expression régulière.
14/14 attaques bloquées, 8/8 requêtes légitimes préservées.</a:t>
            </a:r>
          </a:p>
        </p:txBody>
      </p:sp>
      <p:sp>
        <p:nvSpPr>
          <p:cNvPr id="15" name="Rectangle 14"/>
          <p:cNvSpPr/>
          <p:nvPr/>
        </p:nvSpPr>
        <p:spPr>
          <a:xfrm>
            <a:off x="4315967" y="2103120"/>
            <a:ext cx="3520440" cy="160020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7" y="2103120"/>
            <a:ext cx="352044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59" y="2267712"/>
            <a:ext cx="3200400" cy="274320"/>
          </a:xfrm>
          <a:prstGeom prst="rect">
            <a:avLst/>
          </a:prstGeom>
          <a:noFill/>
        </p:spPr>
        <p:txBody>
          <a:bodyPr wrap="square">
            <a:spAutoFit/>
          </a:bodyPr>
          <a:lstStyle/>
          <a:p>
            <a:pPr algn="l">
              <a:spcAft>
                <a:spcPts val="0"/>
              </a:spcAft>
            </a:pPr>
            <a:r>
              <a:rPr sz="1200" b="1" i="0">
                <a:solidFill>
                  <a:srgbClr val="64748B"/>
                </a:solidFill>
                <a:latin typeface="Segoe UI"/>
              </a:rPr>
              <a:t>Couche 2</a:t>
            </a:r>
          </a:p>
        </p:txBody>
      </p:sp>
      <p:sp>
        <p:nvSpPr>
          <p:cNvPr id="18" name="TextBox 17"/>
          <p:cNvSpPr txBox="1"/>
          <p:nvPr/>
        </p:nvSpPr>
        <p:spPr>
          <a:xfrm>
            <a:off x="4480559" y="2542032"/>
            <a:ext cx="3246120" cy="320040"/>
          </a:xfrm>
          <a:prstGeom prst="rect">
            <a:avLst/>
          </a:prstGeom>
          <a:noFill/>
        </p:spPr>
        <p:txBody>
          <a:bodyPr wrap="square">
            <a:spAutoFit/>
          </a:bodyPr>
          <a:lstStyle/>
          <a:p>
            <a:pPr algn="l">
              <a:spcAft>
                <a:spcPts val="0"/>
              </a:spcAft>
            </a:pPr>
            <a:r>
              <a:rPr sz="1550" b="1" i="0">
                <a:solidFill>
                  <a:srgbClr val="0F2942"/>
                </a:solidFill>
                <a:latin typeface="Segoe UI"/>
              </a:rPr>
              <a:t>Rôle PostgreSQL ms9_readonly</a:t>
            </a:r>
          </a:p>
        </p:txBody>
      </p:sp>
      <p:sp>
        <p:nvSpPr>
          <p:cNvPr id="19" name="TextBox 18"/>
          <p:cNvSpPr txBox="1"/>
          <p:nvPr/>
        </p:nvSpPr>
        <p:spPr>
          <a:xfrm>
            <a:off x="4480559" y="2907792"/>
            <a:ext cx="3246120" cy="731520"/>
          </a:xfrm>
          <a:prstGeom prst="rect">
            <a:avLst/>
          </a:prstGeom>
          <a:noFill/>
        </p:spPr>
        <p:txBody>
          <a:bodyPr wrap="square">
            <a:spAutoFit/>
          </a:bodyPr>
          <a:lstStyle/>
          <a:p>
            <a:pPr algn="l">
              <a:spcAft>
                <a:spcPts val="0"/>
              </a:spcAft>
            </a:pPr>
            <a:r>
              <a:rPr sz="1300" b="0" i="0">
                <a:solidFill>
                  <a:srgbClr val="64748B"/>
                </a:solidFill>
                <a:latin typeface="Segoe UI"/>
              </a:rPr>
              <a:t>Droits en lecture seule accordés au niveau de la base.
Un DROP généré par le modèle échouerait côté serveur.</a:t>
            </a:r>
          </a:p>
        </p:txBody>
      </p:sp>
      <p:sp>
        <p:nvSpPr>
          <p:cNvPr id="20" name="Rectangle 19"/>
          <p:cNvSpPr/>
          <p:nvPr/>
        </p:nvSpPr>
        <p:spPr>
          <a:xfrm>
            <a:off x="8065006" y="2103120"/>
            <a:ext cx="3520440" cy="1600200"/>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5006" y="2103120"/>
            <a:ext cx="352044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8" y="2267712"/>
            <a:ext cx="3200400" cy="274320"/>
          </a:xfrm>
          <a:prstGeom prst="rect">
            <a:avLst/>
          </a:prstGeom>
          <a:noFill/>
        </p:spPr>
        <p:txBody>
          <a:bodyPr wrap="square">
            <a:spAutoFit/>
          </a:bodyPr>
          <a:lstStyle/>
          <a:p>
            <a:pPr algn="l">
              <a:spcAft>
                <a:spcPts val="0"/>
              </a:spcAft>
            </a:pPr>
            <a:r>
              <a:rPr sz="1200" b="1" i="0">
                <a:solidFill>
                  <a:srgbClr val="64748B"/>
                </a:solidFill>
                <a:latin typeface="Segoe UI"/>
              </a:rPr>
              <a:t>Couche 3</a:t>
            </a:r>
          </a:p>
        </p:txBody>
      </p:sp>
      <p:sp>
        <p:nvSpPr>
          <p:cNvPr id="23" name="TextBox 22"/>
          <p:cNvSpPr txBox="1"/>
          <p:nvPr/>
        </p:nvSpPr>
        <p:spPr>
          <a:xfrm>
            <a:off x="8229598" y="2542032"/>
            <a:ext cx="3246120" cy="320040"/>
          </a:xfrm>
          <a:prstGeom prst="rect">
            <a:avLst/>
          </a:prstGeom>
          <a:noFill/>
        </p:spPr>
        <p:txBody>
          <a:bodyPr wrap="square">
            <a:spAutoFit/>
          </a:bodyPr>
          <a:lstStyle/>
          <a:p>
            <a:pPr algn="l">
              <a:spcAft>
                <a:spcPts val="0"/>
              </a:spcAft>
            </a:pPr>
            <a:r>
              <a:rPr sz="1550" b="1" i="0">
                <a:solidFill>
                  <a:srgbClr val="0F2942"/>
                </a:solidFill>
                <a:latin typeface="Segoe UI"/>
              </a:rPr>
              <a:t>Transaction READ ONLY + timeout</a:t>
            </a:r>
          </a:p>
        </p:txBody>
      </p:sp>
      <p:sp>
        <p:nvSpPr>
          <p:cNvPr id="24" name="TextBox 23"/>
          <p:cNvSpPr txBox="1"/>
          <p:nvPr/>
        </p:nvSpPr>
        <p:spPr>
          <a:xfrm>
            <a:off x="8229598" y="2907792"/>
            <a:ext cx="3246120" cy="731520"/>
          </a:xfrm>
          <a:prstGeom prst="rect">
            <a:avLst/>
          </a:prstGeom>
          <a:noFill/>
        </p:spPr>
        <p:txBody>
          <a:bodyPr wrap="square">
            <a:spAutoFit/>
          </a:bodyPr>
          <a:lstStyle/>
          <a:p>
            <a:pPr algn="l">
              <a:spcAft>
                <a:spcPts val="0"/>
              </a:spcAft>
            </a:pPr>
            <a:r>
              <a:rPr sz="1300" b="0" i="0">
                <a:solidFill>
                  <a:srgbClr val="64748B"/>
                </a:solidFill>
                <a:latin typeface="Segoe UI"/>
              </a:rPr>
              <a:t>statement_timeout 5 s, résultats capés.
Arrête un produit cartésien que la regex ne voit pas.</a:t>
            </a:r>
          </a:p>
        </p:txBody>
      </p:sp>
      <p:graphicFrame>
        <p:nvGraphicFramePr>
          <p:cNvPr id="25" name="Table 24"/>
          <p:cNvGraphicFramePr>
            <a:graphicFrameLocks noGrp="1"/>
          </p:cNvGraphicFramePr>
          <p:nvPr/>
        </p:nvGraphicFramePr>
        <p:xfrm>
          <a:off x="566928" y="3931920"/>
          <a:ext cx="5577840" cy="1719072"/>
        </p:xfrm>
        <a:graphic>
          <a:graphicData uri="http://schemas.openxmlformats.org/drawingml/2006/table">
            <a:tbl>
              <a:tblPr firstRow="1" bandRow="1">
                <a:tableStyleId>{5C22544A-7EE6-4342-B048-85BDC9FD1C3A}</a:tableStyleId>
              </a:tblPr>
              <a:tblGrid>
                <a:gridCol w="3931920"/>
                <a:gridCol w="1645920"/>
              </a:tblGrid>
              <a:tr h="457200">
                <a:tc>
                  <a:txBody>
                    <a:bodyPr/>
                    <a:lstStyle/>
                    <a:p>
                      <a:pPr algn="l"/>
                      <a:r>
                        <a:rPr sz="1350" b="1">
                          <a:solidFill>
                            <a:srgbClr val="FFFFFF"/>
                          </a:solidFill>
                          <a:latin typeface="Segoe UI"/>
                        </a:rPr>
                        <a:t>Mesure sur 24 questions</a:t>
                      </a:r>
                    </a:p>
                  </a:txBody>
                  <a:tcPr anchor="ctr" marL="91440" marR="73152" marT="27432" marB="27432">
                    <a:solidFill>
                      <a:srgbClr val="0F2942"/>
                    </a:solidFill>
                  </a:tcPr>
                </a:tc>
                <a:tc>
                  <a:txBody>
                    <a:bodyPr/>
                    <a:lstStyle/>
                    <a:p>
                      <a:pPr algn="ctr"/>
                      <a:r>
                        <a:rPr sz="1350" b="1">
                          <a:solidFill>
                            <a:srgbClr val="FFFFFF"/>
                          </a:solidFill>
                          <a:latin typeface="Segoe UI"/>
                        </a:rPr>
                        <a:t>Résultat</a:t>
                      </a:r>
                    </a:p>
                  </a:txBody>
                  <a:tcPr anchor="ctr" marL="91440" marR="73152" marT="27432" marB="27432">
                    <a:solidFill>
                      <a:srgbClr val="0F2942"/>
                    </a:solidFill>
                  </a:tcPr>
                </a:tc>
              </a:tr>
              <a:tr h="420624">
                <a:tc>
                  <a:txBody>
                    <a:bodyPr/>
                    <a:lstStyle/>
                    <a:p>
                      <a:pPr algn="l"/>
                      <a:r>
                        <a:rPr sz="1350">
                          <a:solidFill>
                            <a:srgbClr val="1F2937"/>
                          </a:solidFill>
                          <a:latin typeface="Segoe UI"/>
                        </a:rPr>
                        <a:t>Exactitude d'exécution stricte</a:t>
                      </a:r>
                    </a:p>
                  </a:txBody>
                  <a:tcPr anchor="ctr" marL="91440" marR="73152" marT="27432" marB="27432">
                    <a:solidFill>
                      <a:srgbClr val="FFFFFF"/>
                    </a:solidFill>
                  </a:tcPr>
                </a:tc>
                <a:tc>
                  <a:txBody>
                    <a:bodyPr/>
                    <a:lstStyle/>
                    <a:p>
                      <a:pPr algn="ctr"/>
                      <a:r>
                        <a:rPr sz="1350">
                          <a:solidFill>
                            <a:srgbClr val="1F2937"/>
                          </a:solidFill>
                          <a:latin typeface="Segoe UI"/>
                        </a:rPr>
                        <a:t>83,3 %  (15/18)</a:t>
                      </a:r>
                    </a:p>
                  </a:txBody>
                  <a:tcPr anchor="ctr" marL="91440" marR="73152" marT="27432" marB="27432">
                    <a:solidFill>
                      <a:srgbClr val="FFFFFF"/>
                    </a:solidFill>
                  </a:tcPr>
                </a:tc>
              </a:tr>
              <a:tr h="420624">
                <a:tc>
                  <a:txBody>
                    <a:bodyPr/>
                    <a:lstStyle/>
                    <a:p>
                      <a:pPr algn="l"/>
                      <a:r>
                        <a:rPr sz="1350">
                          <a:solidFill>
                            <a:srgbClr val="1F2937"/>
                          </a:solidFill>
                          <a:latin typeface="Segoe UI"/>
                        </a:rPr>
                        <a:t>Exactitude souple  (colonnes supplémentaires tolérées)</a:t>
                      </a:r>
                    </a:p>
                  </a:txBody>
                  <a:tcPr anchor="ctr" marL="91440" marR="73152" marT="27432" marB="27432">
                    <a:solidFill>
                      <a:srgbClr val="F6F8FB"/>
                    </a:solidFill>
                  </a:tcPr>
                </a:tc>
                <a:tc>
                  <a:txBody>
                    <a:bodyPr/>
                    <a:lstStyle/>
                    <a:p>
                      <a:pPr algn="ctr"/>
                      <a:r>
                        <a:rPr sz="1350">
                          <a:solidFill>
                            <a:srgbClr val="1F2937"/>
                          </a:solidFill>
                          <a:latin typeface="Segoe UI"/>
                        </a:rPr>
                        <a:t>94,4 %  (17/18)</a:t>
                      </a:r>
                    </a:p>
                  </a:txBody>
                  <a:tcPr anchor="ctr" marL="91440" marR="73152" marT="27432" marB="27432">
                    <a:solidFill>
                      <a:srgbClr val="F6F8FB"/>
                    </a:solidFill>
                  </a:tcPr>
                </a:tc>
              </a:tr>
              <a:tr h="420624">
                <a:tc>
                  <a:txBody>
                    <a:bodyPr/>
                    <a:lstStyle/>
                    <a:p>
                      <a:pPr algn="l"/>
                      <a:r>
                        <a:rPr sz="1350">
                          <a:solidFill>
                            <a:srgbClr val="1F2937"/>
                          </a:solidFill>
                          <a:latin typeface="Segoe UI"/>
                        </a:rPr>
                        <a:t>Aucune fuite de donnée sensible</a:t>
                      </a:r>
                    </a:p>
                  </a:txBody>
                  <a:tcPr anchor="ctr" marL="91440" marR="73152" marT="27432" marB="27432">
                    <a:solidFill>
                      <a:srgbClr val="FFFFFF"/>
                    </a:solidFill>
                  </a:tcPr>
                </a:tc>
                <a:tc>
                  <a:txBody>
                    <a:bodyPr/>
                    <a:lstStyle/>
                    <a:p>
                      <a:pPr algn="ctr"/>
                      <a:r>
                        <a:rPr sz="1350">
                          <a:solidFill>
                            <a:srgbClr val="1F2937"/>
                          </a:solidFill>
                          <a:latin typeface="Segoe UI"/>
                        </a:rPr>
                        <a:t>100 %  (6/6 attaques)</a:t>
                      </a:r>
                    </a:p>
                  </a:txBody>
                  <a:tcPr anchor="ctr" marL="91440" marR="73152" marT="27432" marB="27432">
                    <a:solidFill>
                      <a:srgbClr val="FFFFFF"/>
                    </a:solidFill>
                  </a:tcPr>
                </a:tc>
              </a:tr>
            </a:tbl>
          </a:graphicData>
        </a:graphic>
      </p:graphicFrame>
      <p:sp>
        <p:nvSpPr>
          <p:cNvPr id="26" name="Rectangle 25"/>
          <p:cNvSpPr/>
          <p:nvPr/>
        </p:nvSpPr>
        <p:spPr>
          <a:xfrm>
            <a:off x="6355080" y="3931920"/>
            <a:ext cx="5276088" cy="169164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6248" y="4050792"/>
            <a:ext cx="4910328" cy="292608"/>
          </a:xfrm>
          <a:prstGeom prst="rect">
            <a:avLst/>
          </a:prstGeom>
          <a:noFill/>
        </p:spPr>
        <p:txBody>
          <a:bodyPr wrap="square">
            <a:spAutoFit/>
          </a:bodyPr>
          <a:lstStyle/>
          <a:p>
            <a:pPr algn="l">
              <a:spcAft>
                <a:spcPts val="0"/>
              </a:spcAft>
            </a:pPr>
            <a:r>
              <a:rPr sz="1500" b="1" i="0">
                <a:solidFill>
                  <a:srgbClr val="B45309"/>
                </a:solidFill>
                <a:latin typeface="Segoe UI"/>
              </a:rPr>
              <a:t>Le résultat le plus utile est inconfortable</a:t>
            </a:r>
          </a:p>
        </p:txBody>
      </p:sp>
      <p:sp>
        <p:nvSpPr>
          <p:cNvPr id="28" name="TextBox 27"/>
          <p:cNvSpPr txBox="1"/>
          <p:nvPr/>
        </p:nvSpPr>
        <p:spPr>
          <a:xfrm>
            <a:off x="6556248" y="4407408"/>
            <a:ext cx="4892040" cy="1143000"/>
          </a:xfrm>
          <a:prstGeom prst="rect">
            <a:avLst/>
          </a:prstGeom>
          <a:noFill/>
        </p:spPr>
        <p:txBody>
          <a:bodyPr wrap="square">
            <a:spAutoFit/>
          </a:bodyPr>
          <a:lstStyle/>
          <a:p>
            <a:pPr algn="l">
              <a:spcAft>
                <a:spcPts val="0"/>
              </a:spcAft>
            </a:pPr>
            <a:r>
              <a:rPr sz="1500" b="0" i="0">
                <a:solidFill>
                  <a:srgbClr val="1F2937"/>
                </a:solidFill>
                <a:latin typeface="Segoe UI"/>
              </a:rPr>
              <a:t>Sur les 6 attaques, aucune n'a atteint le garde SQL
ni PostgreSQL : le modèle refuse avant. Le « 100 % sans
fuite » est donc obtenu PAR LE MODÈLE, pas par
l'architecture.
C'est exactement pourquoi les couches profondes
doivent exister : un modèle plus faible franchirait
la première.</a:t>
            </a:r>
          </a:p>
        </p:txBody>
      </p:sp>
      <p:sp>
        <p:nvSpPr>
          <p:cNvPr id="29" name="TextBox 28"/>
          <p:cNvSpPr txBox="1"/>
          <p:nvPr/>
        </p:nvSpPr>
        <p:spPr>
          <a:xfrm>
            <a:off x="566928" y="5760720"/>
            <a:ext cx="5577840" cy="457200"/>
          </a:xfrm>
          <a:prstGeom prst="rect">
            <a:avLst/>
          </a:prstGeom>
          <a:noFill/>
        </p:spPr>
        <p:txBody>
          <a:bodyPr wrap="square">
            <a:spAutoFit/>
          </a:bodyPr>
          <a:lstStyle/>
          <a:p>
            <a:pPr algn="l">
              <a:spcAft>
                <a:spcPts val="0"/>
              </a:spcAft>
            </a:pPr>
            <a:r>
              <a:rPr sz="1350" b="0" i="1">
                <a:solidFill>
                  <a:srgbClr val="64748B"/>
                </a:solidFill>
                <a:latin typeface="Segoe UI"/>
              </a:rPr>
              <a:t>On compare les jeux de résultats, pas les chaînes SQL :
COUNT(*) et COUNT(id) sont tous deux corrects.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MS9 · ÉVALUATION ET LIMITE</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Évaluer un agent : 36 questions, 3 langues, 5 modèles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Golden set versionné, cascade neutralisée pendant la mesure — sinon on mesurerait un mélange de modèles.</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MS9 · Assistant conversationnel (GenAI)</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22</a:t>
            </a:r>
          </a:p>
        </p:txBody>
      </p:sp>
      <p:graphicFrame>
        <p:nvGraphicFramePr>
          <p:cNvPr id="10" name="Table 9"/>
          <p:cNvGraphicFramePr>
            <a:graphicFrameLocks noGrp="1"/>
          </p:cNvGraphicFramePr>
          <p:nvPr/>
        </p:nvGraphicFramePr>
        <p:xfrm>
          <a:off x="566928" y="2103120"/>
          <a:ext cx="11064237" cy="2560320"/>
        </p:xfrm>
        <a:graphic>
          <a:graphicData uri="http://schemas.openxmlformats.org/drawingml/2006/table">
            <a:tbl>
              <a:tblPr firstRow="1" bandRow="1">
                <a:tableStyleId>{5C22544A-7EE6-4342-B048-85BDC9FD1C3A}</a:tableStyleId>
              </a:tblPr>
              <a:tblGrid>
                <a:gridCol w="3719873"/>
                <a:gridCol w="1621483"/>
                <a:gridCol w="1430720"/>
                <a:gridCol w="1526102"/>
                <a:gridCol w="1335339"/>
                <a:gridCol w="1430720"/>
              </a:tblGrid>
              <a:tr h="457200">
                <a:tc>
                  <a:txBody>
                    <a:bodyPr/>
                    <a:lstStyle/>
                    <a:p>
                      <a:pPr algn="l"/>
                      <a:r>
                        <a:rPr sz="1300" b="1">
                          <a:solidFill>
                            <a:srgbClr val="FFFFFF"/>
                          </a:solidFill>
                          <a:latin typeface="Segoe UI"/>
                        </a:rPr>
                        <a:t>Modèle</a:t>
                      </a:r>
                    </a:p>
                  </a:txBody>
                  <a:tcPr anchor="ctr" marL="91440" marR="73152" marT="27432" marB="27432">
                    <a:solidFill>
                      <a:srgbClr val="0F2942"/>
                    </a:solidFill>
                  </a:tcPr>
                </a:tc>
                <a:tc>
                  <a:txBody>
                    <a:bodyPr/>
                    <a:lstStyle/>
                    <a:p>
                      <a:pPr algn="ctr"/>
                      <a:r>
                        <a:rPr sz="1300" b="1">
                          <a:solidFill>
                            <a:srgbClr val="FFFFFF"/>
                          </a:solidFill>
                          <a:latin typeface="Segoe UI"/>
                        </a:rPr>
                        <a:t>Questions</a:t>
                      </a:r>
                    </a:p>
                    <a:p>
                      <a:pPr algn="ctr"/>
                      <a:r>
                        <a:rPr sz="1300" b="1">
                          <a:solidFill>
                            <a:srgbClr val="FFFFFF"/>
                          </a:solidFill>
                          <a:latin typeface="Segoe UI"/>
                        </a:rPr>
                        <a:t>exploitables</a:t>
                      </a:r>
                    </a:p>
                  </a:txBody>
                  <a:tcPr anchor="ctr" marL="91440" marR="73152" marT="27432" marB="27432">
                    <a:solidFill>
                      <a:srgbClr val="0F2942"/>
                    </a:solidFill>
                  </a:tcPr>
                </a:tc>
                <a:tc>
                  <a:txBody>
                    <a:bodyPr/>
                    <a:lstStyle/>
                    <a:p>
                      <a:pPr algn="ctr"/>
                      <a:r>
                        <a:rPr sz="1300" b="1">
                          <a:solidFill>
                            <a:srgbClr val="FFFFFF"/>
                          </a:solidFill>
                          <a:latin typeface="Segoe UI"/>
                        </a:rPr>
                        <a:t>Outil</a:t>
                      </a:r>
                    </a:p>
                    <a:p>
                      <a:pPr algn="ctr"/>
                      <a:r>
                        <a:rPr sz="1300" b="1">
                          <a:solidFill>
                            <a:srgbClr val="FFFFFF"/>
                          </a:solidFill>
                          <a:latin typeface="Segoe UI"/>
                        </a:rPr>
                        <a:t>correct</a:t>
                      </a:r>
                    </a:p>
                  </a:txBody>
                  <a:tcPr anchor="ctr" marL="91440" marR="73152" marT="27432" marB="27432">
                    <a:solidFill>
                      <a:srgbClr val="0F2942"/>
                    </a:solidFill>
                  </a:tcPr>
                </a:tc>
                <a:tc>
                  <a:txBody>
                    <a:bodyPr/>
                    <a:lstStyle/>
                    <a:p>
                      <a:pPr algn="ctr"/>
                      <a:r>
                        <a:rPr sz="1300" b="1">
                          <a:solidFill>
                            <a:srgbClr val="FFFFFF"/>
                          </a:solidFill>
                          <a:latin typeface="Segoe UI"/>
                        </a:rPr>
                        <a:t>Refus de</a:t>
                      </a:r>
                    </a:p>
                    <a:p>
                      <a:pPr algn="ctr"/>
                      <a:r>
                        <a:rPr sz="1300" b="1">
                          <a:solidFill>
                            <a:srgbClr val="FFFFFF"/>
                          </a:solidFill>
                          <a:latin typeface="Segoe UI"/>
                        </a:rPr>
                        <a:t>sécurité</a:t>
                      </a:r>
                    </a:p>
                  </a:txBody>
                  <a:tcPr anchor="ctr" marL="91440" marR="73152" marT="27432" marB="27432">
                    <a:solidFill>
                      <a:srgbClr val="0F2942"/>
                    </a:solidFill>
                  </a:tcPr>
                </a:tc>
                <a:tc>
                  <a:txBody>
                    <a:bodyPr/>
                    <a:lstStyle/>
                    <a:p>
                      <a:pPr algn="ctr"/>
                      <a:r>
                        <a:rPr sz="1300" b="1">
                          <a:solidFill>
                            <a:srgbClr val="FFFFFF"/>
                          </a:solidFill>
                          <a:latin typeface="Segoe UI"/>
                        </a:rPr>
                        <a:t>Faits</a:t>
                      </a:r>
                    </a:p>
                    <a:p>
                      <a:pPr algn="ctr"/>
                      <a:r>
                        <a:rPr sz="1300" b="1">
                          <a:solidFill>
                            <a:srgbClr val="FFFFFF"/>
                          </a:solidFill>
                          <a:latin typeface="Segoe UI"/>
                        </a:rPr>
                        <a:t>exacts</a:t>
                      </a:r>
                    </a:p>
                  </a:txBody>
                  <a:tcPr anchor="ctr" marL="91440" marR="73152" marT="27432" marB="27432">
                    <a:solidFill>
                      <a:srgbClr val="0F2942"/>
                    </a:solidFill>
                  </a:tcPr>
                </a:tc>
                <a:tc>
                  <a:txBody>
                    <a:bodyPr/>
                    <a:lstStyle/>
                    <a:p>
                      <a:pPr algn="ctr"/>
                      <a:r>
                        <a:rPr sz="1300" b="1">
                          <a:solidFill>
                            <a:srgbClr val="FFFFFF"/>
                          </a:solidFill>
                          <a:latin typeface="Segoe UI"/>
                        </a:rPr>
                        <a:t>Latence</a:t>
                      </a:r>
                    </a:p>
                    <a:p>
                      <a:pPr algn="ctr"/>
                      <a:r>
                        <a:rPr sz="1300" b="1">
                          <a:solidFill>
                            <a:srgbClr val="FFFFFF"/>
                          </a:solidFill>
                          <a:latin typeface="Segoe UI"/>
                        </a:rPr>
                        <a:t>p50</a:t>
                      </a:r>
                    </a:p>
                  </a:txBody>
                  <a:tcPr anchor="ctr" marL="91440" marR="73152" marT="27432" marB="27432">
                    <a:solidFill>
                      <a:srgbClr val="0F2942"/>
                    </a:solidFill>
                  </a:tcPr>
                </a:tc>
              </a:tr>
              <a:tr h="420624">
                <a:tc>
                  <a:txBody>
                    <a:bodyPr/>
                    <a:lstStyle/>
                    <a:p>
                      <a:pPr algn="l"/>
                      <a:r>
                        <a:rPr sz="1300" b="1">
                          <a:solidFill>
                            <a:srgbClr val="1F2937"/>
                          </a:solidFill>
                          <a:latin typeface="Segoe UI"/>
                        </a:rPr>
                        <a:t>openai/gpt-oss-120b   (étage 1)</a:t>
                      </a:r>
                    </a:p>
                  </a:txBody>
                  <a:tcPr anchor="ctr" marL="91440" marR="73152" marT="27432" marB="27432">
                    <a:solidFill>
                      <a:srgbClr val="E0F2F7"/>
                    </a:solidFill>
                  </a:tcPr>
                </a:tc>
                <a:tc>
                  <a:txBody>
                    <a:bodyPr/>
                    <a:lstStyle/>
                    <a:p>
                      <a:pPr algn="ctr"/>
                      <a:r>
                        <a:rPr sz="1300" b="0">
                          <a:solidFill>
                            <a:srgbClr val="1F2937"/>
                          </a:solidFill>
                          <a:latin typeface="Segoe UI"/>
                        </a:rPr>
                        <a:t>36/36</a:t>
                      </a:r>
                    </a:p>
                  </a:txBody>
                  <a:tcPr anchor="ctr" marL="91440" marR="73152" marT="27432" marB="27432">
                    <a:solidFill>
                      <a:srgbClr val="E0F2F7"/>
                    </a:solidFill>
                  </a:tcPr>
                </a:tc>
                <a:tc>
                  <a:txBody>
                    <a:bodyPr/>
                    <a:lstStyle/>
                    <a:p>
                      <a:pPr algn="ctr"/>
                      <a:r>
                        <a:rPr sz="1300" b="0">
                          <a:solidFill>
                            <a:srgbClr val="1F2937"/>
                          </a:solidFill>
                          <a:latin typeface="Segoe UI"/>
                        </a:rPr>
                        <a:t>100 %</a:t>
                      </a:r>
                    </a:p>
                  </a:txBody>
                  <a:tcPr anchor="ctr" marL="91440" marR="73152" marT="27432" marB="27432">
                    <a:solidFill>
                      <a:srgbClr val="E0F2F7"/>
                    </a:solidFill>
                  </a:tcPr>
                </a:tc>
                <a:tc>
                  <a:txBody>
                    <a:bodyPr/>
                    <a:lstStyle/>
                    <a:p>
                      <a:pPr algn="ctr"/>
                      <a:r>
                        <a:rPr sz="1300" b="0">
                          <a:solidFill>
                            <a:srgbClr val="1F2937"/>
                          </a:solidFill>
                          <a:latin typeface="Segoe UI"/>
                        </a:rPr>
                        <a:t>100 %</a:t>
                      </a:r>
                    </a:p>
                  </a:txBody>
                  <a:tcPr anchor="ctr" marL="91440" marR="73152" marT="27432" marB="27432">
                    <a:solidFill>
                      <a:srgbClr val="E0F2F7"/>
                    </a:solidFill>
                  </a:tcPr>
                </a:tc>
                <a:tc>
                  <a:txBody>
                    <a:bodyPr/>
                    <a:lstStyle/>
                    <a:p>
                      <a:pPr algn="ctr"/>
                      <a:r>
                        <a:rPr sz="1300" b="0">
                          <a:solidFill>
                            <a:srgbClr val="1F2937"/>
                          </a:solidFill>
                          <a:latin typeface="Segoe UI"/>
                        </a:rPr>
                        <a:t>100 %</a:t>
                      </a:r>
                    </a:p>
                  </a:txBody>
                  <a:tcPr anchor="ctr" marL="91440" marR="73152" marT="27432" marB="27432">
                    <a:solidFill>
                      <a:srgbClr val="E0F2F7"/>
                    </a:solidFill>
                  </a:tcPr>
                </a:tc>
                <a:tc>
                  <a:txBody>
                    <a:bodyPr/>
                    <a:lstStyle/>
                    <a:p>
                      <a:pPr algn="ctr"/>
                      <a:r>
                        <a:rPr sz="1300" b="0">
                          <a:solidFill>
                            <a:srgbClr val="1F2937"/>
                          </a:solidFill>
                          <a:latin typeface="Segoe UI"/>
                        </a:rPr>
                        <a:t>1,62 s</a:t>
                      </a:r>
                    </a:p>
                  </a:txBody>
                  <a:tcPr anchor="ctr" marL="91440" marR="73152" marT="27432" marB="27432">
                    <a:solidFill>
                      <a:srgbClr val="E0F2F7"/>
                    </a:solidFill>
                  </a:tcPr>
                </a:tc>
              </a:tr>
              <a:tr h="420624">
                <a:tc>
                  <a:txBody>
                    <a:bodyPr/>
                    <a:lstStyle/>
                    <a:p>
                      <a:pPr algn="l"/>
                      <a:r>
                        <a:rPr sz="1300" b="0">
                          <a:solidFill>
                            <a:srgbClr val="1F2937"/>
                          </a:solidFill>
                          <a:latin typeface="Segoe UI"/>
                        </a:rPr>
                        <a:t>openai/gpt-oss-20b   (étage 2)</a:t>
                      </a:r>
                    </a:p>
                  </a:txBody>
                  <a:tcPr anchor="ctr" marL="91440" marR="73152" marT="27432" marB="27432">
                    <a:solidFill>
                      <a:srgbClr val="F6F8FB"/>
                    </a:solidFill>
                  </a:tcPr>
                </a:tc>
                <a:tc>
                  <a:txBody>
                    <a:bodyPr/>
                    <a:lstStyle/>
                    <a:p>
                      <a:pPr algn="ctr"/>
                      <a:r>
                        <a:rPr sz="1300" b="0">
                          <a:solidFill>
                            <a:srgbClr val="1F2937"/>
                          </a:solidFill>
                          <a:latin typeface="Segoe UI"/>
                        </a:rPr>
                        <a:t>36/36</a:t>
                      </a:r>
                    </a:p>
                  </a:txBody>
                  <a:tcPr anchor="ctr" marL="91440" marR="73152" marT="27432" marB="27432">
                    <a:solidFill>
                      <a:srgbClr val="F6F8FB"/>
                    </a:solidFill>
                  </a:tcPr>
                </a:tc>
                <a:tc>
                  <a:txBody>
                    <a:bodyPr/>
                    <a:lstStyle/>
                    <a:p>
                      <a:pPr algn="ctr"/>
                      <a:r>
                        <a:rPr sz="1300" b="0">
                          <a:solidFill>
                            <a:srgbClr val="1F2937"/>
                          </a:solidFill>
                          <a:latin typeface="Segoe UI"/>
                        </a:rPr>
                        <a:t>88,2 %</a:t>
                      </a:r>
                    </a:p>
                  </a:txBody>
                  <a:tcPr anchor="ctr" marL="91440" marR="73152" marT="27432" marB="27432">
                    <a:solidFill>
                      <a:srgbClr val="F6F8FB"/>
                    </a:solidFill>
                  </a:tcPr>
                </a:tc>
                <a:tc>
                  <a:txBody>
                    <a:bodyPr/>
                    <a:lstStyle/>
                    <a:p>
                      <a:pPr algn="ctr"/>
                      <a:r>
                        <a:rPr sz="1300" b="0">
                          <a:solidFill>
                            <a:srgbClr val="1F2937"/>
                          </a:solidFill>
                          <a:latin typeface="Segoe UI"/>
                        </a:rPr>
                        <a:t>100 %</a:t>
                      </a:r>
                    </a:p>
                  </a:txBody>
                  <a:tcPr anchor="ctr" marL="91440" marR="73152" marT="27432" marB="27432">
                    <a:solidFill>
                      <a:srgbClr val="F6F8FB"/>
                    </a:solidFill>
                  </a:tcPr>
                </a:tc>
                <a:tc>
                  <a:txBody>
                    <a:bodyPr/>
                    <a:lstStyle/>
                    <a:p>
                      <a:pPr algn="ctr"/>
                      <a:r>
                        <a:rPr sz="1300" b="0">
                          <a:solidFill>
                            <a:srgbClr val="1F2937"/>
                          </a:solidFill>
                          <a:latin typeface="Segoe UI"/>
                        </a:rPr>
                        <a:t>75 %</a:t>
                      </a:r>
                    </a:p>
                  </a:txBody>
                  <a:tcPr anchor="ctr" marL="91440" marR="73152" marT="27432" marB="27432">
                    <a:solidFill>
                      <a:srgbClr val="F6F8FB"/>
                    </a:solidFill>
                  </a:tcPr>
                </a:tc>
                <a:tc>
                  <a:txBody>
                    <a:bodyPr/>
                    <a:lstStyle/>
                    <a:p>
                      <a:pPr algn="ctr"/>
                      <a:r>
                        <a:rPr sz="1300" b="0">
                          <a:solidFill>
                            <a:srgbClr val="1F2937"/>
                          </a:solidFill>
                          <a:latin typeface="Segoe UI"/>
                        </a:rPr>
                        <a:t>1,62 s</a:t>
                      </a:r>
                    </a:p>
                  </a:txBody>
                  <a:tcPr anchor="ctr" marL="91440" marR="73152" marT="27432" marB="27432">
                    <a:solidFill>
                      <a:srgbClr val="F6F8FB"/>
                    </a:solidFill>
                  </a:tcPr>
                </a:tc>
              </a:tr>
              <a:tr h="420624">
                <a:tc>
                  <a:txBody>
                    <a:bodyPr/>
                    <a:lstStyle/>
                    <a:p>
                      <a:pPr algn="l"/>
                      <a:r>
                        <a:rPr sz="1300" b="0">
                          <a:solidFill>
                            <a:srgbClr val="1F2937"/>
                          </a:solidFill>
                          <a:latin typeface="Segoe UI"/>
                        </a:rPr>
                        <a:t>qwen/qwen3.6-27b   (écarté)</a:t>
                      </a:r>
                    </a:p>
                  </a:txBody>
                  <a:tcPr anchor="ctr" marL="91440" marR="73152" marT="27432" marB="27432">
                    <a:solidFill>
                      <a:srgbClr val="FFFFFF"/>
                    </a:solidFill>
                  </a:tcPr>
                </a:tc>
                <a:tc>
                  <a:txBody>
                    <a:bodyPr/>
                    <a:lstStyle/>
                    <a:p>
                      <a:pPr algn="ctr"/>
                      <a:r>
                        <a:rPr sz="1300" b="0">
                          <a:solidFill>
                            <a:srgbClr val="1F2937"/>
                          </a:solidFill>
                          <a:latin typeface="Segoe UI"/>
                        </a:rPr>
                        <a:t>35/36</a:t>
                      </a:r>
                    </a:p>
                  </a:txBody>
                  <a:tcPr anchor="ctr" marL="91440" marR="73152" marT="27432" marB="27432">
                    <a:solidFill>
                      <a:srgbClr val="FFFFFF"/>
                    </a:solidFill>
                  </a:tcPr>
                </a:tc>
                <a:tc>
                  <a:txBody>
                    <a:bodyPr/>
                    <a:lstStyle/>
                    <a:p>
                      <a:pPr algn="ctr"/>
                      <a:r>
                        <a:rPr sz="1300" b="0">
                          <a:solidFill>
                            <a:srgbClr val="1F2937"/>
                          </a:solidFill>
                          <a:latin typeface="Segoe UI"/>
                        </a:rPr>
                        <a:t>47,1 %</a:t>
                      </a:r>
                    </a:p>
                  </a:txBody>
                  <a:tcPr anchor="ctr" marL="91440" marR="73152" marT="27432" marB="27432">
                    <a:solidFill>
                      <a:srgbClr val="FFFFFF"/>
                    </a:solidFill>
                  </a:tcPr>
                </a:tc>
                <a:tc>
                  <a:txBody>
                    <a:bodyPr/>
                    <a:lstStyle/>
                    <a:p>
                      <a:pPr algn="ctr"/>
                      <a:r>
                        <a:rPr sz="1300" b="0">
                          <a:solidFill>
                            <a:srgbClr val="1F2937"/>
                          </a:solidFill>
                          <a:latin typeface="Segoe UI"/>
                        </a:rPr>
                        <a:t>50 %</a:t>
                      </a:r>
                    </a:p>
                  </a:txBody>
                  <a:tcPr anchor="ctr" marL="91440" marR="73152" marT="27432" marB="27432">
                    <a:solidFill>
                      <a:srgbClr val="FFFFFF"/>
                    </a:solidFill>
                  </a:tcPr>
                </a:tc>
                <a:tc>
                  <a:txBody>
                    <a:bodyPr/>
                    <a:lstStyle/>
                    <a:p>
                      <a:pPr algn="ctr"/>
                      <a:r>
                        <a:rPr sz="1300" b="0">
                          <a:solidFill>
                            <a:srgbClr val="1F2937"/>
                          </a:solidFill>
                          <a:latin typeface="Segoe UI"/>
                        </a:rPr>
                        <a:t>100 %</a:t>
                      </a:r>
                    </a:p>
                  </a:txBody>
                  <a:tcPr anchor="ctr" marL="91440" marR="73152" marT="27432" marB="27432">
                    <a:solidFill>
                      <a:srgbClr val="FFFFFF"/>
                    </a:solidFill>
                  </a:tcPr>
                </a:tc>
                <a:tc>
                  <a:txBody>
                    <a:bodyPr/>
                    <a:lstStyle/>
                    <a:p>
                      <a:pPr algn="ctr"/>
                      <a:r>
                        <a:rPr sz="1300" b="0">
                          <a:solidFill>
                            <a:srgbClr val="1F2937"/>
                          </a:solidFill>
                          <a:latin typeface="Segoe UI"/>
                        </a:rPr>
                        <a:t>2,82 s</a:t>
                      </a:r>
                    </a:p>
                  </a:txBody>
                  <a:tcPr anchor="ctr" marL="91440" marR="73152" marT="27432" marB="27432">
                    <a:solidFill>
                      <a:srgbClr val="FFFFFF"/>
                    </a:solidFill>
                  </a:tcPr>
                </a:tc>
              </a:tr>
              <a:tr h="420624">
                <a:tc>
                  <a:txBody>
                    <a:bodyPr/>
                    <a:lstStyle/>
                    <a:p>
                      <a:pPr algn="l"/>
                      <a:r>
                        <a:rPr sz="1300" b="0">
                          <a:solidFill>
                            <a:srgbClr val="1F2937"/>
                          </a:solidFill>
                          <a:latin typeface="Segoe UI"/>
                        </a:rPr>
                        <a:t>gemini-flash-latest   (étage 3)</a:t>
                      </a:r>
                    </a:p>
                  </a:txBody>
                  <a:tcPr anchor="ctr" marL="91440" marR="73152" marT="27432" marB="27432">
                    <a:solidFill>
                      <a:srgbClr val="F6F8FB"/>
                    </a:solidFill>
                  </a:tcPr>
                </a:tc>
                <a:tc>
                  <a:txBody>
                    <a:bodyPr/>
                    <a:lstStyle/>
                    <a:p>
                      <a:pPr algn="ctr"/>
                      <a:r>
                        <a:rPr sz="1300" b="0">
                          <a:solidFill>
                            <a:srgbClr val="1F2937"/>
                          </a:solidFill>
                          <a:latin typeface="Segoe UI"/>
                        </a:rPr>
                        <a:t>10/36</a:t>
                      </a:r>
                    </a:p>
                  </a:txBody>
                  <a:tcPr anchor="ctr" marL="91440" marR="73152" marT="27432" marB="27432">
                    <a:solidFill>
                      <a:srgbClr val="F6F8FB"/>
                    </a:solidFill>
                  </a:tcPr>
                </a:tc>
                <a:tc>
                  <a:txBody>
                    <a:bodyPr/>
                    <a:lstStyle/>
                    <a:p>
                      <a:pPr algn="ctr"/>
                      <a:r>
                        <a:rPr sz="1300" b="0">
                          <a:solidFill>
                            <a:srgbClr val="1F2937"/>
                          </a:solidFill>
                          <a:latin typeface="Segoe UI"/>
                        </a:rPr>
                        <a:t>100 %</a:t>
                      </a:r>
                    </a:p>
                  </a:txBody>
                  <a:tcPr anchor="ctr" marL="91440" marR="73152" marT="27432" marB="27432">
                    <a:solidFill>
                      <a:srgbClr val="F6F8FB"/>
                    </a:solidFill>
                  </a:tcPr>
                </a:tc>
                <a:tc>
                  <a:txBody>
                    <a:bodyPr/>
                    <a:lstStyle/>
                    <a:p>
                      <a:pPr algn="ctr"/>
                      <a:r>
                        <a:rPr sz="1300" b="0">
                          <a:solidFill>
                            <a:srgbClr val="1F2937"/>
                          </a:solidFill>
                          <a:latin typeface="Segoe UI"/>
                        </a:rPr>
                        <a:t>—</a:t>
                      </a:r>
                    </a:p>
                  </a:txBody>
                  <a:tcPr anchor="ctr" marL="91440" marR="73152" marT="27432" marB="27432">
                    <a:solidFill>
                      <a:srgbClr val="F6F8FB"/>
                    </a:solidFill>
                  </a:tcPr>
                </a:tc>
                <a:tc>
                  <a:txBody>
                    <a:bodyPr/>
                    <a:lstStyle/>
                    <a:p>
                      <a:pPr algn="ctr"/>
                      <a:r>
                        <a:rPr sz="1300" b="0">
                          <a:solidFill>
                            <a:srgbClr val="1F2937"/>
                          </a:solidFill>
                          <a:latin typeface="Segoe UI"/>
                        </a:rPr>
                        <a:t>100 %</a:t>
                      </a:r>
                    </a:p>
                  </a:txBody>
                  <a:tcPr anchor="ctr" marL="91440" marR="73152" marT="27432" marB="27432">
                    <a:solidFill>
                      <a:srgbClr val="F6F8FB"/>
                    </a:solidFill>
                  </a:tcPr>
                </a:tc>
                <a:tc>
                  <a:txBody>
                    <a:bodyPr/>
                    <a:lstStyle/>
                    <a:p>
                      <a:pPr algn="ctr"/>
                      <a:r>
                        <a:rPr sz="1300" b="0">
                          <a:solidFill>
                            <a:srgbClr val="1F2937"/>
                          </a:solidFill>
                          <a:latin typeface="Segoe UI"/>
                        </a:rPr>
                        <a:t>11,08 s</a:t>
                      </a:r>
                    </a:p>
                  </a:txBody>
                  <a:tcPr anchor="ctr" marL="91440" marR="73152" marT="27432" marB="27432">
                    <a:solidFill>
                      <a:srgbClr val="F6F8FB"/>
                    </a:solidFill>
                  </a:tcPr>
                </a:tc>
              </a:tr>
              <a:tr h="420624">
                <a:tc>
                  <a:txBody>
                    <a:bodyPr/>
                    <a:lstStyle/>
                    <a:p>
                      <a:pPr algn="l"/>
                      <a:r>
                        <a:rPr sz="1300" b="0">
                          <a:solidFill>
                            <a:srgbClr val="1F2937"/>
                          </a:solidFill>
                          <a:latin typeface="Segoe UI"/>
                        </a:rPr>
                        <a:t>gemini-2.0-flash   (en production)</a:t>
                      </a:r>
                    </a:p>
                  </a:txBody>
                  <a:tcPr anchor="ctr" marL="91440" marR="73152" marT="27432" marB="27432">
                    <a:solidFill>
                      <a:srgbClr val="FFFFFF"/>
                    </a:solidFill>
                  </a:tcPr>
                </a:tc>
                <a:tc>
                  <a:txBody>
                    <a:bodyPr/>
                    <a:lstStyle/>
                    <a:p>
                      <a:pPr algn="ctr"/>
                      <a:r>
                        <a:rPr sz="1300" b="0">
                          <a:solidFill>
                            <a:srgbClr val="1F2937"/>
                          </a:solidFill>
                          <a:latin typeface="Segoe UI"/>
                        </a:rPr>
                        <a:t>0/36</a:t>
                      </a:r>
                    </a:p>
                  </a:txBody>
                  <a:tcPr anchor="ctr" marL="91440" marR="73152" marT="27432" marB="27432">
                    <a:solidFill>
                      <a:srgbClr val="FFFFFF"/>
                    </a:solidFill>
                  </a:tcPr>
                </a:tc>
                <a:tc>
                  <a:txBody>
                    <a:bodyPr/>
                    <a:lstStyle/>
                    <a:p>
                      <a:pPr algn="ctr"/>
                      <a:r>
                        <a:rPr sz="1300" b="0">
                          <a:solidFill>
                            <a:srgbClr val="1F2937"/>
                          </a:solidFill>
                          <a:latin typeface="Segoe UI"/>
                        </a:rPr>
                        <a:t>—</a:t>
                      </a:r>
                    </a:p>
                  </a:txBody>
                  <a:tcPr anchor="ctr" marL="91440" marR="73152" marT="27432" marB="27432">
                    <a:solidFill>
                      <a:srgbClr val="FFFFFF"/>
                    </a:solidFill>
                  </a:tcPr>
                </a:tc>
                <a:tc>
                  <a:txBody>
                    <a:bodyPr/>
                    <a:lstStyle/>
                    <a:p>
                      <a:pPr algn="ctr"/>
                      <a:r>
                        <a:rPr sz="1300" b="0">
                          <a:solidFill>
                            <a:srgbClr val="1F2937"/>
                          </a:solidFill>
                          <a:latin typeface="Segoe UI"/>
                        </a:rPr>
                        <a:t>—</a:t>
                      </a:r>
                    </a:p>
                  </a:txBody>
                  <a:tcPr anchor="ctr" marL="91440" marR="73152" marT="27432" marB="27432">
                    <a:solidFill>
                      <a:srgbClr val="FFFFFF"/>
                    </a:solidFill>
                  </a:tcPr>
                </a:tc>
                <a:tc>
                  <a:txBody>
                    <a:bodyPr/>
                    <a:lstStyle/>
                    <a:p>
                      <a:pPr algn="ctr"/>
                      <a:r>
                        <a:rPr sz="1300" b="0">
                          <a:solidFill>
                            <a:srgbClr val="1F2937"/>
                          </a:solidFill>
                          <a:latin typeface="Segoe UI"/>
                        </a:rPr>
                        <a:t>—</a:t>
                      </a:r>
                    </a:p>
                  </a:txBody>
                  <a:tcPr anchor="ctr" marL="91440" marR="73152" marT="27432" marB="27432">
                    <a:solidFill>
                      <a:srgbClr val="FFFFFF"/>
                    </a:solidFill>
                  </a:tcPr>
                </a:tc>
                <a:tc>
                  <a:txBody>
                    <a:bodyPr/>
                    <a:lstStyle/>
                    <a:p>
                      <a:pPr algn="ctr"/>
                      <a:r>
                        <a:rPr sz="1300" b="0">
                          <a:solidFill>
                            <a:srgbClr val="1F2937"/>
                          </a:solidFill>
                          <a:latin typeface="Segoe UI"/>
                        </a:rPr>
                        <a:t>404</a:t>
                      </a:r>
                    </a:p>
                  </a:txBody>
                  <a:tcPr anchor="ctr" marL="91440" marR="73152" marT="27432" marB="27432">
                    <a:solidFill>
                      <a:srgbClr val="FFFFFF"/>
                    </a:solidFill>
                  </a:tcPr>
                </a:tc>
              </a:tr>
            </a:tbl>
          </a:graphicData>
        </a:graphic>
      </p:graphicFrame>
      <p:sp>
        <p:nvSpPr>
          <p:cNvPr id="11" name="TextBox 10"/>
          <p:cNvSpPr txBox="1"/>
          <p:nvPr/>
        </p:nvSpPr>
        <p:spPr>
          <a:xfrm>
            <a:off x="566928" y="4892040"/>
            <a:ext cx="11064240" cy="320040"/>
          </a:xfrm>
          <a:prstGeom prst="rect">
            <a:avLst/>
          </a:prstGeom>
          <a:noFill/>
        </p:spPr>
        <p:txBody>
          <a:bodyPr wrap="square">
            <a:spAutoFit/>
          </a:bodyPr>
          <a:lstStyle/>
          <a:p>
            <a:pPr algn="l">
              <a:spcAft>
                <a:spcPts val="0"/>
              </a:spcAft>
            </a:pPr>
            <a:r>
              <a:rPr sz="1350" b="0" i="1">
                <a:solidFill>
                  <a:srgbClr val="64748B"/>
                </a:solidFill>
                <a:latin typeface="Segoe UI"/>
              </a:rPr>
              <a:t>6 catégories : opérationnelle · école · hors-sujet · injection de prompt · hors-portée · écriture</a:t>
            </a:r>
          </a:p>
        </p:txBody>
      </p:sp>
      <p:sp>
        <p:nvSpPr>
          <p:cNvPr id="12" name="Rectangle 11"/>
          <p:cNvSpPr/>
          <p:nvPr/>
        </p:nvSpPr>
        <p:spPr>
          <a:xfrm>
            <a:off x="566928" y="5303520"/>
            <a:ext cx="5394960" cy="123444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5422392"/>
            <a:ext cx="5029200" cy="292608"/>
          </a:xfrm>
          <a:prstGeom prst="rect">
            <a:avLst/>
          </a:prstGeom>
          <a:noFill/>
        </p:spPr>
        <p:txBody>
          <a:bodyPr wrap="square">
            <a:spAutoFit/>
          </a:bodyPr>
          <a:lstStyle/>
          <a:p>
            <a:pPr algn="l">
              <a:spcAft>
                <a:spcPts val="0"/>
              </a:spcAft>
            </a:pPr>
            <a:r>
              <a:rPr sz="1500" b="1" i="0">
                <a:solidFill>
                  <a:srgbClr val="0E7490"/>
                </a:solidFill>
                <a:latin typeface="Segoe UI"/>
              </a:rPr>
              <a:t>Le résultat le plus utile du tableau</a:t>
            </a:r>
          </a:p>
        </p:txBody>
      </p:sp>
      <p:sp>
        <p:nvSpPr>
          <p:cNvPr id="14" name="TextBox 13"/>
          <p:cNvSpPr txBox="1"/>
          <p:nvPr/>
        </p:nvSpPr>
        <p:spPr>
          <a:xfrm>
            <a:off x="768096" y="5779008"/>
            <a:ext cx="5010912" cy="685800"/>
          </a:xfrm>
          <a:prstGeom prst="rect">
            <a:avLst/>
          </a:prstGeom>
          <a:noFill/>
        </p:spPr>
        <p:txBody>
          <a:bodyPr wrap="square">
            <a:spAutoFit/>
          </a:bodyPr>
          <a:lstStyle/>
          <a:p>
            <a:pPr algn="l">
              <a:spcAft>
                <a:spcPts val="0"/>
              </a:spcAft>
            </a:pPr>
            <a:r>
              <a:rPr sz="1500" b="0" i="0">
                <a:solidFill>
                  <a:srgbClr val="1F2937"/>
                </a:solidFill>
                <a:latin typeface="Segoe UI"/>
              </a:rPr>
              <a:t>Le modèle de repli se dégrade spécifiquement en darija :
il redemande de quel enfant il s'agit au lieu de répondre.
Le premier étage compte donc surtout pour les familles
qui n'écrivent pas en français — le cœur de la cible.</a:t>
            </a:r>
          </a:p>
        </p:txBody>
      </p:sp>
      <p:sp>
        <p:nvSpPr>
          <p:cNvPr id="15" name="Rectangle 14"/>
          <p:cNvSpPr/>
          <p:nvPr/>
        </p:nvSpPr>
        <p:spPr>
          <a:xfrm>
            <a:off x="6236208" y="5303520"/>
            <a:ext cx="5394960" cy="123444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5422392"/>
            <a:ext cx="5029200" cy="292608"/>
          </a:xfrm>
          <a:prstGeom prst="rect">
            <a:avLst/>
          </a:prstGeom>
          <a:noFill/>
        </p:spPr>
        <p:txBody>
          <a:bodyPr wrap="square">
            <a:spAutoFit/>
          </a:bodyPr>
          <a:lstStyle/>
          <a:p>
            <a:pPr algn="l">
              <a:spcAft>
                <a:spcPts val="0"/>
              </a:spcAft>
            </a:pPr>
            <a:r>
              <a:rPr sz="1500" b="1" i="0">
                <a:solidFill>
                  <a:srgbClr val="B45309"/>
                </a:solidFill>
                <a:latin typeface="Segoe UI"/>
              </a:rPr>
              <a:t>Le benchmark a trouvé une panne de production</a:t>
            </a:r>
          </a:p>
        </p:txBody>
      </p:sp>
      <p:sp>
        <p:nvSpPr>
          <p:cNvPr id="17" name="TextBox 16"/>
          <p:cNvSpPr txBox="1"/>
          <p:nvPr/>
        </p:nvSpPr>
        <p:spPr>
          <a:xfrm>
            <a:off x="6437376" y="5779008"/>
            <a:ext cx="5010912" cy="685800"/>
          </a:xfrm>
          <a:prstGeom prst="rect">
            <a:avLst/>
          </a:prstGeom>
          <a:noFill/>
        </p:spPr>
        <p:txBody>
          <a:bodyPr wrap="square">
            <a:spAutoFit/>
          </a:bodyPr>
          <a:lstStyle/>
          <a:p>
            <a:pPr algn="l">
              <a:spcAft>
                <a:spcPts val="0"/>
              </a:spcAft>
            </a:pPr>
            <a:r>
              <a:rPr sz="1500" b="0" i="0">
                <a:solidFill>
                  <a:srgbClr val="1F2937"/>
                </a:solidFill>
                <a:latin typeface="Segoe UI"/>
              </a:rPr>
              <a:t>gemini-2.0-flash, dernier étage du repli, répondait 404
sur 36/36 : le modèle n'est plus servi. MS9 n'avait donc
plus aucun filet — invisible tant qu'un étage Groq répond.
Leçon : viser un alias, jamais une version figée.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VÉRIFICATION ET LIMITES</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Ce qui est vérifié, et ce qui ne l'est pas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Huit phases rejouables contre la stack en fonctionnement — puis ce que la mesure ne couvre pas.</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Bilan</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23</a:t>
            </a:r>
          </a:p>
        </p:txBody>
      </p:sp>
      <p:sp>
        <p:nvSpPr>
          <p:cNvPr id="10" name="Rectangle 9"/>
          <p:cNvSpPr/>
          <p:nvPr/>
        </p:nvSpPr>
        <p:spPr>
          <a:xfrm>
            <a:off x="566928" y="2103120"/>
            <a:ext cx="5394960" cy="3200400"/>
          </a:xfrm>
          <a:prstGeom prst="rect">
            <a:avLst/>
          </a:prstGeom>
          <a:solidFill>
            <a:srgbClr val="F6F8FB"/>
          </a:solidFill>
          <a:ln w="15875">
            <a:solidFill>
              <a:srgbClr val="156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31136"/>
            <a:ext cx="4937760" cy="320040"/>
          </a:xfrm>
          <a:prstGeom prst="rect">
            <a:avLst/>
          </a:prstGeom>
          <a:noFill/>
        </p:spPr>
        <p:txBody>
          <a:bodyPr wrap="square">
            <a:spAutoFit/>
          </a:bodyPr>
          <a:lstStyle/>
          <a:p>
            <a:pPr algn="l">
              <a:spcAft>
                <a:spcPts val="0"/>
              </a:spcAft>
            </a:pPr>
            <a:r>
              <a:rPr sz="1700" b="1" i="0">
                <a:solidFill>
                  <a:srgbClr val="156F3C"/>
                </a:solidFill>
                <a:latin typeface="Segoe UI"/>
              </a:rPr>
              <a:t>Mesuré, rejouable</a:t>
            </a:r>
          </a:p>
        </p:txBody>
      </p:sp>
      <p:sp>
        <p:nvSpPr>
          <p:cNvPr id="12" name="TextBox 11"/>
          <p:cNvSpPr txBox="1"/>
          <p:nvPr/>
        </p:nvSpPr>
        <p:spPr>
          <a:xfrm>
            <a:off x="822960" y="2633472"/>
            <a:ext cx="4023360" cy="292608"/>
          </a:xfrm>
          <a:prstGeom prst="rect">
            <a:avLst/>
          </a:prstGeom>
          <a:noFill/>
        </p:spPr>
        <p:txBody>
          <a:bodyPr wrap="square">
            <a:spAutoFit/>
          </a:bodyPr>
          <a:lstStyle/>
          <a:p>
            <a:pPr algn="l">
              <a:spcAft>
                <a:spcPts val="0"/>
              </a:spcAft>
            </a:pPr>
            <a:r>
              <a:rPr sz="1400" b="0" i="0">
                <a:solidFill>
                  <a:srgbClr val="1F2937"/>
                </a:solidFill>
                <a:latin typeface="Segoe UI"/>
              </a:rPr>
              <a:t>Newman  ·  API</a:t>
            </a:r>
          </a:p>
        </p:txBody>
      </p:sp>
      <p:sp>
        <p:nvSpPr>
          <p:cNvPr id="13" name="TextBox 12"/>
          <p:cNvSpPr txBox="1"/>
          <p:nvPr/>
        </p:nvSpPr>
        <p:spPr>
          <a:xfrm>
            <a:off x="4892040" y="2633472"/>
            <a:ext cx="914400" cy="292608"/>
          </a:xfrm>
          <a:prstGeom prst="rect">
            <a:avLst/>
          </a:prstGeom>
          <a:noFill/>
        </p:spPr>
        <p:txBody>
          <a:bodyPr wrap="square">
            <a:spAutoFit/>
          </a:bodyPr>
          <a:lstStyle/>
          <a:p>
            <a:pPr algn="r">
              <a:spcAft>
                <a:spcPts val="0"/>
              </a:spcAft>
            </a:pPr>
            <a:r>
              <a:rPr sz="1400" b="1" i="0">
                <a:solidFill>
                  <a:srgbClr val="156F3C"/>
                </a:solidFill>
                <a:latin typeface="Segoe UI"/>
              </a:rPr>
              <a:t>88/88</a:t>
            </a:r>
          </a:p>
        </p:txBody>
      </p:sp>
      <p:sp>
        <p:nvSpPr>
          <p:cNvPr id="14" name="TextBox 13"/>
          <p:cNvSpPr txBox="1"/>
          <p:nvPr/>
        </p:nvSpPr>
        <p:spPr>
          <a:xfrm>
            <a:off x="822960" y="2999232"/>
            <a:ext cx="4023360" cy="292608"/>
          </a:xfrm>
          <a:prstGeom prst="rect">
            <a:avLst/>
          </a:prstGeom>
          <a:noFill/>
        </p:spPr>
        <p:txBody>
          <a:bodyPr wrap="square">
            <a:spAutoFit/>
          </a:bodyPr>
          <a:lstStyle/>
          <a:p>
            <a:pPr algn="l">
              <a:spcAft>
                <a:spcPts val="0"/>
              </a:spcAft>
            </a:pPr>
            <a:r>
              <a:rPr sz="1400" b="0" i="0">
                <a:solidFill>
                  <a:srgbClr val="1F2937"/>
                </a:solidFill>
                <a:latin typeface="Segoe UI"/>
              </a:rPr>
              <a:t>Contrats HTTP + matrice RBAC</a:t>
            </a:r>
          </a:p>
        </p:txBody>
      </p:sp>
      <p:sp>
        <p:nvSpPr>
          <p:cNvPr id="15" name="TextBox 14"/>
          <p:cNvSpPr txBox="1"/>
          <p:nvPr/>
        </p:nvSpPr>
        <p:spPr>
          <a:xfrm>
            <a:off x="4892040" y="2999232"/>
            <a:ext cx="914400" cy="292608"/>
          </a:xfrm>
          <a:prstGeom prst="rect">
            <a:avLst/>
          </a:prstGeom>
          <a:noFill/>
        </p:spPr>
        <p:txBody>
          <a:bodyPr wrap="square">
            <a:spAutoFit/>
          </a:bodyPr>
          <a:lstStyle/>
          <a:p>
            <a:pPr algn="r">
              <a:spcAft>
                <a:spcPts val="0"/>
              </a:spcAft>
            </a:pPr>
            <a:r>
              <a:rPr sz="1400" b="1" i="0">
                <a:solidFill>
                  <a:srgbClr val="156F3C"/>
                </a:solidFill>
                <a:latin typeface="Segoe UI"/>
              </a:rPr>
              <a:t>67/67</a:t>
            </a:r>
          </a:p>
        </p:txBody>
      </p:sp>
      <p:sp>
        <p:nvSpPr>
          <p:cNvPr id="16" name="TextBox 15"/>
          <p:cNvSpPr txBox="1"/>
          <p:nvPr/>
        </p:nvSpPr>
        <p:spPr>
          <a:xfrm>
            <a:off x="822960" y="3364992"/>
            <a:ext cx="4023360" cy="292608"/>
          </a:xfrm>
          <a:prstGeom prst="rect">
            <a:avLst/>
          </a:prstGeom>
          <a:noFill/>
        </p:spPr>
        <p:txBody>
          <a:bodyPr wrap="square">
            <a:spAutoFit/>
          </a:bodyPr>
          <a:lstStyle/>
          <a:p>
            <a:pPr algn="l">
              <a:spcAft>
                <a:spcPts val="0"/>
              </a:spcAft>
            </a:pPr>
            <a:r>
              <a:rPr sz="1400" b="0" i="0">
                <a:solidFill>
                  <a:srgbClr val="1F2937"/>
                </a:solidFill>
                <a:latin typeface="Segoe UI"/>
              </a:rPr>
              <a:t>Scénarios acteur ↔ acteur</a:t>
            </a:r>
          </a:p>
        </p:txBody>
      </p:sp>
      <p:sp>
        <p:nvSpPr>
          <p:cNvPr id="17" name="TextBox 16"/>
          <p:cNvSpPr txBox="1"/>
          <p:nvPr/>
        </p:nvSpPr>
        <p:spPr>
          <a:xfrm>
            <a:off x="4892040" y="3364992"/>
            <a:ext cx="914400" cy="292608"/>
          </a:xfrm>
          <a:prstGeom prst="rect">
            <a:avLst/>
          </a:prstGeom>
          <a:noFill/>
        </p:spPr>
        <p:txBody>
          <a:bodyPr wrap="square">
            <a:spAutoFit/>
          </a:bodyPr>
          <a:lstStyle/>
          <a:p>
            <a:pPr algn="r">
              <a:spcAft>
                <a:spcPts val="0"/>
              </a:spcAft>
            </a:pPr>
            <a:r>
              <a:rPr sz="1400" b="1" i="0">
                <a:solidFill>
                  <a:srgbClr val="156F3C"/>
                </a:solidFill>
                <a:latin typeface="Segoe UI"/>
              </a:rPr>
              <a:t>39/39</a:t>
            </a:r>
          </a:p>
        </p:txBody>
      </p:sp>
      <p:sp>
        <p:nvSpPr>
          <p:cNvPr id="18" name="TextBox 17"/>
          <p:cNvSpPr txBox="1"/>
          <p:nvPr/>
        </p:nvSpPr>
        <p:spPr>
          <a:xfrm>
            <a:off x="822960" y="3730752"/>
            <a:ext cx="4023360" cy="292608"/>
          </a:xfrm>
          <a:prstGeom prst="rect">
            <a:avLst/>
          </a:prstGeom>
          <a:noFill/>
        </p:spPr>
        <p:txBody>
          <a:bodyPr wrap="square">
            <a:spAutoFit/>
          </a:bodyPr>
          <a:lstStyle/>
          <a:p>
            <a:pPr algn="l">
              <a:spcAft>
                <a:spcPts val="0"/>
              </a:spcAft>
            </a:pPr>
            <a:r>
              <a:rPr sz="1400" b="0" i="0">
                <a:solidFill>
                  <a:srgbClr val="1F2937"/>
                </a:solidFill>
                <a:latin typeface="Segoe UI"/>
              </a:rPr>
              <a:t>Justesse des 5 briques IA</a:t>
            </a:r>
          </a:p>
        </p:txBody>
      </p:sp>
      <p:sp>
        <p:nvSpPr>
          <p:cNvPr id="19" name="TextBox 18"/>
          <p:cNvSpPr txBox="1"/>
          <p:nvPr/>
        </p:nvSpPr>
        <p:spPr>
          <a:xfrm>
            <a:off x="4892040" y="3730752"/>
            <a:ext cx="914400" cy="292608"/>
          </a:xfrm>
          <a:prstGeom prst="rect">
            <a:avLst/>
          </a:prstGeom>
          <a:noFill/>
        </p:spPr>
        <p:txBody>
          <a:bodyPr wrap="square">
            <a:spAutoFit/>
          </a:bodyPr>
          <a:lstStyle/>
          <a:p>
            <a:pPr algn="r">
              <a:spcAft>
                <a:spcPts val="0"/>
              </a:spcAft>
            </a:pPr>
            <a:r>
              <a:rPr sz="1400" b="1" i="0">
                <a:solidFill>
                  <a:srgbClr val="156F3C"/>
                </a:solidFill>
                <a:latin typeface="Segoe UI"/>
              </a:rPr>
              <a:t>35/35</a:t>
            </a:r>
          </a:p>
        </p:txBody>
      </p:sp>
      <p:sp>
        <p:nvSpPr>
          <p:cNvPr id="20" name="TextBox 19"/>
          <p:cNvSpPr txBox="1"/>
          <p:nvPr/>
        </p:nvSpPr>
        <p:spPr>
          <a:xfrm>
            <a:off x="822960" y="4096512"/>
            <a:ext cx="4023360" cy="292608"/>
          </a:xfrm>
          <a:prstGeom prst="rect">
            <a:avLst/>
          </a:prstGeom>
          <a:noFill/>
        </p:spPr>
        <p:txBody>
          <a:bodyPr wrap="square">
            <a:spAutoFit/>
          </a:bodyPr>
          <a:lstStyle/>
          <a:p>
            <a:pPr algn="l">
              <a:spcAft>
                <a:spcPts val="0"/>
              </a:spcAft>
            </a:pPr>
            <a:r>
              <a:rPr sz="1400" b="0" i="0">
                <a:solidFill>
                  <a:srgbClr val="1F2937"/>
                </a:solidFill>
                <a:latin typeface="Segoe UI"/>
              </a:rPr>
              <a:t>Balayage Chrome  ·  27 routes × 3 rôles</a:t>
            </a:r>
          </a:p>
        </p:txBody>
      </p:sp>
      <p:sp>
        <p:nvSpPr>
          <p:cNvPr id="21" name="TextBox 20"/>
          <p:cNvSpPr txBox="1"/>
          <p:nvPr/>
        </p:nvSpPr>
        <p:spPr>
          <a:xfrm>
            <a:off x="4892040" y="4096512"/>
            <a:ext cx="914400" cy="292608"/>
          </a:xfrm>
          <a:prstGeom prst="rect">
            <a:avLst/>
          </a:prstGeom>
          <a:noFill/>
        </p:spPr>
        <p:txBody>
          <a:bodyPr wrap="square">
            <a:spAutoFit/>
          </a:bodyPr>
          <a:lstStyle/>
          <a:p>
            <a:pPr algn="r">
              <a:spcAft>
                <a:spcPts val="0"/>
              </a:spcAft>
            </a:pPr>
            <a:r>
              <a:rPr sz="1400" b="1" i="0">
                <a:solidFill>
                  <a:srgbClr val="156F3C"/>
                </a:solidFill>
                <a:latin typeface="Segoe UI"/>
              </a:rPr>
              <a:t>42/42</a:t>
            </a:r>
          </a:p>
        </p:txBody>
      </p:sp>
      <p:sp>
        <p:nvSpPr>
          <p:cNvPr id="22" name="TextBox 21"/>
          <p:cNvSpPr txBox="1"/>
          <p:nvPr/>
        </p:nvSpPr>
        <p:spPr>
          <a:xfrm>
            <a:off x="822960" y="4462272"/>
            <a:ext cx="4023360" cy="292608"/>
          </a:xfrm>
          <a:prstGeom prst="rect">
            <a:avLst/>
          </a:prstGeom>
          <a:noFill/>
        </p:spPr>
        <p:txBody>
          <a:bodyPr wrap="square">
            <a:spAutoFit/>
          </a:bodyPr>
          <a:lstStyle/>
          <a:p>
            <a:pPr algn="l">
              <a:spcAft>
                <a:spcPts val="0"/>
              </a:spcAft>
            </a:pPr>
            <a:r>
              <a:rPr sz="1400" b="0" i="0">
                <a:solidFill>
                  <a:srgbClr val="1F2937"/>
                </a:solidFill>
                <a:latin typeface="Segoe UI"/>
              </a:rPr>
              <a:t>Tests Flutter  ·  2 applications</a:t>
            </a:r>
          </a:p>
        </p:txBody>
      </p:sp>
      <p:sp>
        <p:nvSpPr>
          <p:cNvPr id="23" name="TextBox 22"/>
          <p:cNvSpPr txBox="1"/>
          <p:nvPr/>
        </p:nvSpPr>
        <p:spPr>
          <a:xfrm>
            <a:off x="4892040" y="4462272"/>
            <a:ext cx="914400" cy="292608"/>
          </a:xfrm>
          <a:prstGeom prst="rect">
            <a:avLst/>
          </a:prstGeom>
          <a:noFill/>
        </p:spPr>
        <p:txBody>
          <a:bodyPr wrap="square">
            <a:spAutoFit/>
          </a:bodyPr>
          <a:lstStyle/>
          <a:p>
            <a:pPr algn="r">
              <a:spcAft>
                <a:spcPts val="0"/>
              </a:spcAft>
            </a:pPr>
            <a:r>
              <a:rPr sz="1400" b="1" i="0">
                <a:solidFill>
                  <a:srgbClr val="156F3C"/>
                </a:solidFill>
                <a:latin typeface="Segoe UI"/>
              </a:rPr>
              <a:t>131</a:t>
            </a:r>
          </a:p>
        </p:txBody>
      </p:sp>
      <p:sp>
        <p:nvSpPr>
          <p:cNvPr id="24" name="TextBox 23"/>
          <p:cNvSpPr txBox="1"/>
          <p:nvPr/>
        </p:nvSpPr>
        <p:spPr>
          <a:xfrm>
            <a:off x="822960" y="4828032"/>
            <a:ext cx="4023360" cy="292608"/>
          </a:xfrm>
          <a:prstGeom prst="rect">
            <a:avLst/>
          </a:prstGeom>
          <a:noFill/>
        </p:spPr>
        <p:txBody>
          <a:bodyPr wrap="square">
            <a:spAutoFit/>
          </a:bodyPr>
          <a:lstStyle/>
          <a:p>
            <a:pPr algn="l">
              <a:spcAft>
                <a:spcPts val="0"/>
              </a:spcAft>
            </a:pPr>
            <a:r>
              <a:rPr sz="1400" b="0" i="0">
                <a:solidFill>
                  <a:srgbClr val="1F2937"/>
                </a:solidFill>
                <a:latin typeface="Segoe UI"/>
              </a:rPr>
              <a:t>Tests MS6  ·  stabilité et garde-fou</a:t>
            </a:r>
          </a:p>
        </p:txBody>
      </p:sp>
      <p:sp>
        <p:nvSpPr>
          <p:cNvPr id="25" name="TextBox 24"/>
          <p:cNvSpPr txBox="1"/>
          <p:nvPr/>
        </p:nvSpPr>
        <p:spPr>
          <a:xfrm>
            <a:off x="4892040" y="4828032"/>
            <a:ext cx="914400" cy="292608"/>
          </a:xfrm>
          <a:prstGeom prst="rect">
            <a:avLst/>
          </a:prstGeom>
          <a:noFill/>
        </p:spPr>
        <p:txBody>
          <a:bodyPr wrap="square">
            <a:spAutoFit/>
          </a:bodyPr>
          <a:lstStyle/>
          <a:p>
            <a:pPr algn="r">
              <a:spcAft>
                <a:spcPts val="0"/>
              </a:spcAft>
            </a:pPr>
            <a:r>
              <a:rPr sz="1400" b="1" i="0">
                <a:solidFill>
                  <a:srgbClr val="156F3C"/>
                </a:solidFill>
                <a:latin typeface="Segoe UI"/>
              </a:rPr>
              <a:t>75</a:t>
            </a:r>
          </a:p>
        </p:txBody>
      </p:sp>
      <p:sp>
        <p:nvSpPr>
          <p:cNvPr id="26" name="Rectangle 25"/>
          <p:cNvSpPr/>
          <p:nvPr/>
        </p:nvSpPr>
        <p:spPr>
          <a:xfrm>
            <a:off x="6236208" y="2103120"/>
            <a:ext cx="5394960" cy="3200400"/>
          </a:xfrm>
          <a:prstGeom prst="rect">
            <a:avLst/>
          </a:prstGeom>
          <a:solidFill>
            <a:srgbClr val="FDF3E3"/>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2231136"/>
            <a:ext cx="4937760" cy="320040"/>
          </a:xfrm>
          <a:prstGeom prst="rect">
            <a:avLst/>
          </a:prstGeom>
          <a:noFill/>
        </p:spPr>
        <p:txBody>
          <a:bodyPr wrap="square">
            <a:spAutoFit/>
          </a:bodyPr>
          <a:lstStyle/>
          <a:p>
            <a:pPr algn="l">
              <a:spcAft>
                <a:spcPts val="0"/>
              </a:spcAft>
            </a:pPr>
            <a:r>
              <a:rPr sz="1700" b="1" i="0">
                <a:solidFill>
                  <a:srgbClr val="B45309"/>
                </a:solidFill>
                <a:latin typeface="Segoe UI"/>
              </a:rPr>
              <a:t>Non couvert, assumé</a:t>
            </a:r>
          </a:p>
        </p:txBody>
      </p:sp>
      <p:sp>
        <p:nvSpPr>
          <p:cNvPr id="28" name="TextBox 27"/>
          <p:cNvSpPr txBox="1"/>
          <p:nvPr/>
        </p:nvSpPr>
        <p:spPr>
          <a:xfrm>
            <a:off x="6446520" y="2633472"/>
            <a:ext cx="4937760" cy="2651760"/>
          </a:xfrm>
          <a:prstGeom prst="rect">
            <a:avLst/>
          </a:prstGeom>
          <a:noFill/>
        </p:spPr>
        <p:txBody>
          <a:bodyPr wrap="square">
            <a:spAutoFit/>
          </a:bodyPr>
          <a:lstStyle/>
          <a:p>
            <a:pPr>
              <a:spcAft>
                <a:spcPts val="900"/>
              </a:spcAft>
            </a:pPr>
            <a:r>
              <a:rPr sz="1050">
                <a:solidFill>
                  <a:srgbClr val="0E7490"/>
                </a:solidFill>
                <a:latin typeface="Segoe UI"/>
              </a:rPr>
              <a:t>▪  </a:t>
            </a:r>
            <a:r>
              <a:rPr sz="1400" b="0">
                <a:solidFill>
                  <a:srgbClr val="1F2937"/>
                </a:solidFill>
                <a:latin typeface="Segoe UI"/>
              </a:rPr>
              <a:t>Aucune donnée terrain : MS11 et MS12 reposent sur des générateurs, une seule graine</a:t>
            </a:r>
          </a:p>
          <a:p>
            <a:pPr>
              <a:spcAft>
                <a:spcPts val="900"/>
              </a:spcAft>
            </a:pPr>
            <a:r>
              <a:rPr sz="1050">
                <a:solidFill>
                  <a:srgbClr val="0E7490"/>
                </a:solidFill>
                <a:latin typeface="Segoe UI"/>
              </a:rPr>
              <a:t>▪  </a:t>
            </a:r>
            <a:r>
              <a:rPr sz="1400" b="0">
                <a:solidFill>
                  <a:srgbClr val="1F2937"/>
                </a:solidFill>
                <a:latin typeface="Segoe UI"/>
              </a:rPr>
              <a:t>Une seule instance : 300 élèves, une école — pas de passage à l'échelle</a:t>
            </a:r>
          </a:p>
          <a:p>
            <a:pPr>
              <a:spcAft>
                <a:spcPts val="900"/>
              </a:spcAft>
            </a:pPr>
            <a:r>
              <a:rPr sz="1050">
                <a:solidFill>
                  <a:srgbClr val="0E7490"/>
                </a:solidFill>
                <a:latin typeface="Segoe UI"/>
              </a:rPr>
              <a:t>▪  </a:t>
            </a:r>
            <a:r>
              <a:rPr sz="1400" b="0">
                <a:solidFill>
                  <a:srgbClr val="1F2937"/>
                </a:solidFill>
                <a:latin typeface="Segoe UI"/>
              </a:rPr>
              <a:t>MS11 et MS12 n'ont aucun test unitaire</a:t>
            </a:r>
          </a:p>
          <a:p>
            <a:pPr>
              <a:spcAft>
                <a:spcPts val="900"/>
              </a:spcAft>
            </a:pPr>
            <a:r>
              <a:rPr sz="1050">
                <a:solidFill>
                  <a:srgbClr val="0E7490"/>
                </a:solidFill>
                <a:latin typeface="Segoe UI"/>
              </a:rPr>
              <a:t>▪  </a:t>
            </a:r>
            <a:r>
              <a:rPr sz="1400" b="0">
                <a:solidFill>
                  <a:srgbClr val="1F2937"/>
                </a:solidFill>
                <a:latin typeface="Segoe UI"/>
              </a:rPr>
              <a:t>mvn test n'exécute que 18 tests : 5 modules à skipTests</a:t>
            </a:r>
          </a:p>
          <a:p>
            <a:pPr>
              <a:spcAft>
                <a:spcPts val="900"/>
              </a:spcAft>
            </a:pPr>
            <a:r>
              <a:rPr sz="1050">
                <a:solidFill>
                  <a:srgbClr val="0E7490"/>
                </a:solidFill>
                <a:latin typeface="Segoe UI"/>
              </a:rPr>
              <a:t>▪  </a:t>
            </a:r>
            <a:r>
              <a:rPr sz="1400" b="0">
                <a:solidFill>
                  <a:srgbClr val="1F2937"/>
                </a:solidFill>
                <a:latin typeface="Segoe UI"/>
              </a:rPr>
              <a:t>WebSocket GPS non authentifié — dette identifiée, non traitée</a:t>
            </a:r>
          </a:p>
        </p:txBody>
      </p:sp>
      <p:sp>
        <p:nvSpPr>
          <p:cNvPr id="29" name="TextBox 28"/>
          <p:cNvSpPr txBox="1"/>
          <p:nvPr/>
        </p:nvSpPr>
        <p:spPr>
          <a:xfrm>
            <a:off x="566928" y="5504688"/>
            <a:ext cx="11064240" cy="320040"/>
          </a:xfrm>
          <a:prstGeom prst="rect">
            <a:avLst/>
          </a:prstGeom>
          <a:noFill/>
        </p:spPr>
        <p:txBody>
          <a:bodyPr wrap="square">
            <a:spAutoFit/>
          </a:bodyPr>
          <a:lstStyle/>
          <a:p>
            <a:pPr algn="l">
              <a:spcAft>
                <a:spcPts val="0"/>
              </a:spcAft>
            </a:pPr>
            <a:r>
              <a:rPr sz="1500" b="1" i="0">
                <a:solidFill>
                  <a:srgbClr val="0F2942"/>
                </a:solidFill>
                <a:latin typeface="Segoe UI"/>
              </a:rPr>
              <a:t>Perspectives</a:t>
            </a:r>
          </a:p>
        </p:txBody>
      </p:sp>
      <p:sp>
        <p:nvSpPr>
          <p:cNvPr id="30" name="Rectangle 29"/>
          <p:cNvSpPr/>
          <p:nvPr/>
        </p:nvSpPr>
        <p:spPr>
          <a:xfrm>
            <a:off x="566928" y="5833872"/>
            <a:ext cx="3520440" cy="74980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5897880"/>
            <a:ext cx="3246120" cy="274320"/>
          </a:xfrm>
          <a:prstGeom prst="rect">
            <a:avLst/>
          </a:prstGeom>
          <a:noFill/>
        </p:spPr>
        <p:txBody>
          <a:bodyPr wrap="square">
            <a:spAutoFit/>
          </a:bodyPr>
          <a:lstStyle/>
          <a:p>
            <a:pPr algn="l">
              <a:spcAft>
                <a:spcPts val="0"/>
              </a:spcAft>
            </a:pPr>
            <a:r>
              <a:rPr sz="1350" b="1" i="0">
                <a:solidFill>
                  <a:srgbClr val="0E7490"/>
                </a:solidFill>
                <a:latin typeface="Segoe UI"/>
              </a:rPr>
              <a:t>Confronter aux durées GPS réelles</a:t>
            </a:r>
          </a:p>
        </p:txBody>
      </p:sp>
      <p:sp>
        <p:nvSpPr>
          <p:cNvPr id="32" name="TextBox 31"/>
          <p:cNvSpPr txBox="1"/>
          <p:nvPr/>
        </p:nvSpPr>
        <p:spPr>
          <a:xfrm>
            <a:off x="713232" y="6172200"/>
            <a:ext cx="3291840" cy="365760"/>
          </a:xfrm>
          <a:prstGeom prst="rect">
            <a:avLst/>
          </a:prstGeom>
          <a:noFill/>
        </p:spPr>
        <p:txBody>
          <a:bodyPr wrap="square">
            <a:spAutoFit/>
          </a:bodyPr>
          <a:lstStyle/>
          <a:p>
            <a:pPr algn="l">
              <a:spcAft>
                <a:spcPts val="0"/>
              </a:spcAft>
            </a:pPr>
            <a:r>
              <a:rPr sz="1200" b="0" i="0">
                <a:solidFill>
                  <a:srgbClr val="64748B"/>
                </a:solidFill>
                <a:latin typeface="Segoe UI"/>
              </a:rPr>
              <a:t>réentraîner MS12 sur l'historique collecté par le système lui-même</a:t>
            </a:r>
          </a:p>
        </p:txBody>
      </p:sp>
      <p:sp>
        <p:nvSpPr>
          <p:cNvPr id="33" name="Rectangle 32"/>
          <p:cNvSpPr/>
          <p:nvPr/>
        </p:nvSpPr>
        <p:spPr>
          <a:xfrm>
            <a:off x="4315967" y="5833872"/>
            <a:ext cx="3520440" cy="74980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2271" y="5897880"/>
            <a:ext cx="3246120" cy="274320"/>
          </a:xfrm>
          <a:prstGeom prst="rect">
            <a:avLst/>
          </a:prstGeom>
          <a:noFill/>
        </p:spPr>
        <p:txBody>
          <a:bodyPr wrap="square">
            <a:spAutoFit/>
          </a:bodyPr>
          <a:lstStyle/>
          <a:p>
            <a:pPr algn="l">
              <a:spcAft>
                <a:spcPts val="0"/>
              </a:spcAft>
            </a:pPr>
            <a:r>
              <a:rPr sz="1350" b="1" i="0">
                <a:solidFill>
                  <a:srgbClr val="0E7490"/>
                </a:solidFill>
                <a:latin typeface="Segoe UI"/>
              </a:rPr>
              <a:t>Corriger la règle de déviation</a:t>
            </a:r>
          </a:p>
        </p:txBody>
      </p:sp>
      <p:sp>
        <p:nvSpPr>
          <p:cNvPr id="35" name="TextBox 34"/>
          <p:cNvSpPr txBox="1"/>
          <p:nvPr/>
        </p:nvSpPr>
        <p:spPr>
          <a:xfrm>
            <a:off x="4462271" y="6172200"/>
            <a:ext cx="3291840" cy="365760"/>
          </a:xfrm>
          <a:prstGeom prst="rect">
            <a:avLst/>
          </a:prstGeom>
          <a:noFill/>
        </p:spPr>
        <p:txBody>
          <a:bodyPr wrap="square">
            <a:spAutoFit/>
          </a:bodyPr>
          <a:lstStyle/>
          <a:p>
            <a:pPr algn="l">
              <a:spcAft>
                <a:spcPts val="0"/>
              </a:spcAft>
            </a:pPr>
            <a:r>
              <a:rPr sz="1200" b="0" i="0">
                <a:solidFill>
                  <a:srgbClr val="64748B"/>
                </a:solidFill>
                <a:latin typeface="Segoe UI"/>
              </a:rPr>
              <a:t>abscisse curviligne plutôt que distance au point le plus proche</a:t>
            </a:r>
          </a:p>
        </p:txBody>
      </p:sp>
      <p:sp>
        <p:nvSpPr>
          <p:cNvPr id="36" name="Rectangle 35"/>
          <p:cNvSpPr/>
          <p:nvPr/>
        </p:nvSpPr>
        <p:spPr>
          <a:xfrm>
            <a:off x="8065006" y="5833872"/>
            <a:ext cx="3520440" cy="749808"/>
          </a:xfrm>
          <a:prstGeom prst="rect">
            <a:avLst/>
          </a:prstGeom>
          <a:solidFill>
            <a:srgbClr val="F6F8FB"/>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11310" y="5897880"/>
            <a:ext cx="3246120" cy="274320"/>
          </a:xfrm>
          <a:prstGeom prst="rect">
            <a:avLst/>
          </a:prstGeom>
          <a:noFill/>
        </p:spPr>
        <p:txBody>
          <a:bodyPr wrap="square">
            <a:spAutoFit/>
          </a:bodyPr>
          <a:lstStyle/>
          <a:p>
            <a:pPr algn="l">
              <a:spcAft>
                <a:spcPts val="0"/>
              </a:spcAft>
            </a:pPr>
            <a:r>
              <a:rPr sz="1350" b="1" i="0">
                <a:solidFill>
                  <a:srgbClr val="0E7490"/>
                </a:solidFill>
                <a:latin typeface="Segoe UI"/>
              </a:rPr>
              <a:t>Réaffectation dynamique (UC-9)</a:t>
            </a:r>
          </a:p>
        </p:txBody>
      </p:sp>
      <p:sp>
        <p:nvSpPr>
          <p:cNvPr id="38" name="TextBox 37"/>
          <p:cNvSpPr txBox="1"/>
          <p:nvPr/>
        </p:nvSpPr>
        <p:spPr>
          <a:xfrm>
            <a:off x="8211310" y="6172200"/>
            <a:ext cx="3291840" cy="365760"/>
          </a:xfrm>
          <a:prstGeom prst="rect">
            <a:avLst/>
          </a:prstGeom>
          <a:noFill/>
        </p:spPr>
        <p:txBody>
          <a:bodyPr wrap="square">
            <a:spAutoFit/>
          </a:bodyPr>
          <a:lstStyle/>
          <a:p>
            <a:pPr algn="l">
              <a:spcAft>
                <a:spcPts val="0"/>
              </a:spcAft>
            </a:pPr>
            <a:r>
              <a:rPr sz="1200" b="0" i="0">
                <a:solidFill>
                  <a:srgbClr val="64748B"/>
                </a:solidFill>
                <a:latin typeface="Segoe UI"/>
              </a:rPr>
              <a:t>seule exigence du cahier des charges restée ouverte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04_groupes_production.png"/>
          <p:cNvPicPr>
            <a:picLocks noChangeAspect="1"/>
          </p:cNvPicPr>
          <p:nvPr/>
        </p:nvPicPr>
        <p:blipFill>
          <a:blip r:embed="rId2"/>
          <a:stretch>
            <a:fillRect/>
          </a:stretch>
        </p:blipFill>
        <p:spPr>
          <a:xfrm>
            <a:off x="6309360" y="1051560"/>
            <a:ext cx="5588380" cy="4663440"/>
          </a:xfrm>
          <a:prstGeom prst="rect">
            <a:avLst/>
          </a:prstGeom>
        </p:spPr>
      </p:pic>
      <p:sp>
        <p:nvSpPr>
          <p:cNvPr id="5" name="TextBox 4"/>
          <p:cNvSpPr txBox="1"/>
          <p:nvPr/>
        </p:nvSpPr>
        <p:spPr>
          <a:xfrm>
            <a:off x="960120" y="1828800"/>
            <a:ext cx="5029200" cy="914400"/>
          </a:xfrm>
          <a:prstGeom prst="rect">
            <a:avLst/>
          </a:prstGeom>
          <a:noFill/>
        </p:spPr>
        <p:txBody>
          <a:bodyPr wrap="square">
            <a:spAutoFit/>
          </a:bodyPr>
          <a:lstStyle/>
          <a:p>
            <a:pPr algn="l">
              <a:spcAft>
                <a:spcPts val="0"/>
              </a:spcAft>
            </a:pPr>
            <a:r>
              <a:rPr sz="4000" b="1" i="0">
                <a:solidFill>
                  <a:srgbClr val="FFFFFF"/>
                </a:solidFill>
                <a:latin typeface="Segoe UI"/>
              </a:rPr>
              <a:t>Merci de votre attention</a:t>
            </a:r>
          </a:p>
        </p:txBody>
      </p:sp>
      <p:sp>
        <p:nvSpPr>
          <p:cNvPr id="6" name="Rectangle 5"/>
          <p:cNvSpPr/>
          <p:nvPr/>
        </p:nvSpPr>
        <p:spPr>
          <a:xfrm>
            <a:off x="1005840" y="2880360"/>
            <a:ext cx="1371600" cy="3657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3200400"/>
            <a:ext cx="4846320" cy="1463040"/>
          </a:xfrm>
          <a:prstGeom prst="rect">
            <a:avLst/>
          </a:prstGeom>
          <a:noFill/>
        </p:spPr>
        <p:txBody>
          <a:bodyPr wrap="square">
            <a:spAutoFit/>
          </a:bodyPr>
          <a:lstStyle/>
          <a:p>
            <a:pPr algn="l">
              <a:spcAft>
                <a:spcPts val="0"/>
              </a:spcAft>
            </a:pPr>
            <a:r>
              <a:rPr sz="1800" b="0" i="0">
                <a:solidFill>
                  <a:srgbClr val="B9CEE0"/>
                </a:solidFill>
                <a:latin typeface="Segoe UI"/>
              </a:rPr>
              <a:t>300 élèves  ·  7 bus  ·  5 briques Data Science
en production, mesurées et rejouables.</a:t>
            </a:r>
          </a:p>
        </p:txBody>
      </p:sp>
      <p:sp>
        <p:nvSpPr>
          <p:cNvPr id="8" name="TextBox 7"/>
          <p:cNvSpPr txBox="1"/>
          <p:nvPr/>
        </p:nvSpPr>
        <p:spPr>
          <a:xfrm>
            <a:off x="987552" y="4846320"/>
            <a:ext cx="4846320" cy="822960"/>
          </a:xfrm>
          <a:prstGeom prst="rect">
            <a:avLst/>
          </a:prstGeom>
          <a:noFill/>
        </p:spPr>
        <p:txBody>
          <a:bodyPr wrap="square">
            <a:spAutoFit/>
          </a:bodyPr>
          <a:lstStyle/>
          <a:p>
            <a:pPr algn="l">
              <a:spcAft>
                <a:spcPts val="0"/>
              </a:spcAft>
            </a:pPr>
            <a:r>
              <a:rPr sz="2600" b="1" i="0">
                <a:solidFill>
                  <a:srgbClr val="0E7490"/>
                </a:solidFill>
                <a:latin typeface="Segoe UI"/>
              </a:rPr>
              <a:t>Questions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12191695" cy="822960"/>
          </a:xfrm>
          <a:prstGeom prst="rect">
            <a:avLst/>
          </a:prstGeom>
          <a:solidFill>
            <a:srgbClr val="0F2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00400"/>
            <a:ext cx="10972800" cy="457200"/>
          </a:xfrm>
          <a:prstGeom prst="rect">
            <a:avLst/>
          </a:prstGeom>
          <a:noFill/>
        </p:spPr>
        <p:txBody>
          <a:bodyPr wrap="square">
            <a:spAutoFit/>
          </a:bodyPr>
          <a:lstStyle/>
          <a:p>
            <a:pPr algn="l">
              <a:spcAft>
                <a:spcPts val="0"/>
              </a:spcAft>
            </a:pPr>
            <a:r>
              <a:rPr sz="2800" b="1" i="0">
                <a:solidFill>
                  <a:srgbClr val="FFFFFF"/>
                </a:solidFill>
                <a:latin typeface="Segoe UI"/>
              </a:rPr>
              <a:t>Annexes  ·  supports de réponse aux questions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ANNEXE A1</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MS12 — les 11 modèles, métriques complètes</a:t>
            </a:r>
          </a:p>
        </p:txBody>
      </p:sp>
      <p:sp>
        <p:nvSpPr>
          <p:cNvPr id="5" name="Rectangle 4"/>
          <p:cNvSpPr/>
          <p:nvPr/>
        </p:nvSpPr>
        <p:spPr>
          <a:xfrm>
            <a:off x="566928" y="1389888"/>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Annexes</a:t>
            </a:r>
          </a:p>
        </p:txBody>
      </p:sp>
      <p:sp>
        <p:nvSpPr>
          <p:cNvPr id="8" name="TextBox 7"/>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26</a:t>
            </a:r>
          </a:p>
        </p:txBody>
      </p:sp>
      <p:graphicFrame>
        <p:nvGraphicFramePr>
          <p:cNvPr id="9" name="Table 8"/>
          <p:cNvGraphicFramePr>
            <a:graphicFrameLocks noGrp="1"/>
          </p:cNvGraphicFramePr>
          <p:nvPr/>
        </p:nvGraphicFramePr>
        <p:xfrm>
          <a:off x="566928" y="1700784"/>
          <a:ext cx="11064237" cy="4480560"/>
        </p:xfrm>
        <a:graphic>
          <a:graphicData uri="http://schemas.openxmlformats.org/drawingml/2006/table">
            <a:tbl>
              <a:tblPr firstRow="1" bandRow="1">
                <a:tableStyleId>{5C22544A-7EE6-4342-B048-85BDC9FD1C3A}</a:tableStyleId>
              </a:tblPr>
              <a:tblGrid>
                <a:gridCol w="2473183"/>
                <a:gridCol w="1431842"/>
                <a:gridCol w="1301675"/>
                <a:gridCol w="1301675"/>
                <a:gridCol w="1301675"/>
                <a:gridCol w="1692177"/>
                <a:gridCol w="1562010"/>
              </a:tblGrid>
              <a:tr h="457200">
                <a:tc>
                  <a:txBody>
                    <a:bodyPr/>
                    <a:lstStyle/>
                    <a:p>
                      <a:pPr algn="l"/>
                      <a:r>
                        <a:rPr sz="1250" b="1">
                          <a:solidFill>
                            <a:srgbClr val="FFFFFF"/>
                          </a:solidFill>
                          <a:latin typeface="Segoe UI"/>
                        </a:rPr>
                        <a:t>Modèle</a:t>
                      </a:r>
                    </a:p>
                  </a:txBody>
                  <a:tcPr anchor="ctr" marL="91440" marR="73152" marT="27432" marB="27432">
                    <a:solidFill>
                      <a:srgbClr val="0F2942"/>
                    </a:solidFill>
                  </a:tcPr>
                </a:tc>
                <a:tc>
                  <a:txBody>
                    <a:bodyPr/>
                    <a:lstStyle/>
                    <a:p>
                      <a:pPr algn="ctr"/>
                      <a:r>
                        <a:rPr sz="1250" b="1">
                          <a:solidFill>
                            <a:srgbClr val="FFFFFF"/>
                          </a:solidFill>
                          <a:latin typeface="Segoe UI"/>
                        </a:rPr>
                        <a:t>MAE tous</a:t>
                      </a:r>
                    </a:p>
                  </a:txBody>
                  <a:tcPr anchor="ctr" marL="91440" marR="73152" marT="27432" marB="27432">
                    <a:solidFill>
                      <a:srgbClr val="0F2942"/>
                    </a:solidFill>
                  </a:tcPr>
                </a:tc>
                <a:tc>
                  <a:txBody>
                    <a:bodyPr/>
                    <a:lstStyle/>
                    <a:p>
                      <a:pPr algn="ctr"/>
                      <a:r>
                        <a:rPr sz="1250" b="1">
                          <a:solidFill>
                            <a:srgbClr val="FFFFFF"/>
                          </a:solidFill>
                          <a:latin typeface="Segoe UI"/>
                        </a:rPr>
                        <a:t>RMSE</a:t>
                      </a:r>
                    </a:p>
                  </a:txBody>
                  <a:tcPr anchor="ctr" marL="91440" marR="73152" marT="27432" marB="27432">
                    <a:solidFill>
                      <a:srgbClr val="0F2942"/>
                    </a:solidFill>
                  </a:tcPr>
                </a:tc>
                <a:tc>
                  <a:txBody>
                    <a:bodyPr/>
                    <a:lstStyle/>
                    <a:p>
                      <a:pPr algn="ctr"/>
                      <a:r>
                        <a:rPr sz="1250" b="1">
                          <a:solidFill>
                            <a:srgbClr val="FFFFFF"/>
                          </a:solidFill>
                          <a:latin typeface="Segoe UI"/>
                        </a:rPr>
                        <a:t>R² tous</a:t>
                      </a:r>
                    </a:p>
                  </a:txBody>
                  <a:tcPr anchor="ctr" marL="91440" marR="73152" marT="27432" marB="27432">
                    <a:solidFill>
                      <a:srgbClr val="0F2942"/>
                    </a:solidFill>
                  </a:tcPr>
                </a:tc>
                <a:tc>
                  <a:txBody>
                    <a:bodyPr/>
                    <a:lstStyle/>
                    <a:p>
                      <a:pPr algn="ctr"/>
                      <a:r>
                        <a:rPr sz="1250" b="1">
                          <a:solidFill>
                            <a:srgbClr val="FFFFFF"/>
                          </a:solidFill>
                          <a:latin typeface="Segoe UI"/>
                        </a:rPr>
                        <a:t>MAPE %</a:t>
                      </a:r>
                    </a:p>
                  </a:txBody>
                  <a:tcPr anchor="ctr" marL="91440" marR="73152" marT="27432" marB="27432">
                    <a:solidFill>
                      <a:srgbClr val="0F2942"/>
                    </a:solidFill>
                  </a:tcPr>
                </a:tc>
                <a:tc>
                  <a:txBody>
                    <a:bodyPr/>
                    <a:lstStyle/>
                    <a:p>
                      <a:pPr algn="ctr"/>
                      <a:r>
                        <a:rPr sz="1250" b="1">
                          <a:solidFill>
                            <a:srgbClr val="FFFFFF"/>
                          </a:solidFill>
                          <a:latin typeface="Segoe UI"/>
                        </a:rPr>
                        <a:t>MAE normaux</a:t>
                      </a:r>
                    </a:p>
                  </a:txBody>
                  <a:tcPr anchor="ctr" marL="91440" marR="73152" marT="27432" marB="27432">
                    <a:solidFill>
                      <a:srgbClr val="0F2942"/>
                    </a:solidFill>
                  </a:tcPr>
                </a:tc>
                <a:tc>
                  <a:txBody>
                    <a:bodyPr/>
                    <a:lstStyle/>
                    <a:p>
                      <a:pPr algn="ctr"/>
                      <a:r>
                        <a:rPr sz="1250" b="1">
                          <a:solidFill>
                            <a:srgbClr val="FFFFFF"/>
                          </a:solidFill>
                          <a:latin typeface="Segoe UI"/>
                        </a:rPr>
                        <a:t>R² normaux</a:t>
                      </a:r>
                    </a:p>
                  </a:txBody>
                  <a:tcPr anchor="ctr" marL="91440" marR="73152" marT="27432" marB="27432">
                    <a:solidFill>
                      <a:srgbClr val="0F2942"/>
                    </a:solidFill>
                  </a:tcPr>
                </a:tc>
              </a:tr>
              <a:tr h="365760">
                <a:tc>
                  <a:txBody>
                    <a:bodyPr/>
                    <a:lstStyle/>
                    <a:p>
                      <a:pPr algn="l"/>
                      <a:r>
                        <a:rPr sz="1250" b="1">
                          <a:solidFill>
                            <a:srgbClr val="1F2937"/>
                          </a:solidFill>
                          <a:latin typeface="Segoe UI"/>
                        </a:rPr>
                        <a:t>elasticnet</a:t>
                      </a:r>
                    </a:p>
                  </a:txBody>
                  <a:tcPr anchor="ctr" marL="91440" marR="73152" marT="27432" marB="27432">
                    <a:solidFill>
                      <a:srgbClr val="E0F2F7"/>
                    </a:solidFill>
                  </a:tcPr>
                </a:tc>
                <a:tc>
                  <a:txBody>
                    <a:bodyPr/>
                    <a:lstStyle/>
                    <a:p>
                      <a:pPr algn="ctr"/>
                      <a:r>
                        <a:rPr sz="1250" b="0">
                          <a:solidFill>
                            <a:srgbClr val="1F2937"/>
                          </a:solidFill>
                          <a:latin typeface="Segoe UI"/>
                        </a:rPr>
                        <a:t>1,3219</a:t>
                      </a:r>
                    </a:p>
                  </a:txBody>
                  <a:tcPr anchor="ctr" marL="91440" marR="73152" marT="27432" marB="27432">
                    <a:solidFill>
                      <a:srgbClr val="E0F2F7"/>
                    </a:solidFill>
                  </a:tcPr>
                </a:tc>
                <a:tc>
                  <a:txBody>
                    <a:bodyPr/>
                    <a:lstStyle/>
                    <a:p>
                      <a:pPr algn="ctr"/>
                      <a:r>
                        <a:rPr sz="1250" b="0">
                          <a:solidFill>
                            <a:srgbClr val="1F2937"/>
                          </a:solidFill>
                          <a:latin typeface="Segoe UI"/>
                        </a:rPr>
                        <a:t>5,6964</a:t>
                      </a:r>
                    </a:p>
                  </a:txBody>
                  <a:tcPr anchor="ctr" marL="91440" marR="73152" marT="27432" marB="27432">
                    <a:solidFill>
                      <a:srgbClr val="E0F2F7"/>
                    </a:solidFill>
                  </a:tcPr>
                </a:tc>
                <a:tc>
                  <a:txBody>
                    <a:bodyPr/>
                    <a:lstStyle/>
                    <a:p>
                      <a:pPr algn="ctr"/>
                      <a:r>
                        <a:rPr sz="1250" b="0">
                          <a:solidFill>
                            <a:srgbClr val="1F2937"/>
                          </a:solidFill>
                          <a:latin typeface="Segoe UI"/>
                        </a:rPr>
                        <a:t>0,1640</a:t>
                      </a:r>
                    </a:p>
                  </a:txBody>
                  <a:tcPr anchor="ctr" marL="91440" marR="73152" marT="27432" marB="27432">
                    <a:solidFill>
                      <a:srgbClr val="E0F2F7"/>
                    </a:solidFill>
                  </a:tcPr>
                </a:tc>
                <a:tc>
                  <a:txBody>
                    <a:bodyPr/>
                    <a:lstStyle/>
                    <a:p>
                      <a:pPr algn="ctr"/>
                      <a:r>
                        <a:rPr sz="1250" b="0">
                          <a:solidFill>
                            <a:srgbClr val="1F2937"/>
                          </a:solidFill>
                          <a:latin typeface="Segoe UI"/>
                        </a:rPr>
                        <a:t>15,94</a:t>
                      </a:r>
                    </a:p>
                  </a:txBody>
                  <a:tcPr anchor="ctr" marL="91440" marR="73152" marT="27432" marB="27432">
                    <a:solidFill>
                      <a:srgbClr val="E0F2F7"/>
                    </a:solidFill>
                  </a:tcPr>
                </a:tc>
                <a:tc>
                  <a:txBody>
                    <a:bodyPr/>
                    <a:lstStyle/>
                    <a:p>
                      <a:pPr algn="ctr"/>
                      <a:r>
                        <a:rPr sz="1250" b="0">
                          <a:solidFill>
                            <a:srgbClr val="1F2937"/>
                          </a:solidFill>
                          <a:latin typeface="Segoe UI"/>
                        </a:rPr>
                        <a:t>0,8590</a:t>
                      </a:r>
                    </a:p>
                  </a:txBody>
                  <a:tcPr anchor="ctr" marL="91440" marR="73152" marT="27432" marB="27432">
                    <a:solidFill>
                      <a:srgbClr val="E0F2F7"/>
                    </a:solidFill>
                  </a:tcPr>
                </a:tc>
                <a:tc>
                  <a:txBody>
                    <a:bodyPr/>
                    <a:lstStyle/>
                    <a:p>
                      <a:pPr algn="ctr"/>
                      <a:r>
                        <a:rPr sz="1250" b="0">
                          <a:solidFill>
                            <a:srgbClr val="1F2937"/>
                          </a:solidFill>
                          <a:latin typeface="Segoe UI"/>
                        </a:rPr>
                        <a:t>0,8195</a:t>
                      </a:r>
                    </a:p>
                  </a:txBody>
                  <a:tcPr anchor="ctr" marL="91440" marR="73152" marT="27432" marB="27432">
                    <a:solidFill>
                      <a:srgbClr val="E0F2F7"/>
                    </a:solidFill>
                  </a:tcPr>
                </a:tc>
              </a:tr>
              <a:tr h="365760">
                <a:tc>
                  <a:txBody>
                    <a:bodyPr/>
                    <a:lstStyle/>
                    <a:p>
                      <a:pPr algn="l"/>
                      <a:r>
                        <a:rPr sz="1250" b="0">
                          <a:solidFill>
                            <a:srgbClr val="1F2937"/>
                          </a:solidFill>
                          <a:latin typeface="Segoe UI"/>
                        </a:rPr>
                        <a:t>ridge</a:t>
                      </a:r>
                    </a:p>
                  </a:txBody>
                  <a:tcPr anchor="ctr" marL="91440" marR="73152" marT="27432" marB="27432">
                    <a:solidFill>
                      <a:srgbClr val="F6F8FB"/>
                    </a:solidFill>
                  </a:tcPr>
                </a:tc>
                <a:tc>
                  <a:txBody>
                    <a:bodyPr/>
                    <a:lstStyle/>
                    <a:p>
                      <a:pPr algn="ctr"/>
                      <a:r>
                        <a:rPr sz="1250" b="0">
                          <a:solidFill>
                            <a:srgbClr val="1F2937"/>
                          </a:solidFill>
                          <a:latin typeface="Segoe UI"/>
                        </a:rPr>
                        <a:t>1,3668</a:t>
                      </a:r>
                    </a:p>
                  </a:txBody>
                  <a:tcPr anchor="ctr" marL="91440" marR="73152" marT="27432" marB="27432">
                    <a:solidFill>
                      <a:srgbClr val="F6F8FB"/>
                    </a:solidFill>
                  </a:tcPr>
                </a:tc>
                <a:tc>
                  <a:txBody>
                    <a:bodyPr/>
                    <a:lstStyle/>
                    <a:p>
                      <a:pPr algn="ctr"/>
                      <a:r>
                        <a:rPr sz="1250" b="0">
                          <a:solidFill>
                            <a:srgbClr val="1F2937"/>
                          </a:solidFill>
                          <a:latin typeface="Segoe UI"/>
                        </a:rPr>
                        <a:t>5,7282</a:t>
                      </a:r>
                    </a:p>
                  </a:txBody>
                  <a:tcPr anchor="ctr" marL="91440" marR="73152" marT="27432" marB="27432">
                    <a:solidFill>
                      <a:srgbClr val="F6F8FB"/>
                    </a:solidFill>
                  </a:tcPr>
                </a:tc>
                <a:tc>
                  <a:txBody>
                    <a:bodyPr/>
                    <a:lstStyle/>
                    <a:p>
                      <a:pPr algn="ctr"/>
                      <a:r>
                        <a:rPr sz="1250" b="0">
                          <a:solidFill>
                            <a:srgbClr val="1F2937"/>
                          </a:solidFill>
                          <a:latin typeface="Segoe UI"/>
                        </a:rPr>
                        <a:t>0,1546</a:t>
                      </a:r>
                    </a:p>
                  </a:txBody>
                  <a:tcPr anchor="ctr" marL="91440" marR="73152" marT="27432" marB="27432">
                    <a:solidFill>
                      <a:srgbClr val="F6F8FB"/>
                    </a:solidFill>
                  </a:tcPr>
                </a:tc>
                <a:tc>
                  <a:txBody>
                    <a:bodyPr/>
                    <a:lstStyle/>
                    <a:p>
                      <a:pPr algn="ctr"/>
                      <a:r>
                        <a:rPr sz="1250" b="0">
                          <a:solidFill>
                            <a:srgbClr val="1F2937"/>
                          </a:solidFill>
                          <a:latin typeface="Segoe UI"/>
                        </a:rPr>
                        <a:t>16,83</a:t>
                      </a:r>
                    </a:p>
                  </a:txBody>
                  <a:tcPr anchor="ctr" marL="91440" marR="73152" marT="27432" marB="27432">
                    <a:solidFill>
                      <a:srgbClr val="F6F8FB"/>
                    </a:solidFill>
                  </a:tcPr>
                </a:tc>
                <a:tc>
                  <a:txBody>
                    <a:bodyPr/>
                    <a:lstStyle/>
                    <a:p>
                      <a:pPr algn="ctr"/>
                      <a:r>
                        <a:rPr sz="1250" b="0">
                          <a:solidFill>
                            <a:srgbClr val="1F2937"/>
                          </a:solidFill>
                          <a:latin typeface="Segoe UI"/>
                        </a:rPr>
                        <a:t>0,9014</a:t>
                      </a:r>
                    </a:p>
                  </a:txBody>
                  <a:tcPr anchor="ctr" marL="91440" marR="73152" marT="27432" marB="27432">
                    <a:solidFill>
                      <a:srgbClr val="F6F8FB"/>
                    </a:solidFill>
                  </a:tcPr>
                </a:tc>
                <a:tc>
                  <a:txBody>
                    <a:bodyPr/>
                    <a:lstStyle/>
                    <a:p>
                      <a:pPr algn="ctr"/>
                      <a:r>
                        <a:rPr sz="1250" b="0">
                          <a:solidFill>
                            <a:srgbClr val="1F2937"/>
                          </a:solidFill>
                          <a:latin typeface="Segoe UI"/>
                        </a:rPr>
                        <a:t>0,8064</a:t>
                      </a:r>
                    </a:p>
                  </a:txBody>
                  <a:tcPr anchor="ctr" marL="91440" marR="73152" marT="27432" marB="27432">
                    <a:solidFill>
                      <a:srgbClr val="F6F8FB"/>
                    </a:solidFill>
                  </a:tcPr>
                </a:tc>
              </a:tr>
              <a:tr h="365760">
                <a:tc>
                  <a:txBody>
                    <a:bodyPr/>
                    <a:lstStyle/>
                    <a:p>
                      <a:pPr algn="l"/>
                      <a:r>
                        <a:rPr sz="1250" b="0">
                          <a:solidFill>
                            <a:srgbClr val="1F2937"/>
                          </a:solidFill>
                          <a:latin typeface="Segoe UI"/>
                        </a:rPr>
                        <a:t>linear</a:t>
                      </a:r>
                    </a:p>
                  </a:txBody>
                  <a:tcPr anchor="ctr" marL="91440" marR="73152" marT="27432" marB="27432">
                    <a:solidFill>
                      <a:srgbClr val="FFFFFF"/>
                    </a:solidFill>
                  </a:tcPr>
                </a:tc>
                <a:tc>
                  <a:txBody>
                    <a:bodyPr/>
                    <a:lstStyle/>
                    <a:p>
                      <a:pPr algn="ctr"/>
                      <a:r>
                        <a:rPr sz="1250" b="0">
                          <a:solidFill>
                            <a:srgbClr val="1F2937"/>
                          </a:solidFill>
                          <a:latin typeface="Segoe UI"/>
                        </a:rPr>
                        <a:t>1,3672</a:t>
                      </a:r>
                    </a:p>
                  </a:txBody>
                  <a:tcPr anchor="ctr" marL="91440" marR="73152" marT="27432" marB="27432">
                    <a:solidFill>
                      <a:srgbClr val="FFFFFF"/>
                    </a:solidFill>
                  </a:tcPr>
                </a:tc>
                <a:tc>
                  <a:txBody>
                    <a:bodyPr/>
                    <a:lstStyle/>
                    <a:p>
                      <a:pPr algn="ctr"/>
                      <a:r>
                        <a:rPr sz="1250" b="0">
                          <a:solidFill>
                            <a:srgbClr val="1F2937"/>
                          </a:solidFill>
                          <a:latin typeface="Segoe UI"/>
                        </a:rPr>
                        <a:t>5,7291</a:t>
                      </a:r>
                    </a:p>
                  </a:txBody>
                  <a:tcPr anchor="ctr" marL="91440" marR="73152" marT="27432" marB="27432">
                    <a:solidFill>
                      <a:srgbClr val="FFFFFF"/>
                    </a:solidFill>
                  </a:tcPr>
                </a:tc>
                <a:tc>
                  <a:txBody>
                    <a:bodyPr/>
                    <a:lstStyle/>
                    <a:p>
                      <a:pPr algn="ctr"/>
                      <a:r>
                        <a:rPr sz="1250" b="0">
                          <a:solidFill>
                            <a:srgbClr val="1F2937"/>
                          </a:solidFill>
                          <a:latin typeface="Segoe UI"/>
                        </a:rPr>
                        <a:t>0,1543</a:t>
                      </a:r>
                    </a:p>
                  </a:txBody>
                  <a:tcPr anchor="ctr" marL="91440" marR="73152" marT="27432" marB="27432">
                    <a:solidFill>
                      <a:srgbClr val="FFFFFF"/>
                    </a:solidFill>
                  </a:tcPr>
                </a:tc>
                <a:tc>
                  <a:txBody>
                    <a:bodyPr/>
                    <a:lstStyle/>
                    <a:p>
                      <a:pPr algn="ctr"/>
                      <a:r>
                        <a:rPr sz="1250" b="0">
                          <a:solidFill>
                            <a:srgbClr val="1F2937"/>
                          </a:solidFill>
                          <a:latin typeface="Segoe UI"/>
                        </a:rPr>
                        <a:t>16,83</a:t>
                      </a:r>
                    </a:p>
                  </a:txBody>
                  <a:tcPr anchor="ctr" marL="91440" marR="73152" marT="27432" marB="27432">
                    <a:solidFill>
                      <a:srgbClr val="FFFFFF"/>
                    </a:solidFill>
                  </a:tcPr>
                </a:tc>
                <a:tc>
                  <a:txBody>
                    <a:bodyPr/>
                    <a:lstStyle/>
                    <a:p>
                      <a:pPr algn="ctr"/>
                      <a:r>
                        <a:rPr sz="1250" b="0">
                          <a:solidFill>
                            <a:srgbClr val="1F2937"/>
                          </a:solidFill>
                          <a:latin typeface="Segoe UI"/>
                        </a:rPr>
                        <a:t>0,9017</a:t>
                      </a:r>
                    </a:p>
                  </a:txBody>
                  <a:tcPr anchor="ctr" marL="91440" marR="73152" marT="27432" marB="27432">
                    <a:solidFill>
                      <a:srgbClr val="FFFFFF"/>
                    </a:solidFill>
                  </a:tcPr>
                </a:tc>
                <a:tc>
                  <a:txBody>
                    <a:bodyPr/>
                    <a:lstStyle/>
                    <a:p>
                      <a:pPr algn="ctr"/>
                      <a:r>
                        <a:rPr sz="1250" b="0">
                          <a:solidFill>
                            <a:srgbClr val="1F2937"/>
                          </a:solidFill>
                          <a:latin typeface="Segoe UI"/>
                        </a:rPr>
                        <a:t>0,8059</a:t>
                      </a:r>
                    </a:p>
                  </a:txBody>
                  <a:tcPr anchor="ctr" marL="91440" marR="73152" marT="27432" marB="27432">
                    <a:solidFill>
                      <a:srgbClr val="FFFFFF"/>
                    </a:solidFill>
                  </a:tcPr>
                </a:tc>
              </a:tr>
              <a:tr h="365760">
                <a:tc>
                  <a:txBody>
                    <a:bodyPr/>
                    <a:lstStyle/>
                    <a:p>
                      <a:pPr algn="l"/>
                      <a:r>
                        <a:rPr sz="1250" b="0">
                          <a:solidFill>
                            <a:srgbClr val="1F2937"/>
                          </a:solidFill>
                          <a:latin typeface="Segoe UI"/>
                        </a:rPr>
                        <a:t>knn</a:t>
                      </a:r>
                    </a:p>
                  </a:txBody>
                  <a:tcPr anchor="ctr" marL="91440" marR="73152" marT="27432" marB="27432">
                    <a:solidFill>
                      <a:srgbClr val="F6F8FB"/>
                    </a:solidFill>
                  </a:tcPr>
                </a:tc>
                <a:tc>
                  <a:txBody>
                    <a:bodyPr/>
                    <a:lstStyle/>
                    <a:p>
                      <a:pPr algn="ctr"/>
                      <a:r>
                        <a:rPr sz="1250" b="0">
                          <a:solidFill>
                            <a:srgbClr val="1F2937"/>
                          </a:solidFill>
                          <a:latin typeface="Segoe UI"/>
                        </a:rPr>
                        <a:t>1,4515</a:t>
                      </a:r>
                    </a:p>
                  </a:txBody>
                  <a:tcPr anchor="ctr" marL="91440" marR="73152" marT="27432" marB="27432">
                    <a:solidFill>
                      <a:srgbClr val="F6F8FB"/>
                    </a:solidFill>
                  </a:tcPr>
                </a:tc>
                <a:tc>
                  <a:txBody>
                    <a:bodyPr/>
                    <a:lstStyle/>
                    <a:p>
                      <a:pPr algn="ctr"/>
                      <a:r>
                        <a:rPr sz="1250" b="0">
                          <a:solidFill>
                            <a:srgbClr val="1F2937"/>
                          </a:solidFill>
                          <a:latin typeface="Segoe UI"/>
                        </a:rPr>
                        <a:t>5,6987</a:t>
                      </a:r>
                    </a:p>
                  </a:txBody>
                  <a:tcPr anchor="ctr" marL="91440" marR="73152" marT="27432" marB="27432">
                    <a:solidFill>
                      <a:srgbClr val="F6F8FB"/>
                    </a:solidFill>
                  </a:tcPr>
                </a:tc>
                <a:tc>
                  <a:txBody>
                    <a:bodyPr/>
                    <a:lstStyle/>
                    <a:p>
                      <a:pPr algn="ctr"/>
                      <a:r>
                        <a:rPr sz="1250" b="0">
                          <a:solidFill>
                            <a:srgbClr val="1F2937"/>
                          </a:solidFill>
                          <a:latin typeface="Segoe UI"/>
                        </a:rPr>
                        <a:t>0,1633</a:t>
                      </a:r>
                    </a:p>
                  </a:txBody>
                  <a:tcPr anchor="ctr" marL="91440" marR="73152" marT="27432" marB="27432">
                    <a:solidFill>
                      <a:srgbClr val="F6F8FB"/>
                    </a:solidFill>
                  </a:tcPr>
                </a:tc>
                <a:tc>
                  <a:txBody>
                    <a:bodyPr/>
                    <a:lstStyle/>
                    <a:p>
                      <a:pPr algn="ctr"/>
                      <a:r>
                        <a:rPr sz="1250" b="0">
                          <a:solidFill>
                            <a:srgbClr val="1F2937"/>
                          </a:solidFill>
                          <a:latin typeface="Segoe UI"/>
                        </a:rPr>
                        <a:t>18,24</a:t>
                      </a:r>
                    </a:p>
                  </a:txBody>
                  <a:tcPr anchor="ctr" marL="91440" marR="73152" marT="27432" marB="27432">
                    <a:solidFill>
                      <a:srgbClr val="F6F8FB"/>
                    </a:solidFill>
                  </a:tcPr>
                </a:tc>
                <a:tc>
                  <a:txBody>
                    <a:bodyPr/>
                    <a:lstStyle/>
                    <a:p>
                      <a:pPr algn="ctr"/>
                      <a:r>
                        <a:rPr sz="1250" b="0">
                          <a:solidFill>
                            <a:srgbClr val="1F2937"/>
                          </a:solidFill>
                          <a:latin typeface="Segoe UI"/>
                        </a:rPr>
                        <a:t>0,9966</a:t>
                      </a:r>
                    </a:p>
                  </a:txBody>
                  <a:tcPr anchor="ctr" marL="91440" marR="73152" marT="27432" marB="27432">
                    <a:solidFill>
                      <a:srgbClr val="F6F8FB"/>
                    </a:solidFill>
                  </a:tcPr>
                </a:tc>
                <a:tc>
                  <a:txBody>
                    <a:bodyPr/>
                    <a:lstStyle/>
                    <a:p>
                      <a:pPr algn="ctr"/>
                      <a:r>
                        <a:rPr sz="1250" b="0">
                          <a:solidFill>
                            <a:srgbClr val="1F2937"/>
                          </a:solidFill>
                          <a:latin typeface="Segoe UI"/>
                        </a:rPr>
                        <a:t>0,6217</a:t>
                      </a:r>
                    </a:p>
                  </a:txBody>
                  <a:tcPr anchor="ctr" marL="91440" marR="73152" marT="27432" marB="27432">
                    <a:solidFill>
                      <a:srgbClr val="F6F8FB"/>
                    </a:solidFill>
                  </a:tcPr>
                </a:tc>
              </a:tr>
              <a:tr h="365760">
                <a:tc>
                  <a:txBody>
                    <a:bodyPr/>
                    <a:lstStyle/>
                    <a:p>
                      <a:pPr algn="l"/>
                      <a:r>
                        <a:rPr sz="1250" b="0">
                          <a:solidFill>
                            <a:srgbClr val="1F2937"/>
                          </a:solidFill>
                          <a:latin typeface="Segoe UI"/>
                        </a:rPr>
                        <a:t>gradient_boosting</a:t>
                      </a:r>
                    </a:p>
                  </a:txBody>
                  <a:tcPr anchor="ctr" marL="91440" marR="73152" marT="27432" marB="27432">
                    <a:solidFill>
                      <a:srgbClr val="FFFFFF"/>
                    </a:solidFill>
                  </a:tcPr>
                </a:tc>
                <a:tc>
                  <a:txBody>
                    <a:bodyPr/>
                    <a:lstStyle/>
                    <a:p>
                      <a:pPr algn="ctr"/>
                      <a:r>
                        <a:rPr sz="1250" b="0">
                          <a:solidFill>
                            <a:srgbClr val="1F2937"/>
                          </a:solidFill>
                          <a:latin typeface="Segoe UI"/>
                        </a:rPr>
                        <a:t>1,4756</a:t>
                      </a:r>
                    </a:p>
                  </a:txBody>
                  <a:tcPr anchor="ctr" marL="91440" marR="73152" marT="27432" marB="27432">
                    <a:solidFill>
                      <a:srgbClr val="FFFFFF"/>
                    </a:solidFill>
                  </a:tcPr>
                </a:tc>
                <a:tc>
                  <a:txBody>
                    <a:bodyPr/>
                    <a:lstStyle/>
                    <a:p>
                      <a:pPr algn="ctr"/>
                      <a:r>
                        <a:rPr sz="1250" b="0">
                          <a:solidFill>
                            <a:srgbClr val="1F2937"/>
                          </a:solidFill>
                          <a:latin typeface="Segoe UI"/>
                        </a:rPr>
                        <a:t>5,9141</a:t>
                      </a:r>
                    </a:p>
                  </a:txBody>
                  <a:tcPr anchor="ctr" marL="91440" marR="73152" marT="27432" marB="27432">
                    <a:solidFill>
                      <a:srgbClr val="FFFFFF"/>
                    </a:solidFill>
                  </a:tcPr>
                </a:tc>
                <a:tc>
                  <a:txBody>
                    <a:bodyPr/>
                    <a:lstStyle/>
                    <a:p>
                      <a:pPr algn="ctr"/>
                      <a:r>
                        <a:rPr sz="1250" b="0">
                          <a:solidFill>
                            <a:srgbClr val="1F2937"/>
                          </a:solidFill>
                          <a:latin typeface="Segoe UI"/>
                        </a:rPr>
                        <a:t>0,0988</a:t>
                      </a:r>
                    </a:p>
                  </a:txBody>
                  <a:tcPr anchor="ctr" marL="91440" marR="73152" marT="27432" marB="27432">
                    <a:solidFill>
                      <a:srgbClr val="FFFFFF"/>
                    </a:solidFill>
                  </a:tcPr>
                </a:tc>
                <a:tc>
                  <a:txBody>
                    <a:bodyPr/>
                    <a:lstStyle/>
                    <a:p>
                      <a:pPr algn="ctr"/>
                      <a:r>
                        <a:rPr sz="1250" b="0">
                          <a:solidFill>
                            <a:srgbClr val="1F2937"/>
                          </a:solidFill>
                          <a:latin typeface="Segoe UI"/>
                        </a:rPr>
                        <a:t>20,40</a:t>
                      </a:r>
                    </a:p>
                  </a:txBody>
                  <a:tcPr anchor="ctr" marL="91440" marR="73152" marT="27432" marB="27432">
                    <a:solidFill>
                      <a:srgbClr val="FFFFFF"/>
                    </a:solidFill>
                  </a:tcPr>
                </a:tc>
                <a:tc>
                  <a:txBody>
                    <a:bodyPr/>
                    <a:lstStyle/>
                    <a:p>
                      <a:pPr algn="ctr"/>
                      <a:r>
                        <a:rPr sz="1250" b="0">
                          <a:solidFill>
                            <a:srgbClr val="1F2937"/>
                          </a:solidFill>
                          <a:latin typeface="Segoe UI"/>
                        </a:rPr>
                        <a:t>1,0140</a:t>
                      </a:r>
                    </a:p>
                  </a:txBody>
                  <a:tcPr anchor="ctr" marL="91440" marR="73152" marT="27432" marB="27432">
                    <a:solidFill>
                      <a:srgbClr val="FFFFFF"/>
                    </a:solidFill>
                  </a:tcPr>
                </a:tc>
                <a:tc>
                  <a:txBody>
                    <a:bodyPr/>
                    <a:lstStyle/>
                    <a:p>
                      <a:pPr algn="ctr"/>
                      <a:r>
                        <a:rPr sz="1250" b="0">
                          <a:solidFill>
                            <a:srgbClr val="1F2937"/>
                          </a:solidFill>
                          <a:latin typeface="Segoe UI"/>
                        </a:rPr>
                        <a:t>0,4457</a:t>
                      </a:r>
                    </a:p>
                  </a:txBody>
                  <a:tcPr anchor="ctr" marL="91440" marR="73152" marT="27432" marB="27432">
                    <a:solidFill>
                      <a:srgbClr val="FFFFFF"/>
                    </a:solidFill>
                  </a:tcPr>
                </a:tc>
              </a:tr>
              <a:tr h="365760">
                <a:tc>
                  <a:txBody>
                    <a:bodyPr/>
                    <a:lstStyle/>
                    <a:p>
                      <a:pPr algn="l"/>
                      <a:r>
                        <a:rPr sz="1250" b="0">
                          <a:solidFill>
                            <a:srgbClr val="1F2937"/>
                          </a:solidFill>
                          <a:latin typeface="Segoe UI"/>
                        </a:rPr>
                        <a:t>extra_trees</a:t>
                      </a:r>
                    </a:p>
                  </a:txBody>
                  <a:tcPr anchor="ctr" marL="91440" marR="73152" marT="27432" marB="27432">
                    <a:solidFill>
                      <a:srgbClr val="F6F8FB"/>
                    </a:solidFill>
                  </a:tcPr>
                </a:tc>
                <a:tc>
                  <a:txBody>
                    <a:bodyPr/>
                    <a:lstStyle/>
                    <a:p>
                      <a:pPr algn="ctr"/>
                      <a:r>
                        <a:rPr sz="1250" b="0">
                          <a:solidFill>
                            <a:srgbClr val="1F2937"/>
                          </a:solidFill>
                          <a:latin typeface="Segoe UI"/>
                        </a:rPr>
                        <a:t>1,5486</a:t>
                      </a:r>
                    </a:p>
                  </a:txBody>
                  <a:tcPr anchor="ctr" marL="91440" marR="73152" marT="27432" marB="27432">
                    <a:solidFill>
                      <a:srgbClr val="F6F8FB"/>
                    </a:solidFill>
                  </a:tcPr>
                </a:tc>
                <a:tc>
                  <a:txBody>
                    <a:bodyPr/>
                    <a:lstStyle/>
                    <a:p>
                      <a:pPr algn="ctr"/>
                      <a:r>
                        <a:rPr sz="1250" b="0">
                          <a:solidFill>
                            <a:srgbClr val="1F2937"/>
                          </a:solidFill>
                          <a:latin typeface="Segoe UI"/>
                        </a:rPr>
                        <a:t>6,6263</a:t>
                      </a:r>
                    </a:p>
                  </a:txBody>
                  <a:tcPr anchor="ctr" marL="91440" marR="73152" marT="27432" marB="27432">
                    <a:solidFill>
                      <a:srgbClr val="F6F8FB"/>
                    </a:solidFill>
                  </a:tcPr>
                </a:tc>
                <a:tc>
                  <a:txBody>
                    <a:bodyPr/>
                    <a:lstStyle/>
                    <a:p>
                      <a:pPr algn="ctr"/>
                      <a:r>
                        <a:rPr sz="1250" b="0">
                          <a:solidFill>
                            <a:srgbClr val="1F2937"/>
                          </a:solidFill>
                          <a:latin typeface="Segoe UI"/>
                        </a:rPr>
                        <a:t>−0,1313</a:t>
                      </a:r>
                    </a:p>
                  </a:txBody>
                  <a:tcPr anchor="ctr" marL="91440" marR="73152" marT="27432" marB="27432">
                    <a:solidFill>
                      <a:srgbClr val="F6F8FB"/>
                    </a:solidFill>
                  </a:tcPr>
                </a:tc>
                <a:tc>
                  <a:txBody>
                    <a:bodyPr/>
                    <a:lstStyle/>
                    <a:p>
                      <a:pPr algn="ctr"/>
                      <a:r>
                        <a:rPr sz="1250" b="0">
                          <a:solidFill>
                            <a:srgbClr val="1F2937"/>
                          </a:solidFill>
                          <a:latin typeface="Segoe UI"/>
                        </a:rPr>
                        <a:t>20,04</a:t>
                      </a:r>
                    </a:p>
                  </a:txBody>
                  <a:tcPr anchor="ctr" marL="91440" marR="73152" marT="27432" marB="27432">
                    <a:solidFill>
                      <a:srgbClr val="F6F8FB"/>
                    </a:solidFill>
                  </a:tcPr>
                </a:tc>
                <a:tc>
                  <a:txBody>
                    <a:bodyPr/>
                    <a:lstStyle/>
                    <a:p>
                      <a:pPr algn="ctr"/>
                      <a:r>
                        <a:rPr sz="1250" b="0">
                          <a:solidFill>
                            <a:srgbClr val="1F2937"/>
                          </a:solidFill>
                          <a:latin typeface="Segoe UI"/>
                        </a:rPr>
                        <a:t>1,0855</a:t>
                      </a:r>
                    </a:p>
                  </a:txBody>
                  <a:tcPr anchor="ctr" marL="91440" marR="73152" marT="27432" marB="27432">
                    <a:solidFill>
                      <a:srgbClr val="F6F8FB"/>
                    </a:solidFill>
                  </a:tcPr>
                </a:tc>
                <a:tc>
                  <a:txBody>
                    <a:bodyPr/>
                    <a:lstStyle/>
                    <a:p>
                      <a:pPr algn="ctr"/>
                      <a:r>
                        <a:rPr sz="1250" b="0">
                          <a:solidFill>
                            <a:srgbClr val="1F2937"/>
                          </a:solidFill>
                          <a:latin typeface="Segoe UI"/>
                        </a:rPr>
                        <a:t>−0,9223</a:t>
                      </a:r>
                    </a:p>
                  </a:txBody>
                  <a:tcPr anchor="ctr" marL="91440" marR="73152" marT="27432" marB="27432">
                    <a:solidFill>
                      <a:srgbClr val="F6F8FB"/>
                    </a:solidFill>
                  </a:tcPr>
                </a:tc>
              </a:tr>
              <a:tr h="365760">
                <a:tc>
                  <a:txBody>
                    <a:bodyPr/>
                    <a:lstStyle/>
                    <a:p>
                      <a:pPr algn="l"/>
                      <a:r>
                        <a:rPr sz="1250" b="0">
                          <a:solidFill>
                            <a:srgbClr val="1F2937"/>
                          </a:solidFill>
                          <a:latin typeface="Segoe UI"/>
                        </a:rPr>
                        <a:t>random_forest</a:t>
                      </a:r>
                    </a:p>
                  </a:txBody>
                  <a:tcPr anchor="ctr" marL="91440" marR="73152" marT="27432" marB="27432">
                    <a:solidFill>
                      <a:srgbClr val="FFFFFF"/>
                    </a:solidFill>
                  </a:tcPr>
                </a:tc>
                <a:tc>
                  <a:txBody>
                    <a:bodyPr/>
                    <a:lstStyle/>
                    <a:p>
                      <a:pPr algn="ctr"/>
                      <a:r>
                        <a:rPr sz="1250" b="0">
                          <a:solidFill>
                            <a:srgbClr val="1F2937"/>
                          </a:solidFill>
                          <a:latin typeface="Segoe UI"/>
                        </a:rPr>
                        <a:t>1,5666</a:t>
                      </a:r>
                    </a:p>
                  </a:txBody>
                  <a:tcPr anchor="ctr" marL="91440" marR="73152" marT="27432" marB="27432">
                    <a:solidFill>
                      <a:srgbClr val="FFFFFF"/>
                    </a:solidFill>
                  </a:tcPr>
                </a:tc>
                <a:tc>
                  <a:txBody>
                    <a:bodyPr/>
                    <a:lstStyle/>
                    <a:p>
                      <a:pPr algn="ctr"/>
                      <a:r>
                        <a:rPr sz="1250" b="0">
                          <a:solidFill>
                            <a:srgbClr val="1F2937"/>
                          </a:solidFill>
                          <a:latin typeface="Segoe UI"/>
                        </a:rPr>
                        <a:t>6,2653</a:t>
                      </a:r>
                    </a:p>
                  </a:txBody>
                  <a:tcPr anchor="ctr" marL="91440" marR="73152" marT="27432" marB="27432">
                    <a:solidFill>
                      <a:srgbClr val="FFFFFF"/>
                    </a:solidFill>
                  </a:tcPr>
                </a:tc>
                <a:tc>
                  <a:txBody>
                    <a:bodyPr/>
                    <a:lstStyle/>
                    <a:p>
                      <a:pPr algn="ctr"/>
                      <a:r>
                        <a:rPr sz="1250" b="0">
                          <a:solidFill>
                            <a:srgbClr val="1F2937"/>
                          </a:solidFill>
                          <a:latin typeface="Segoe UI"/>
                        </a:rPr>
                        <a:t>−0,0114</a:t>
                      </a:r>
                    </a:p>
                  </a:txBody>
                  <a:tcPr anchor="ctr" marL="91440" marR="73152" marT="27432" marB="27432">
                    <a:solidFill>
                      <a:srgbClr val="FFFFFF"/>
                    </a:solidFill>
                  </a:tcPr>
                </a:tc>
                <a:tc>
                  <a:txBody>
                    <a:bodyPr/>
                    <a:lstStyle/>
                    <a:p>
                      <a:pPr algn="ctr"/>
                      <a:r>
                        <a:rPr sz="1250" b="0">
                          <a:solidFill>
                            <a:srgbClr val="1F2937"/>
                          </a:solidFill>
                          <a:latin typeface="Segoe UI"/>
                        </a:rPr>
                        <a:t>20,33</a:t>
                      </a:r>
                    </a:p>
                  </a:txBody>
                  <a:tcPr anchor="ctr" marL="91440" marR="73152" marT="27432" marB="27432">
                    <a:solidFill>
                      <a:srgbClr val="FFFFFF"/>
                    </a:solidFill>
                  </a:tcPr>
                </a:tc>
                <a:tc>
                  <a:txBody>
                    <a:bodyPr/>
                    <a:lstStyle/>
                    <a:p>
                      <a:pPr algn="ctr"/>
                      <a:r>
                        <a:rPr sz="1250" b="0">
                          <a:solidFill>
                            <a:srgbClr val="1F2937"/>
                          </a:solidFill>
                          <a:latin typeface="Segoe UI"/>
                        </a:rPr>
                        <a:t>1,1015</a:t>
                      </a:r>
                    </a:p>
                  </a:txBody>
                  <a:tcPr anchor="ctr" marL="91440" marR="73152" marT="27432" marB="27432">
                    <a:solidFill>
                      <a:srgbClr val="FFFFFF"/>
                    </a:solidFill>
                  </a:tcPr>
                </a:tc>
                <a:tc>
                  <a:txBody>
                    <a:bodyPr/>
                    <a:lstStyle/>
                    <a:p>
                      <a:pPr algn="ctr"/>
                      <a:r>
                        <a:rPr sz="1250" b="0">
                          <a:solidFill>
                            <a:srgbClr val="1F2937"/>
                          </a:solidFill>
                          <a:latin typeface="Segoe UI"/>
                        </a:rPr>
                        <a:t>−0,1512</a:t>
                      </a:r>
                    </a:p>
                  </a:txBody>
                  <a:tcPr anchor="ctr" marL="91440" marR="73152" marT="27432" marB="27432">
                    <a:solidFill>
                      <a:srgbClr val="FFFFFF"/>
                    </a:solidFill>
                  </a:tcPr>
                </a:tc>
              </a:tr>
              <a:tr h="365760">
                <a:tc>
                  <a:txBody>
                    <a:bodyPr/>
                    <a:lstStyle/>
                    <a:p>
                      <a:pPr algn="l"/>
                      <a:r>
                        <a:rPr sz="1250" b="0">
                          <a:solidFill>
                            <a:srgbClr val="1F2937"/>
                          </a:solidFill>
                          <a:latin typeface="Segoe UI"/>
                        </a:rPr>
                        <a:t>xgboost</a:t>
                      </a:r>
                    </a:p>
                  </a:txBody>
                  <a:tcPr anchor="ctr" marL="91440" marR="73152" marT="27432" marB="27432">
                    <a:solidFill>
                      <a:srgbClr val="F6F8FB"/>
                    </a:solidFill>
                  </a:tcPr>
                </a:tc>
                <a:tc>
                  <a:txBody>
                    <a:bodyPr/>
                    <a:lstStyle/>
                    <a:p>
                      <a:pPr algn="ctr"/>
                      <a:r>
                        <a:rPr sz="1250" b="0">
                          <a:solidFill>
                            <a:srgbClr val="1F2937"/>
                          </a:solidFill>
                          <a:latin typeface="Segoe UI"/>
                        </a:rPr>
                        <a:t>1,6755</a:t>
                      </a:r>
                    </a:p>
                  </a:txBody>
                  <a:tcPr anchor="ctr" marL="91440" marR="73152" marT="27432" marB="27432">
                    <a:solidFill>
                      <a:srgbClr val="F6F8FB"/>
                    </a:solidFill>
                  </a:tcPr>
                </a:tc>
                <a:tc>
                  <a:txBody>
                    <a:bodyPr/>
                    <a:lstStyle/>
                    <a:p>
                      <a:pPr algn="ctr"/>
                      <a:r>
                        <a:rPr sz="1250" b="0">
                          <a:solidFill>
                            <a:srgbClr val="1F2937"/>
                          </a:solidFill>
                          <a:latin typeface="Segoe UI"/>
                        </a:rPr>
                        <a:t>6,3644</a:t>
                      </a:r>
                    </a:p>
                  </a:txBody>
                  <a:tcPr anchor="ctr" marL="91440" marR="73152" marT="27432" marB="27432">
                    <a:solidFill>
                      <a:srgbClr val="F6F8FB"/>
                    </a:solidFill>
                  </a:tcPr>
                </a:tc>
                <a:tc>
                  <a:txBody>
                    <a:bodyPr/>
                    <a:lstStyle/>
                    <a:p>
                      <a:pPr algn="ctr"/>
                      <a:r>
                        <a:rPr sz="1250" b="0">
                          <a:solidFill>
                            <a:srgbClr val="1F2937"/>
                          </a:solidFill>
                          <a:latin typeface="Segoe UI"/>
                        </a:rPr>
                        <a:t>−0,0436</a:t>
                      </a:r>
                    </a:p>
                  </a:txBody>
                  <a:tcPr anchor="ctr" marL="91440" marR="73152" marT="27432" marB="27432">
                    <a:solidFill>
                      <a:srgbClr val="F6F8FB"/>
                    </a:solidFill>
                  </a:tcPr>
                </a:tc>
                <a:tc>
                  <a:txBody>
                    <a:bodyPr/>
                    <a:lstStyle/>
                    <a:p>
                      <a:pPr algn="ctr"/>
                      <a:r>
                        <a:rPr sz="1250" b="0">
                          <a:solidFill>
                            <a:srgbClr val="1F2937"/>
                          </a:solidFill>
                          <a:latin typeface="Segoe UI"/>
                        </a:rPr>
                        <a:t>24,70</a:t>
                      </a:r>
                    </a:p>
                  </a:txBody>
                  <a:tcPr anchor="ctr" marL="91440" marR="73152" marT="27432" marB="27432">
                    <a:solidFill>
                      <a:srgbClr val="F6F8FB"/>
                    </a:solidFill>
                  </a:tcPr>
                </a:tc>
                <a:tc>
                  <a:txBody>
                    <a:bodyPr/>
                    <a:lstStyle/>
                    <a:p>
                      <a:pPr algn="ctr"/>
                      <a:r>
                        <a:rPr sz="1250" b="0">
                          <a:solidFill>
                            <a:srgbClr val="1F2937"/>
                          </a:solidFill>
                          <a:latin typeface="Segoe UI"/>
                        </a:rPr>
                        <a:t>1,2121</a:t>
                      </a:r>
                    </a:p>
                  </a:txBody>
                  <a:tcPr anchor="ctr" marL="91440" marR="73152" marT="27432" marB="27432">
                    <a:solidFill>
                      <a:srgbClr val="F6F8FB"/>
                    </a:solidFill>
                  </a:tcPr>
                </a:tc>
                <a:tc>
                  <a:txBody>
                    <a:bodyPr/>
                    <a:lstStyle/>
                    <a:p>
                      <a:pPr algn="ctr"/>
                      <a:r>
                        <a:rPr sz="1250" b="0">
                          <a:solidFill>
                            <a:srgbClr val="1F2937"/>
                          </a:solidFill>
                          <a:latin typeface="Segoe UI"/>
                        </a:rPr>
                        <a:t>−0,3606</a:t>
                      </a:r>
                    </a:p>
                  </a:txBody>
                  <a:tcPr anchor="ctr" marL="91440" marR="73152" marT="27432" marB="27432">
                    <a:solidFill>
                      <a:srgbClr val="F6F8FB"/>
                    </a:solidFill>
                  </a:tcPr>
                </a:tc>
              </a:tr>
              <a:tr h="365760">
                <a:tc>
                  <a:txBody>
                    <a:bodyPr/>
                    <a:lstStyle/>
                    <a:p>
                      <a:pPr algn="l"/>
                      <a:r>
                        <a:rPr sz="1250" b="0">
                          <a:solidFill>
                            <a:srgbClr val="1F2937"/>
                          </a:solidFill>
                          <a:latin typeface="Segoe UI"/>
                        </a:rPr>
                        <a:t>hist_gb</a:t>
                      </a:r>
                    </a:p>
                  </a:txBody>
                  <a:tcPr anchor="ctr" marL="91440" marR="73152" marT="27432" marB="27432">
                    <a:solidFill>
                      <a:srgbClr val="FFFFFF"/>
                    </a:solidFill>
                  </a:tcPr>
                </a:tc>
                <a:tc>
                  <a:txBody>
                    <a:bodyPr/>
                    <a:lstStyle/>
                    <a:p>
                      <a:pPr algn="ctr"/>
                      <a:r>
                        <a:rPr sz="1250" b="0">
                          <a:solidFill>
                            <a:srgbClr val="1F2937"/>
                          </a:solidFill>
                          <a:latin typeface="Segoe UI"/>
                        </a:rPr>
                        <a:t>1,7052</a:t>
                      </a:r>
                    </a:p>
                  </a:txBody>
                  <a:tcPr anchor="ctr" marL="91440" marR="73152" marT="27432" marB="27432">
                    <a:solidFill>
                      <a:srgbClr val="FFFFFF"/>
                    </a:solidFill>
                  </a:tcPr>
                </a:tc>
                <a:tc>
                  <a:txBody>
                    <a:bodyPr/>
                    <a:lstStyle/>
                    <a:p>
                      <a:pPr algn="ctr"/>
                      <a:r>
                        <a:rPr sz="1250" b="0">
                          <a:solidFill>
                            <a:srgbClr val="1F2937"/>
                          </a:solidFill>
                          <a:latin typeface="Segoe UI"/>
                        </a:rPr>
                        <a:t>5,9608</a:t>
                      </a:r>
                    </a:p>
                  </a:txBody>
                  <a:tcPr anchor="ctr" marL="91440" marR="73152" marT="27432" marB="27432">
                    <a:solidFill>
                      <a:srgbClr val="FFFFFF"/>
                    </a:solidFill>
                  </a:tcPr>
                </a:tc>
                <a:tc>
                  <a:txBody>
                    <a:bodyPr/>
                    <a:lstStyle/>
                    <a:p>
                      <a:pPr algn="ctr"/>
                      <a:r>
                        <a:rPr sz="1250" b="0">
                          <a:solidFill>
                            <a:srgbClr val="1F2937"/>
                          </a:solidFill>
                          <a:latin typeface="Segoe UI"/>
                        </a:rPr>
                        <a:t>0,0846</a:t>
                      </a:r>
                    </a:p>
                  </a:txBody>
                  <a:tcPr anchor="ctr" marL="91440" marR="73152" marT="27432" marB="27432">
                    <a:solidFill>
                      <a:srgbClr val="FFFFFF"/>
                    </a:solidFill>
                  </a:tcPr>
                </a:tc>
                <a:tc>
                  <a:txBody>
                    <a:bodyPr/>
                    <a:lstStyle/>
                    <a:p>
                      <a:pPr algn="ctr"/>
                      <a:r>
                        <a:rPr sz="1250" b="0">
                          <a:solidFill>
                            <a:srgbClr val="1F2937"/>
                          </a:solidFill>
                          <a:latin typeface="Segoe UI"/>
                        </a:rPr>
                        <a:t>24,27</a:t>
                      </a:r>
                    </a:p>
                  </a:txBody>
                  <a:tcPr anchor="ctr" marL="91440" marR="73152" marT="27432" marB="27432">
                    <a:solidFill>
                      <a:srgbClr val="FFFFFF"/>
                    </a:solidFill>
                  </a:tcPr>
                </a:tc>
                <a:tc>
                  <a:txBody>
                    <a:bodyPr/>
                    <a:lstStyle/>
                    <a:p>
                      <a:pPr algn="ctr"/>
                      <a:r>
                        <a:rPr sz="1250" b="0">
                          <a:solidFill>
                            <a:srgbClr val="1F2937"/>
                          </a:solidFill>
                          <a:latin typeface="Segoe UI"/>
                        </a:rPr>
                        <a:t>1,2450</a:t>
                      </a:r>
                    </a:p>
                  </a:txBody>
                  <a:tcPr anchor="ctr" marL="91440" marR="73152" marT="27432" marB="27432">
                    <a:solidFill>
                      <a:srgbClr val="FFFFFF"/>
                    </a:solidFill>
                  </a:tcPr>
                </a:tc>
                <a:tc>
                  <a:txBody>
                    <a:bodyPr/>
                    <a:lstStyle/>
                    <a:p>
                      <a:pPr algn="ctr"/>
                      <a:r>
                        <a:rPr sz="1250" b="0">
                          <a:solidFill>
                            <a:srgbClr val="1F2937"/>
                          </a:solidFill>
                          <a:latin typeface="Segoe UI"/>
                        </a:rPr>
                        <a:t>0,4248</a:t>
                      </a:r>
                    </a:p>
                  </a:txBody>
                  <a:tcPr anchor="ctr" marL="91440" marR="73152" marT="27432" marB="27432">
                    <a:solidFill>
                      <a:srgbClr val="FFFFFF"/>
                    </a:solidFill>
                  </a:tcPr>
                </a:tc>
              </a:tr>
              <a:tr h="365760">
                <a:tc>
                  <a:txBody>
                    <a:bodyPr/>
                    <a:lstStyle/>
                    <a:p>
                      <a:pPr algn="l"/>
                      <a:r>
                        <a:rPr sz="1250" b="0">
                          <a:solidFill>
                            <a:srgbClr val="1F2937"/>
                          </a:solidFill>
                          <a:latin typeface="Segoe UI"/>
                        </a:rPr>
                        <a:t>lightgbm</a:t>
                      </a:r>
                    </a:p>
                  </a:txBody>
                  <a:tcPr anchor="ctr" marL="91440" marR="73152" marT="27432" marB="27432">
                    <a:solidFill>
                      <a:srgbClr val="F6F8FB"/>
                    </a:solidFill>
                  </a:tcPr>
                </a:tc>
                <a:tc>
                  <a:txBody>
                    <a:bodyPr/>
                    <a:lstStyle/>
                    <a:p>
                      <a:pPr algn="ctr"/>
                      <a:r>
                        <a:rPr sz="1250" b="0">
                          <a:solidFill>
                            <a:srgbClr val="1F2937"/>
                          </a:solidFill>
                          <a:latin typeface="Segoe UI"/>
                        </a:rPr>
                        <a:t>1,9259</a:t>
                      </a:r>
                    </a:p>
                  </a:txBody>
                  <a:tcPr anchor="ctr" marL="91440" marR="73152" marT="27432" marB="27432">
                    <a:solidFill>
                      <a:srgbClr val="F6F8FB"/>
                    </a:solidFill>
                  </a:tcPr>
                </a:tc>
                <a:tc>
                  <a:txBody>
                    <a:bodyPr/>
                    <a:lstStyle/>
                    <a:p>
                      <a:pPr algn="ctr"/>
                      <a:r>
                        <a:rPr sz="1250" b="0">
                          <a:solidFill>
                            <a:srgbClr val="1F2937"/>
                          </a:solidFill>
                          <a:latin typeface="Segoe UI"/>
                        </a:rPr>
                        <a:t>6,1474</a:t>
                      </a:r>
                    </a:p>
                  </a:txBody>
                  <a:tcPr anchor="ctr" marL="91440" marR="73152" marT="27432" marB="27432">
                    <a:solidFill>
                      <a:srgbClr val="F6F8FB"/>
                    </a:solidFill>
                  </a:tcPr>
                </a:tc>
                <a:tc>
                  <a:txBody>
                    <a:bodyPr/>
                    <a:lstStyle/>
                    <a:p>
                      <a:pPr algn="ctr"/>
                      <a:r>
                        <a:rPr sz="1250" b="0">
                          <a:solidFill>
                            <a:srgbClr val="1F2937"/>
                          </a:solidFill>
                          <a:latin typeface="Segoe UI"/>
                        </a:rPr>
                        <a:t>0,0263</a:t>
                      </a:r>
                    </a:p>
                  </a:txBody>
                  <a:tcPr anchor="ctr" marL="91440" marR="73152" marT="27432" marB="27432">
                    <a:solidFill>
                      <a:srgbClr val="F6F8FB"/>
                    </a:solidFill>
                  </a:tcPr>
                </a:tc>
                <a:tc>
                  <a:txBody>
                    <a:bodyPr/>
                    <a:lstStyle/>
                    <a:p>
                      <a:pPr algn="ctr"/>
                      <a:r>
                        <a:rPr sz="1250" b="0">
                          <a:solidFill>
                            <a:srgbClr val="1F2937"/>
                          </a:solidFill>
                          <a:latin typeface="Segoe UI"/>
                        </a:rPr>
                        <a:t>28,43</a:t>
                      </a:r>
                    </a:p>
                  </a:txBody>
                  <a:tcPr anchor="ctr" marL="91440" marR="73152" marT="27432" marB="27432">
                    <a:solidFill>
                      <a:srgbClr val="F6F8FB"/>
                    </a:solidFill>
                  </a:tcPr>
                </a:tc>
                <a:tc>
                  <a:txBody>
                    <a:bodyPr/>
                    <a:lstStyle/>
                    <a:p>
                      <a:pPr algn="ctr"/>
                      <a:r>
                        <a:rPr sz="1250" b="0">
                          <a:solidFill>
                            <a:srgbClr val="1F2937"/>
                          </a:solidFill>
                          <a:latin typeface="Segoe UI"/>
                        </a:rPr>
                        <a:t>1,4670</a:t>
                      </a:r>
                    </a:p>
                  </a:txBody>
                  <a:tcPr anchor="ctr" marL="91440" marR="73152" marT="27432" marB="27432">
                    <a:solidFill>
                      <a:srgbClr val="F6F8FB"/>
                    </a:solidFill>
                  </a:tcPr>
                </a:tc>
                <a:tc>
                  <a:txBody>
                    <a:bodyPr/>
                    <a:lstStyle/>
                    <a:p>
                      <a:pPr algn="ctr"/>
                      <a:r>
                        <a:rPr sz="1250" b="0">
                          <a:solidFill>
                            <a:srgbClr val="1F2937"/>
                          </a:solidFill>
                          <a:latin typeface="Segoe UI"/>
                        </a:rPr>
                        <a:t>0,0851</a:t>
                      </a:r>
                    </a:p>
                  </a:txBody>
                  <a:tcPr anchor="ctr" marL="91440" marR="73152" marT="27432" marB="27432">
                    <a:solidFill>
                      <a:srgbClr val="F6F8FB"/>
                    </a:solidFill>
                  </a:tcPr>
                </a:tc>
              </a:tr>
              <a:tr h="365760">
                <a:tc>
                  <a:txBody>
                    <a:bodyPr/>
                    <a:lstStyle/>
                    <a:p>
                      <a:pPr algn="l"/>
                      <a:r>
                        <a:rPr sz="1250" b="0">
                          <a:solidFill>
                            <a:srgbClr val="1F2937"/>
                          </a:solidFill>
                          <a:latin typeface="Segoe UI"/>
                        </a:rPr>
                        <a:t>baseline_osrm</a:t>
                      </a:r>
                    </a:p>
                  </a:txBody>
                  <a:tcPr anchor="ctr" marL="91440" marR="73152" marT="27432" marB="27432">
                    <a:solidFill>
                      <a:srgbClr val="FFFFFF"/>
                    </a:solidFill>
                  </a:tcPr>
                </a:tc>
                <a:tc>
                  <a:txBody>
                    <a:bodyPr/>
                    <a:lstStyle/>
                    <a:p>
                      <a:pPr algn="ctr"/>
                      <a:r>
                        <a:rPr sz="1250" b="0">
                          <a:solidFill>
                            <a:srgbClr val="1F2937"/>
                          </a:solidFill>
                          <a:latin typeface="Segoe UI"/>
                        </a:rPr>
                        <a:t>2,7957</a:t>
                      </a:r>
                    </a:p>
                  </a:txBody>
                  <a:tcPr anchor="ctr" marL="91440" marR="73152" marT="27432" marB="27432">
                    <a:solidFill>
                      <a:srgbClr val="FFFFFF"/>
                    </a:solidFill>
                  </a:tcPr>
                </a:tc>
                <a:tc>
                  <a:txBody>
                    <a:bodyPr/>
                    <a:lstStyle/>
                    <a:p>
                      <a:pPr algn="ctr"/>
                      <a:r>
                        <a:rPr sz="1250" b="0">
                          <a:solidFill>
                            <a:srgbClr val="1F2937"/>
                          </a:solidFill>
                          <a:latin typeface="Segoe UI"/>
                        </a:rPr>
                        <a:t>6,4665</a:t>
                      </a:r>
                    </a:p>
                  </a:txBody>
                  <a:tcPr anchor="ctr" marL="91440" marR="73152" marT="27432" marB="27432">
                    <a:solidFill>
                      <a:srgbClr val="FFFFFF"/>
                    </a:solidFill>
                  </a:tcPr>
                </a:tc>
                <a:tc>
                  <a:txBody>
                    <a:bodyPr/>
                    <a:lstStyle/>
                    <a:p>
                      <a:pPr algn="ctr"/>
                      <a:r>
                        <a:rPr sz="1250" b="0">
                          <a:solidFill>
                            <a:srgbClr val="1F2937"/>
                          </a:solidFill>
                          <a:latin typeface="Segoe UI"/>
                        </a:rPr>
                        <a:t>−0,0774</a:t>
                      </a:r>
                    </a:p>
                  </a:txBody>
                  <a:tcPr anchor="ctr" marL="91440" marR="73152" marT="27432" marB="27432">
                    <a:solidFill>
                      <a:srgbClr val="FFFFFF"/>
                    </a:solidFill>
                  </a:tcPr>
                </a:tc>
                <a:tc>
                  <a:txBody>
                    <a:bodyPr/>
                    <a:lstStyle/>
                    <a:p>
                      <a:pPr algn="ctr"/>
                      <a:r>
                        <a:rPr sz="1250" b="0">
                          <a:solidFill>
                            <a:srgbClr val="1F2937"/>
                          </a:solidFill>
                          <a:latin typeface="Segoe UI"/>
                        </a:rPr>
                        <a:t>35,38</a:t>
                      </a:r>
                    </a:p>
                  </a:txBody>
                  <a:tcPr anchor="ctr" marL="91440" marR="73152" marT="27432" marB="27432">
                    <a:solidFill>
                      <a:srgbClr val="FFFFFF"/>
                    </a:solidFill>
                  </a:tcPr>
                </a:tc>
                <a:tc>
                  <a:txBody>
                    <a:bodyPr/>
                    <a:lstStyle/>
                    <a:p>
                      <a:pPr algn="ctr"/>
                      <a:r>
                        <a:rPr sz="1250" b="0">
                          <a:solidFill>
                            <a:srgbClr val="1F2937"/>
                          </a:solidFill>
                          <a:latin typeface="Segoe UI"/>
                        </a:rPr>
                        <a:t>2,3241</a:t>
                      </a:r>
                    </a:p>
                  </a:txBody>
                  <a:tcPr anchor="ctr" marL="91440" marR="73152" marT="27432" marB="27432">
                    <a:solidFill>
                      <a:srgbClr val="FFFFFF"/>
                    </a:solidFill>
                  </a:tcPr>
                </a:tc>
                <a:tc>
                  <a:txBody>
                    <a:bodyPr/>
                    <a:lstStyle/>
                    <a:p>
                      <a:pPr algn="ctr"/>
                      <a:r>
                        <a:rPr sz="1250" b="0">
                          <a:solidFill>
                            <a:srgbClr val="1F2937"/>
                          </a:solidFill>
                          <a:latin typeface="Segoe UI"/>
                        </a:rPr>
                        <a:t>−0,2521</a:t>
                      </a:r>
                    </a:p>
                  </a:txBody>
                  <a:tcPr anchor="ctr" marL="91440" marR="73152" marT="27432" marB="27432">
                    <a:solidFill>
                      <a:srgbClr val="FFFFFF"/>
                    </a:solidFill>
                  </a:tcPr>
                </a:tc>
              </a:tr>
            </a:tbl>
          </a:graphicData>
        </a:graphic>
      </p:graphicFrame>
      <p:sp>
        <p:nvSpPr>
          <p:cNvPr id="10" name="TextBox 9"/>
          <p:cNvSpPr txBox="1"/>
          <p:nvPr/>
        </p:nvSpPr>
        <p:spPr>
          <a:xfrm>
            <a:off x="566928" y="6409944"/>
            <a:ext cx="11064240" cy="731520"/>
          </a:xfrm>
          <a:prstGeom prst="rect">
            <a:avLst/>
          </a:prstGeom>
          <a:noFill/>
        </p:spPr>
        <p:txBody>
          <a:bodyPr wrap="square">
            <a:spAutoFit/>
          </a:bodyPr>
          <a:lstStyle/>
          <a:p>
            <a:pPr algn="l">
              <a:spcAft>
                <a:spcPts val="0"/>
              </a:spcAft>
            </a:pPr>
            <a:r>
              <a:rPr sz="1300" b="0" i="1">
                <a:solidFill>
                  <a:srgbClr val="64748B"/>
                </a:solidFill>
                <a:latin typeface="Segoe UI"/>
              </a:rPr>
              <a:t>Split temporel : 30 derniers jours d'école (720 observations de test). XGBoost réglé par RandomizedSearchCV atteint 1,3945 — toujours derrière ElasticNet.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ANNEXE A2</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MS11 — les 4 détecteurs et leur incertitude</a:t>
            </a:r>
          </a:p>
        </p:txBody>
      </p:sp>
      <p:sp>
        <p:nvSpPr>
          <p:cNvPr id="5" name="Rectangle 4"/>
          <p:cNvSpPr/>
          <p:nvPr/>
        </p:nvSpPr>
        <p:spPr>
          <a:xfrm>
            <a:off x="566928" y="1389888"/>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Annexes</a:t>
            </a:r>
          </a:p>
        </p:txBody>
      </p:sp>
      <p:sp>
        <p:nvSpPr>
          <p:cNvPr id="8" name="TextBox 7"/>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27</a:t>
            </a:r>
          </a:p>
        </p:txBody>
      </p:sp>
      <p:graphicFrame>
        <p:nvGraphicFramePr>
          <p:cNvPr id="9" name="Table 8"/>
          <p:cNvGraphicFramePr>
            <a:graphicFrameLocks noGrp="1"/>
          </p:cNvGraphicFramePr>
          <p:nvPr/>
        </p:nvGraphicFramePr>
        <p:xfrm>
          <a:off x="566928" y="1700784"/>
          <a:ext cx="11064235" cy="1920240"/>
        </p:xfrm>
        <a:graphic>
          <a:graphicData uri="http://schemas.openxmlformats.org/drawingml/2006/table">
            <a:tbl>
              <a:tblPr firstRow="1" bandRow="1">
                <a:tableStyleId>{5C22544A-7EE6-4342-B048-85BDC9FD1C3A}</a:tableStyleId>
              </a:tblPr>
              <a:tblGrid>
                <a:gridCol w="2965672"/>
                <a:gridCol w="1368771"/>
                <a:gridCol w="1254707"/>
                <a:gridCol w="2281286"/>
                <a:gridCol w="1026578"/>
                <a:gridCol w="1026578"/>
                <a:gridCol w="1140643"/>
              </a:tblGrid>
              <a:tr h="457200">
                <a:tc>
                  <a:txBody>
                    <a:bodyPr/>
                    <a:lstStyle/>
                    <a:p>
                      <a:pPr algn="l"/>
                      <a:r>
                        <a:rPr sz="1250" b="1">
                          <a:solidFill>
                            <a:srgbClr val="FFFFFF"/>
                          </a:solidFill>
                          <a:latin typeface="Segoe UI"/>
                        </a:rPr>
                        <a:t>Détecteur</a:t>
                      </a:r>
                    </a:p>
                  </a:txBody>
                  <a:tcPr anchor="ctr" marL="91440" marR="73152" marT="27432" marB="27432">
                    <a:solidFill>
                      <a:srgbClr val="0F2942"/>
                    </a:solidFill>
                  </a:tcPr>
                </a:tc>
                <a:tc>
                  <a:txBody>
                    <a:bodyPr/>
                    <a:lstStyle/>
                    <a:p>
                      <a:pPr algn="ctr"/>
                      <a:r>
                        <a:rPr sz="1250" b="1">
                          <a:solidFill>
                            <a:srgbClr val="FFFFFF"/>
                          </a:solidFill>
                          <a:latin typeface="Segoe UI"/>
                        </a:rPr>
                        <a:t>ROC-AUC</a:t>
                      </a:r>
                    </a:p>
                  </a:txBody>
                  <a:tcPr anchor="ctr" marL="91440" marR="73152" marT="27432" marB="27432">
                    <a:solidFill>
                      <a:srgbClr val="0F2942"/>
                    </a:solidFill>
                  </a:tcPr>
                </a:tc>
                <a:tc>
                  <a:txBody>
                    <a:bodyPr/>
                    <a:lstStyle/>
                    <a:p>
                      <a:pPr algn="ctr"/>
                      <a:r>
                        <a:rPr sz="1250" b="1">
                          <a:solidFill>
                            <a:srgbClr val="FFFFFF"/>
                          </a:solidFill>
                          <a:latin typeface="Segoe UI"/>
                        </a:rPr>
                        <a:t>PR-AUC</a:t>
                      </a:r>
                    </a:p>
                  </a:txBody>
                  <a:tcPr anchor="ctr" marL="91440" marR="73152" marT="27432" marB="27432">
                    <a:solidFill>
                      <a:srgbClr val="0F2942"/>
                    </a:solidFill>
                  </a:tcPr>
                </a:tc>
                <a:tc>
                  <a:txBody>
                    <a:bodyPr/>
                    <a:lstStyle/>
                    <a:p>
                      <a:pPr algn="ctr"/>
                      <a:r>
                        <a:rPr sz="1250" b="1">
                          <a:solidFill>
                            <a:srgbClr val="FFFFFF"/>
                          </a:solidFill>
                          <a:latin typeface="Segoe UI"/>
                        </a:rPr>
                        <a:t>IC 95 % bootstrap</a:t>
                      </a:r>
                    </a:p>
                  </a:txBody>
                  <a:tcPr anchor="ctr" marL="91440" marR="73152" marT="27432" marB="27432">
                    <a:solidFill>
                      <a:srgbClr val="0F2942"/>
                    </a:solidFill>
                  </a:tcPr>
                </a:tc>
                <a:tc>
                  <a:txBody>
                    <a:bodyPr/>
                    <a:lstStyle/>
                    <a:p>
                      <a:pPr algn="ctr"/>
                      <a:r>
                        <a:rPr sz="1250" b="1">
                          <a:solidFill>
                            <a:srgbClr val="FFFFFF"/>
                          </a:solidFill>
                          <a:latin typeface="Segoe UI"/>
                        </a:rPr>
                        <a:t>P</a:t>
                      </a:r>
                    </a:p>
                  </a:txBody>
                  <a:tcPr anchor="ctr" marL="91440" marR="73152" marT="27432" marB="27432">
                    <a:solidFill>
                      <a:srgbClr val="0F2942"/>
                    </a:solidFill>
                  </a:tcPr>
                </a:tc>
                <a:tc>
                  <a:txBody>
                    <a:bodyPr/>
                    <a:lstStyle/>
                    <a:p>
                      <a:pPr algn="ctr"/>
                      <a:r>
                        <a:rPr sz="1250" b="1">
                          <a:solidFill>
                            <a:srgbClr val="FFFFFF"/>
                          </a:solidFill>
                          <a:latin typeface="Segoe UI"/>
                        </a:rPr>
                        <a:t>R</a:t>
                      </a:r>
                    </a:p>
                  </a:txBody>
                  <a:tcPr anchor="ctr" marL="91440" marR="73152" marT="27432" marB="27432">
                    <a:solidFill>
                      <a:srgbClr val="0F2942"/>
                    </a:solidFill>
                  </a:tcPr>
                </a:tc>
                <a:tc>
                  <a:txBody>
                    <a:bodyPr/>
                    <a:lstStyle/>
                    <a:p>
                      <a:pPr algn="ctr"/>
                      <a:r>
                        <a:rPr sz="1250" b="1">
                          <a:solidFill>
                            <a:srgbClr val="FFFFFF"/>
                          </a:solidFill>
                          <a:latin typeface="Segoe UI"/>
                        </a:rPr>
                        <a:t>F1</a:t>
                      </a:r>
                    </a:p>
                  </a:txBody>
                  <a:tcPr anchor="ctr" marL="91440" marR="73152" marT="27432" marB="27432">
                    <a:solidFill>
                      <a:srgbClr val="0F2942"/>
                    </a:solidFill>
                  </a:tcPr>
                </a:tc>
              </a:tr>
              <a:tr h="365760">
                <a:tc>
                  <a:txBody>
                    <a:bodyPr/>
                    <a:lstStyle/>
                    <a:p>
                      <a:pPr algn="l"/>
                      <a:r>
                        <a:rPr sz="1250" b="1">
                          <a:solidFill>
                            <a:srgbClr val="1F2937"/>
                          </a:solidFill>
                          <a:latin typeface="Segoe UI"/>
                        </a:rPr>
                        <a:t>iforest_curated  (6 features)</a:t>
                      </a:r>
                    </a:p>
                  </a:txBody>
                  <a:tcPr anchor="ctr" marL="91440" marR="73152" marT="27432" marB="27432">
                    <a:solidFill>
                      <a:srgbClr val="E0F2F7"/>
                    </a:solidFill>
                  </a:tcPr>
                </a:tc>
                <a:tc>
                  <a:txBody>
                    <a:bodyPr/>
                    <a:lstStyle/>
                    <a:p>
                      <a:pPr algn="ctr"/>
                      <a:r>
                        <a:rPr sz="1250" b="0">
                          <a:solidFill>
                            <a:srgbClr val="1F2937"/>
                          </a:solidFill>
                          <a:latin typeface="Segoe UI"/>
                        </a:rPr>
                        <a:t>0,9988</a:t>
                      </a:r>
                    </a:p>
                  </a:txBody>
                  <a:tcPr anchor="ctr" marL="91440" marR="73152" marT="27432" marB="27432">
                    <a:solidFill>
                      <a:srgbClr val="E0F2F7"/>
                    </a:solidFill>
                  </a:tcPr>
                </a:tc>
                <a:tc>
                  <a:txBody>
                    <a:bodyPr/>
                    <a:lstStyle/>
                    <a:p>
                      <a:pPr algn="ctr"/>
                      <a:r>
                        <a:rPr sz="1250" b="0">
                          <a:solidFill>
                            <a:srgbClr val="1F2937"/>
                          </a:solidFill>
                          <a:latin typeface="Segoe UI"/>
                        </a:rPr>
                        <a:t>0,9127</a:t>
                      </a:r>
                    </a:p>
                  </a:txBody>
                  <a:tcPr anchor="ctr" marL="91440" marR="73152" marT="27432" marB="27432">
                    <a:solidFill>
                      <a:srgbClr val="E0F2F7"/>
                    </a:solidFill>
                  </a:tcPr>
                </a:tc>
                <a:tc>
                  <a:txBody>
                    <a:bodyPr/>
                    <a:lstStyle/>
                    <a:p>
                      <a:pPr algn="ctr"/>
                      <a:r>
                        <a:rPr sz="1250" b="0">
                          <a:solidFill>
                            <a:srgbClr val="1F2937"/>
                          </a:solidFill>
                          <a:latin typeface="Segoe UI"/>
                        </a:rPr>
                        <a:t>[0,7222 ; 1,0]</a:t>
                      </a:r>
                    </a:p>
                  </a:txBody>
                  <a:tcPr anchor="ctr" marL="91440" marR="73152" marT="27432" marB="27432">
                    <a:solidFill>
                      <a:srgbClr val="E0F2F7"/>
                    </a:solidFill>
                  </a:tcPr>
                </a:tc>
                <a:tc>
                  <a:txBody>
                    <a:bodyPr/>
                    <a:lstStyle/>
                    <a:p>
                      <a:pPr algn="ctr"/>
                      <a:r>
                        <a:rPr sz="1250" b="0">
                          <a:solidFill>
                            <a:srgbClr val="1F2937"/>
                          </a:solidFill>
                          <a:latin typeface="Segoe UI"/>
                        </a:rPr>
                        <a:t>0,700</a:t>
                      </a:r>
                    </a:p>
                  </a:txBody>
                  <a:tcPr anchor="ctr" marL="91440" marR="73152" marT="27432" marB="27432">
                    <a:solidFill>
                      <a:srgbClr val="E0F2F7"/>
                    </a:solidFill>
                  </a:tcPr>
                </a:tc>
                <a:tc>
                  <a:txBody>
                    <a:bodyPr/>
                    <a:lstStyle/>
                    <a:p>
                      <a:pPr algn="ctr"/>
                      <a:r>
                        <a:rPr sz="1250" b="0">
                          <a:solidFill>
                            <a:srgbClr val="1F2937"/>
                          </a:solidFill>
                          <a:latin typeface="Segoe UI"/>
                        </a:rPr>
                        <a:t>0,875</a:t>
                      </a:r>
                    </a:p>
                  </a:txBody>
                  <a:tcPr anchor="ctr" marL="91440" marR="73152" marT="27432" marB="27432">
                    <a:solidFill>
                      <a:srgbClr val="E0F2F7"/>
                    </a:solidFill>
                  </a:tcPr>
                </a:tc>
                <a:tc>
                  <a:txBody>
                    <a:bodyPr/>
                    <a:lstStyle/>
                    <a:p>
                      <a:pPr algn="ctr"/>
                      <a:r>
                        <a:rPr sz="1250" b="0">
                          <a:solidFill>
                            <a:srgbClr val="1F2937"/>
                          </a:solidFill>
                          <a:latin typeface="Segoe UI"/>
                        </a:rPr>
                        <a:t>0,7778</a:t>
                      </a:r>
                    </a:p>
                  </a:txBody>
                  <a:tcPr anchor="ctr" marL="91440" marR="73152" marT="27432" marB="27432">
                    <a:solidFill>
                      <a:srgbClr val="E0F2F7"/>
                    </a:solidFill>
                  </a:tcPr>
                </a:tc>
              </a:tr>
              <a:tr h="365760">
                <a:tc>
                  <a:txBody>
                    <a:bodyPr/>
                    <a:lstStyle/>
                    <a:p>
                      <a:pPr algn="l"/>
                      <a:r>
                        <a:rPr sz="1250" b="0">
                          <a:solidFill>
                            <a:srgbClr val="1F2937"/>
                          </a:solidFill>
                          <a:latin typeface="Segoe UI"/>
                        </a:rPr>
                        <a:t>seuil_surprise</a:t>
                      </a:r>
                    </a:p>
                  </a:txBody>
                  <a:tcPr anchor="ctr" marL="91440" marR="73152" marT="27432" marB="27432">
                    <a:solidFill>
                      <a:srgbClr val="F6F8FB"/>
                    </a:solidFill>
                  </a:tcPr>
                </a:tc>
                <a:tc>
                  <a:txBody>
                    <a:bodyPr/>
                    <a:lstStyle/>
                    <a:p>
                      <a:pPr algn="ctr"/>
                      <a:r>
                        <a:rPr sz="1250" b="0">
                          <a:solidFill>
                            <a:srgbClr val="1F2937"/>
                          </a:solidFill>
                          <a:latin typeface="Segoe UI"/>
                        </a:rPr>
                        <a:t>0,9867</a:t>
                      </a:r>
                    </a:p>
                  </a:txBody>
                  <a:tcPr anchor="ctr" marL="91440" marR="73152" marT="27432" marB="27432">
                    <a:solidFill>
                      <a:srgbClr val="F6F8FB"/>
                    </a:solidFill>
                  </a:tcPr>
                </a:tc>
                <a:tc>
                  <a:txBody>
                    <a:bodyPr/>
                    <a:lstStyle/>
                    <a:p>
                      <a:pPr algn="ctr"/>
                      <a:r>
                        <a:rPr sz="1250" b="0">
                          <a:solidFill>
                            <a:srgbClr val="1F2937"/>
                          </a:solidFill>
                          <a:latin typeface="Segoe UI"/>
                        </a:rPr>
                        <a:t>0,8043</a:t>
                      </a:r>
                    </a:p>
                  </a:txBody>
                  <a:tcPr anchor="ctr" marL="91440" marR="73152" marT="27432" marB="27432">
                    <a:solidFill>
                      <a:srgbClr val="F6F8FB"/>
                    </a:solidFill>
                  </a:tcPr>
                </a:tc>
                <a:tc>
                  <a:txBody>
                    <a:bodyPr/>
                    <a:lstStyle/>
                    <a:p>
                      <a:pPr algn="ctr"/>
                      <a:r>
                        <a:rPr sz="1250" b="0">
                          <a:solidFill>
                            <a:srgbClr val="1F2937"/>
                          </a:solidFill>
                          <a:latin typeface="Segoe UI"/>
                        </a:rPr>
                        <a:t>[0,5081 ; 1,0]</a:t>
                      </a:r>
                    </a:p>
                  </a:txBody>
                  <a:tcPr anchor="ctr" marL="91440" marR="73152" marT="27432" marB="27432">
                    <a:solidFill>
                      <a:srgbClr val="F6F8FB"/>
                    </a:solidFill>
                  </a:tcPr>
                </a:tc>
                <a:tc>
                  <a:txBody>
                    <a:bodyPr/>
                    <a:lstStyle/>
                    <a:p>
                      <a:pPr algn="ctr"/>
                      <a:r>
                        <a:rPr sz="1250" b="0">
                          <a:solidFill>
                            <a:srgbClr val="1F2937"/>
                          </a:solidFill>
                          <a:latin typeface="Segoe UI"/>
                        </a:rPr>
                        <a:t>0,545</a:t>
                      </a:r>
                    </a:p>
                  </a:txBody>
                  <a:tcPr anchor="ctr" marL="91440" marR="73152" marT="27432" marB="27432">
                    <a:solidFill>
                      <a:srgbClr val="F6F8FB"/>
                    </a:solidFill>
                  </a:tcPr>
                </a:tc>
                <a:tc>
                  <a:txBody>
                    <a:bodyPr/>
                    <a:lstStyle/>
                    <a:p>
                      <a:pPr algn="ctr"/>
                      <a:r>
                        <a:rPr sz="1250" b="0">
                          <a:solidFill>
                            <a:srgbClr val="1F2937"/>
                          </a:solidFill>
                          <a:latin typeface="Segoe UI"/>
                        </a:rPr>
                        <a:t>0,750</a:t>
                      </a:r>
                    </a:p>
                  </a:txBody>
                  <a:tcPr anchor="ctr" marL="91440" marR="73152" marT="27432" marB="27432">
                    <a:solidFill>
                      <a:srgbClr val="F6F8FB"/>
                    </a:solidFill>
                  </a:tcPr>
                </a:tc>
                <a:tc>
                  <a:txBody>
                    <a:bodyPr/>
                    <a:lstStyle/>
                    <a:p>
                      <a:pPr algn="ctr"/>
                      <a:r>
                        <a:rPr sz="1250" b="0">
                          <a:solidFill>
                            <a:srgbClr val="1F2937"/>
                          </a:solidFill>
                          <a:latin typeface="Segoe UI"/>
                        </a:rPr>
                        <a:t>0,6316</a:t>
                      </a:r>
                    </a:p>
                  </a:txBody>
                  <a:tcPr anchor="ctr" marL="91440" marR="73152" marT="27432" marB="27432">
                    <a:solidFill>
                      <a:srgbClr val="F6F8FB"/>
                    </a:solidFill>
                  </a:tcPr>
                </a:tc>
              </a:tr>
              <a:tr h="365760">
                <a:tc>
                  <a:txBody>
                    <a:bodyPr/>
                    <a:lstStyle/>
                    <a:p>
                      <a:pPr algn="l"/>
                      <a:r>
                        <a:rPr sz="1250" b="0">
                          <a:solidFill>
                            <a:srgbClr val="1F2937"/>
                          </a:solidFill>
                          <a:latin typeface="Segoe UI"/>
                        </a:rPr>
                        <a:t>seuil_ratio</a:t>
                      </a:r>
                    </a:p>
                  </a:txBody>
                  <a:tcPr anchor="ctr" marL="91440" marR="73152" marT="27432" marB="27432">
                    <a:solidFill>
                      <a:srgbClr val="FFFFFF"/>
                    </a:solidFill>
                  </a:tcPr>
                </a:tc>
                <a:tc>
                  <a:txBody>
                    <a:bodyPr/>
                    <a:lstStyle/>
                    <a:p>
                      <a:pPr algn="ctr"/>
                      <a:r>
                        <a:rPr sz="1250" b="0">
                          <a:solidFill>
                            <a:srgbClr val="1F2937"/>
                          </a:solidFill>
                          <a:latin typeface="Segoe UI"/>
                        </a:rPr>
                        <a:t>0,9407</a:t>
                      </a:r>
                    </a:p>
                  </a:txBody>
                  <a:tcPr anchor="ctr" marL="91440" marR="73152" marT="27432" marB="27432">
                    <a:solidFill>
                      <a:srgbClr val="FFFFFF"/>
                    </a:solidFill>
                  </a:tcPr>
                </a:tc>
                <a:tc>
                  <a:txBody>
                    <a:bodyPr/>
                    <a:lstStyle/>
                    <a:p>
                      <a:pPr algn="ctr"/>
                      <a:r>
                        <a:rPr sz="1250" b="0">
                          <a:solidFill>
                            <a:srgbClr val="1F2937"/>
                          </a:solidFill>
                          <a:latin typeface="Segoe UI"/>
                        </a:rPr>
                        <a:t>0,7934</a:t>
                      </a:r>
                    </a:p>
                  </a:txBody>
                  <a:tcPr anchor="ctr" marL="91440" marR="73152" marT="27432" marB="27432">
                    <a:solidFill>
                      <a:srgbClr val="FFFFFF"/>
                    </a:solidFill>
                  </a:tcPr>
                </a:tc>
                <a:tc>
                  <a:txBody>
                    <a:bodyPr/>
                    <a:lstStyle/>
                    <a:p>
                      <a:pPr algn="ctr"/>
                      <a:r>
                        <a:rPr sz="1250" b="0">
                          <a:solidFill>
                            <a:srgbClr val="1F2937"/>
                          </a:solidFill>
                          <a:latin typeface="Segoe UI"/>
                        </a:rPr>
                        <a:t>[0,5028 ; 1,0]</a:t>
                      </a:r>
                    </a:p>
                  </a:txBody>
                  <a:tcPr anchor="ctr" marL="91440" marR="73152" marT="27432" marB="27432">
                    <a:solidFill>
                      <a:srgbClr val="FFFFFF"/>
                    </a:solidFill>
                  </a:tcPr>
                </a:tc>
                <a:tc>
                  <a:txBody>
                    <a:bodyPr/>
                    <a:lstStyle/>
                    <a:p>
                      <a:pPr algn="ctr"/>
                      <a:r>
                        <a:rPr sz="1250" b="0">
                          <a:solidFill>
                            <a:srgbClr val="1F2937"/>
                          </a:solidFill>
                          <a:latin typeface="Segoe UI"/>
                        </a:rPr>
                        <a:t>0,600</a:t>
                      </a:r>
                    </a:p>
                  </a:txBody>
                  <a:tcPr anchor="ctr" marL="91440" marR="73152" marT="27432" marB="27432">
                    <a:solidFill>
                      <a:srgbClr val="FFFFFF"/>
                    </a:solidFill>
                  </a:tcPr>
                </a:tc>
                <a:tc>
                  <a:txBody>
                    <a:bodyPr/>
                    <a:lstStyle/>
                    <a:p>
                      <a:pPr algn="ctr"/>
                      <a:r>
                        <a:rPr sz="1250" b="0">
                          <a:solidFill>
                            <a:srgbClr val="1F2937"/>
                          </a:solidFill>
                          <a:latin typeface="Segoe UI"/>
                        </a:rPr>
                        <a:t>0,750</a:t>
                      </a:r>
                    </a:p>
                  </a:txBody>
                  <a:tcPr anchor="ctr" marL="91440" marR="73152" marT="27432" marB="27432">
                    <a:solidFill>
                      <a:srgbClr val="FFFFFF"/>
                    </a:solidFill>
                  </a:tcPr>
                </a:tc>
                <a:tc>
                  <a:txBody>
                    <a:bodyPr/>
                    <a:lstStyle/>
                    <a:p>
                      <a:pPr algn="ctr"/>
                      <a:r>
                        <a:rPr sz="1250" b="0">
                          <a:solidFill>
                            <a:srgbClr val="1F2937"/>
                          </a:solidFill>
                          <a:latin typeface="Segoe UI"/>
                        </a:rPr>
                        <a:t>0,6667</a:t>
                      </a:r>
                    </a:p>
                  </a:txBody>
                  <a:tcPr anchor="ctr" marL="91440" marR="73152" marT="27432" marB="27432">
                    <a:solidFill>
                      <a:srgbClr val="FFFFFF"/>
                    </a:solidFill>
                  </a:tcPr>
                </a:tc>
              </a:tr>
              <a:tr h="365760">
                <a:tc>
                  <a:txBody>
                    <a:bodyPr/>
                    <a:lstStyle/>
                    <a:p>
                      <a:pPr algn="l"/>
                      <a:r>
                        <a:rPr sz="1250" b="0">
                          <a:solidFill>
                            <a:srgbClr val="1F2937"/>
                          </a:solidFill>
                          <a:latin typeface="Segoe UI"/>
                        </a:rPr>
                        <a:t>iforest_all  (25 features)</a:t>
                      </a:r>
                    </a:p>
                  </a:txBody>
                  <a:tcPr anchor="ctr" marL="91440" marR="73152" marT="27432" marB="27432">
                    <a:solidFill>
                      <a:srgbClr val="F6F8FB"/>
                    </a:solidFill>
                  </a:tcPr>
                </a:tc>
                <a:tc>
                  <a:txBody>
                    <a:bodyPr/>
                    <a:lstStyle/>
                    <a:p>
                      <a:pPr algn="ctr"/>
                      <a:r>
                        <a:rPr sz="1250" b="0">
                          <a:solidFill>
                            <a:srgbClr val="1F2937"/>
                          </a:solidFill>
                          <a:latin typeface="Segoe UI"/>
                        </a:rPr>
                        <a:t>0,9754</a:t>
                      </a:r>
                    </a:p>
                  </a:txBody>
                  <a:tcPr anchor="ctr" marL="91440" marR="73152" marT="27432" marB="27432">
                    <a:solidFill>
                      <a:srgbClr val="F6F8FB"/>
                    </a:solidFill>
                  </a:tcPr>
                </a:tc>
                <a:tc>
                  <a:txBody>
                    <a:bodyPr/>
                    <a:lstStyle/>
                    <a:p>
                      <a:pPr algn="ctr"/>
                      <a:r>
                        <a:rPr sz="1250" b="0">
                          <a:solidFill>
                            <a:srgbClr val="1F2937"/>
                          </a:solidFill>
                          <a:latin typeface="Segoe UI"/>
                        </a:rPr>
                        <a:t>0,4818</a:t>
                      </a:r>
                    </a:p>
                  </a:txBody>
                  <a:tcPr anchor="ctr" marL="91440" marR="73152" marT="27432" marB="27432">
                    <a:solidFill>
                      <a:srgbClr val="F6F8FB"/>
                    </a:solidFill>
                  </a:tcPr>
                </a:tc>
                <a:tc>
                  <a:txBody>
                    <a:bodyPr/>
                    <a:lstStyle/>
                    <a:p>
                      <a:pPr algn="ctr"/>
                      <a:r>
                        <a:rPr sz="1250" b="0">
                          <a:solidFill>
                            <a:srgbClr val="1F2937"/>
                          </a:solidFill>
                          <a:latin typeface="Segoe UI"/>
                        </a:rPr>
                        <a:t>[0,1365 ; 0,8173]</a:t>
                      </a:r>
                    </a:p>
                  </a:txBody>
                  <a:tcPr anchor="ctr" marL="91440" marR="73152" marT="27432" marB="27432">
                    <a:solidFill>
                      <a:srgbClr val="F6F8FB"/>
                    </a:solidFill>
                  </a:tcPr>
                </a:tc>
                <a:tc>
                  <a:txBody>
                    <a:bodyPr/>
                    <a:lstStyle/>
                    <a:p>
                      <a:pPr algn="ctr"/>
                      <a:r>
                        <a:rPr sz="1250" b="0">
                          <a:solidFill>
                            <a:srgbClr val="1F2937"/>
                          </a:solidFill>
                          <a:latin typeface="Segoe UI"/>
                        </a:rPr>
                        <a:t>0,400</a:t>
                      </a:r>
                    </a:p>
                  </a:txBody>
                  <a:tcPr anchor="ctr" marL="91440" marR="73152" marT="27432" marB="27432">
                    <a:solidFill>
                      <a:srgbClr val="F6F8FB"/>
                    </a:solidFill>
                  </a:tcPr>
                </a:tc>
                <a:tc>
                  <a:txBody>
                    <a:bodyPr/>
                    <a:lstStyle/>
                    <a:p>
                      <a:pPr algn="ctr"/>
                      <a:r>
                        <a:rPr sz="1250" b="0">
                          <a:solidFill>
                            <a:srgbClr val="1F2937"/>
                          </a:solidFill>
                          <a:latin typeface="Segoe UI"/>
                        </a:rPr>
                        <a:t>0,500</a:t>
                      </a:r>
                    </a:p>
                  </a:txBody>
                  <a:tcPr anchor="ctr" marL="91440" marR="73152" marT="27432" marB="27432">
                    <a:solidFill>
                      <a:srgbClr val="F6F8FB"/>
                    </a:solidFill>
                  </a:tcPr>
                </a:tc>
                <a:tc>
                  <a:txBody>
                    <a:bodyPr/>
                    <a:lstStyle/>
                    <a:p>
                      <a:pPr algn="ctr"/>
                      <a:r>
                        <a:rPr sz="1250" b="0">
                          <a:solidFill>
                            <a:srgbClr val="1F2937"/>
                          </a:solidFill>
                          <a:latin typeface="Segoe UI"/>
                        </a:rPr>
                        <a:t>0,4444</a:t>
                      </a:r>
                    </a:p>
                  </a:txBody>
                  <a:tcPr anchor="ctr" marL="91440" marR="73152" marT="27432" marB="27432">
                    <a:solidFill>
                      <a:srgbClr val="F6F8FB"/>
                    </a:solidFill>
                  </a:tcPr>
                </a:tc>
              </a:tr>
            </a:tbl>
          </a:graphicData>
        </a:graphic>
      </p:graphicFrame>
      <p:sp>
        <p:nvSpPr>
          <p:cNvPr id="10" name="TextBox 9"/>
          <p:cNvSpPr txBox="1"/>
          <p:nvPr/>
        </p:nvSpPr>
        <p:spPr>
          <a:xfrm>
            <a:off x="566928" y="3849624"/>
            <a:ext cx="11064240" cy="731520"/>
          </a:xfrm>
          <a:prstGeom prst="rect">
            <a:avLst/>
          </a:prstGeom>
          <a:noFill/>
        </p:spPr>
        <p:txBody>
          <a:bodyPr wrap="square">
            <a:spAutoFit/>
          </a:bodyPr>
          <a:lstStyle/>
          <a:p>
            <a:pPr algn="l">
              <a:spcAft>
                <a:spcPts val="0"/>
              </a:spcAft>
            </a:pPr>
            <a:r>
              <a:rPr sz="1300" b="0" i="1">
                <a:solidFill>
                  <a:srgbClr val="64748B"/>
                </a:solidFill>
                <a:latin typeface="Segoe UI"/>
              </a:rPr>
              <a:t>Test = 30 derniers jours, 720 trajets, 8 positifs seulement. En validation glissante (38 positifs) : seuil_surprise 0,9262 devant iforest_curated 0,8465.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ANNEXE A3</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MS6 — l'arène complète (ablation à un seul facteur)</a:t>
            </a:r>
          </a:p>
        </p:txBody>
      </p:sp>
      <p:sp>
        <p:nvSpPr>
          <p:cNvPr id="5" name="Rectangle 4"/>
          <p:cNvSpPr/>
          <p:nvPr/>
        </p:nvSpPr>
        <p:spPr>
          <a:xfrm>
            <a:off x="566928" y="1389888"/>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Annexes</a:t>
            </a:r>
          </a:p>
        </p:txBody>
      </p:sp>
      <p:sp>
        <p:nvSpPr>
          <p:cNvPr id="8" name="TextBox 7"/>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28</a:t>
            </a:r>
          </a:p>
        </p:txBody>
      </p:sp>
      <p:graphicFrame>
        <p:nvGraphicFramePr>
          <p:cNvPr id="9" name="Table 8"/>
          <p:cNvGraphicFramePr>
            <a:graphicFrameLocks noGrp="1"/>
          </p:cNvGraphicFramePr>
          <p:nvPr/>
        </p:nvGraphicFramePr>
        <p:xfrm>
          <a:off x="566928" y="1700784"/>
          <a:ext cx="11064237" cy="2651760"/>
        </p:xfrm>
        <a:graphic>
          <a:graphicData uri="http://schemas.openxmlformats.org/drawingml/2006/table">
            <a:tbl>
              <a:tblPr firstRow="1" bandRow="1">
                <a:tableStyleId>{5C22544A-7EE6-4342-B048-85BDC9FD1C3A}</a:tableStyleId>
              </a:tblPr>
              <a:tblGrid>
                <a:gridCol w="3073400"/>
                <a:gridCol w="1229360"/>
                <a:gridCol w="1126913"/>
                <a:gridCol w="1126913"/>
                <a:gridCol w="1126913"/>
                <a:gridCol w="1024466"/>
                <a:gridCol w="1024466"/>
                <a:gridCol w="1331806"/>
              </a:tblGrid>
              <a:tr h="457200">
                <a:tc>
                  <a:txBody>
                    <a:bodyPr/>
                    <a:lstStyle/>
                    <a:p>
                      <a:pPr algn="l"/>
                      <a:r>
                        <a:rPr sz="1250" b="1">
                          <a:solidFill>
                            <a:srgbClr val="FFFFFF"/>
                          </a:solidFill>
                          <a:latin typeface="Segoe UI"/>
                        </a:rPr>
                        <a:t>Méthode</a:t>
                      </a:r>
                    </a:p>
                  </a:txBody>
                  <a:tcPr anchor="ctr" marL="91440" marR="73152" marT="27432" marB="27432">
                    <a:solidFill>
                      <a:srgbClr val="0F2942"/>
                    </a:solidFill>
                  </a:tcPr>
                </a:tc>
                <a:tc>
                  <a:txBody>
                    <a:bodyPr/>
                    <a:lstStyle/>
                    <a:p>
                      <a:pPr algn="ctr"/>
                      <a:r>
                        <a:rPr sz="1250" b="1">
                          <a:solidFill>
                            <a:srgbClr val="FFFFFF"/>
                          </a:solidFill>
                          <a:latin typeface="Segoe UI"/>
                        </a:rPr>
                        <a:t>Silhouette</a:t>
                      </a:r>
                    </a:p>
                  </a:txBody>
                  <a:tcPr anchor="ctr" marL="91440" marR="73152" marT="27432" marB="27432">
                    <a:solidFill>
                      <a:srgbClr val="0F2942"/>
                    </a:solidFill>
                  </a:tcPr>
                </a:tc>
                <a:tc>
                  <a:txBody>
                    <a:bodyPr/>
                    <a:lstStyle/>
                    <a:p>
                      <a:pPr algn="ctr"/>
                      <a:r>
                        <a:rPr sz="1250" b="1">
                          <a:solidFill>
                            <a:srgbClr val="FFFFFF"/>
                          </a:solidFill>
                          <a:latin typeface="Segoe UI"/>
                        </a:rPr>
                        <a:t>Compac.</a:t>
                      </a:r>
                    </a:p>
                    <a:p>
                      <a:pPr algn="ctr"/>
                      <a:r>
                        <a:rPr sz="1250" b="1">
                          <a:solidFill>
                            <a:srgbClr val="FFFFFF"/>
                          </a:solidFill>
                          <a:latin typeface="Segoe UI"/>
                        </a:rPr>
                        <a:t>médiane</a:t>
                      </a:r>
                    </a:p>
                  </a:txBody>
                  <a:tcPr anchor="ctr" marL="91440" marR="73152" marT="27432" marB="27432">
                    <a:solidFill>
                      <a:srgbClr val="0F2942"/>
                    </a:solidFill>
                  </a:tcPr>
                </a:tc>
                <a:tc>
                  <a:txBody>
                    <a:bodyPr/>
                    <a:lstStyle/>
                    <a:p>
                      <a:pPr algn="ctr"/>
                      <a:r>
                        <a:rPr sz="1250" b="1">
                          <a:solidFill>
                            <a:srgbClr val="FFFFFF"/>
                          </a:solidFill>
                          <a:latin typeface="Segoe UI"/>
                        </a:rPr>
                        <a:t>Compac.</a:t>
                      </a:r>
                    </a:p>
                    <a:p>
                      <a:pPr algn="ctr"/>
                      <a:r>
                        <a:rPr sz="1250" b="1">
                          <a:solidFill>
                            <a:srgbClr val="FFFFFF"/>
                          </a:solidFill>
                          <a:latin typeface="Segoe UI"/>
                        </a:rPr>
                        <a:t>max</a:t>
                      </a:r>
                    </a:p>
                  </a:txBody>
                  <a:tcPr anchor="ctr" marL="91440" marR="73152" marT="27432" marB="27432">
                    <a:solidFill>
                      <a:srgbClr val="0F2942"/>
                    </a:solidFill>
                  </a:tcPr>
                </a:tc>
                <a:tc>
                  <a:txBody>
                    <a:bodyPr/>
                    <a:lstStyle/>
                    <a:p>
                      <a:pPr algn="ctr"/>
                      <a:r>
                        <a:rPr sz="1250" b="1">
                          <a:solidFill>
                            <a:srgbClr val="FFFFFF"/>
                          </a:solidFill>
                          <a:latin typeface="Segoe UI"/>
                        </a:rPr>
                        <a:t>Taille</a:t>
                      </a:r>
                    </a:p>
                    <a:p>
                      <a:pPr algn="ctr"/>
                      <a:r>
                        <a:rPr sz="1250" b="1">
                          <a:solidFill>
                            <a:srgbClr val="FFFFFF"/>
                          </a:solidFill>
                          <a:latin typeface="Segoe UI"/>
                        </a:rPr>
                        <a:t>min/max</a:t>
                      </a:r>
                    </a:p>
                  </a:txBody>
                  <a:tcPr anchor="ctr" marL="91440" marR="73152" marT="27432" marB="27432">
                    <a:solidFill>
                      <a:srgbClr val="0F2942"/>
                    </a:solidFill>
                  </a:tcPr>
                </a:tc>
                <a:tc>
                  <a:txBody>
                    <a:bodyPr/>
                    <a:lstStyle/>
                    <a:p>
                      <a:pPr algn="ctr"/>
                      <a:r>
                        <a:rPr sz="1250" b="1">
                          <a:solidFill>
                            <a:srgbClr val="FFFFFF"/>
                          </a:solidFill>
                          <a:latin typeface="Segoe UI"/>
                        </a:rPr>
                        <a:t>Faisable</a:t>
                      </a:r>
                    </a:p>
                  </a:txBody>
                  <a:tcPr anchor="ctr" marL="91440" marR="73152" marT="27432" marB="27432">
                    <a:solidFill>
                      <a:srgbClr val="0F2942"/>
                    </a:solidFill>
                  </a:tcPr>
                </a:tc>
                <a:tc>
                  <a:txBody>
                    <a:bodyPr/>
                    <a:lstStyle/>
                    <a:p>
                      <a:pPr algn="ctr"/>
                      <a:r>
                        <a:rPr sz="1250" b="1">
                          <a:solidFill>
                            <a:srgbClr val="FFFFFF"/>
                          </a:solidFill>
                          <a:latin typeface="Segoe UI"/>
                        </a:rPr>
                        <a:t>Flotte</a:t>
                      </a:r>
                    </a:p>
                    <a:p>
                      <a:pPr algn="ctr"/>
                      <a:r>
                        <a:rPr sz="1250" b="1">
                          <a:solidFill>
                            <a:srgbClr val="FFFFFF"/>
                          </a:solidFill>
                          <a:latin typeface="Segoe UI"/>
                        </a:rPr>
                        <a:t>(min)</a:t>
                      </a:r>
                    </a:p>
                  </a:txBody>
                  <a:tcPr anchor="ctr" marL="91440" marR="73152" marT="27432" marB="27432">
                    <a:solidFill>
                      <a:srgbClr val="0F2942"/>
                    </a:solidFill>
                  </a:tcPr>
                </a:tc>
                <a:tc>
                  <a:txBody>
                    <a:bodyPr/>
                    <a:lstStyle/>
                    <a:p>
                      <a:pPr algn="ctr"/>
                      <a:r>
                        <a:rPr sz="1250" b="1">
                          <a:solidFill>
                            <a:srgbClr val="FFFFFF"/>
                          </a:solidFill>
                          <a:latin typeface="Segoe UI"/>
                        </a:rPr>
                        <a:t>Temps à bord</a:t>
                      </a:r>
                    </a:p>
                    <a:p>
                      <a:pPr algn="ctr"/>
                      <a:r>
                        <a:rPr sz="1250" b="1">
                          <a:solidFill>
                            <a:srgbClr val="FFFFFF"/>
                          </a:solidFill>
                          <a:latin typeface="Segoe UI"/>
                        </a:rPr>
                        <a:t>moyen</a:t>
                      </a:r>
                    </a:p>
                  </a:txBody>
                  <a:tcPr anchor="ctr" marL="91440" marR="73152" marT="27432" marB="27432">
                    <a:solidFill>
                      <a:srgbClr val="0F2942"/>
                    </a:solidFill>
                  </a:tcPr>
                </a:tc>
              </a:tr>
              <a:tr h="365760">
                <a:tc>
                  <a:txBody>
                    <a:bodyPr/>
                    <a:lstStyle/>
                    <a:p>
                      <a:pPr algn="l"/>
                      <a:r>
                        <a:rPr sz="1250" b="1">
                          <a:solidFill>
                            <a:srgbClr val="1F2937"/>
                          </a:solidFill>
                          <a:latin typeface="Segoe UI"/>
                        </a:rPr>
                        <a:t>k-médoïdes capacitaire ROUTIER</a:t>
                      </a:r>
                    </a:p>
                  </a:txBody>
                  <a:tcPr anchor="ctr" marL="91440" marR="73152" marT="27432" marB="27432">
                    <a:solidFill>
                      <a:srgbClr val="E0F2F7"/>
                    </a:solidFill>
                  </a:tcPr>
                </a:tc>
                <a:tc>
                  <a:txBody>
                    <a:bodyPr/>
                    <a:lstStyle/>
                    <a:p>
                      <a:pPr algn="ctr"/>
                      <a:r>
                        <a:rPr sz="1250" b="0">
                          <a:solidFill>
                            <a:srgbClr val="1F2937"/>
                          </a:solidFill>
                          <a:latin typeface="Segoe UI"/>
                        </a:rPr>
                        <a:t>0,4256</a:t>
                      </a:r>
                    </a:p>
                  </a:txBody>
                  <a:tcPr anchor="ctr" marL="91440" marR="73152" marT="27432" marB="27432">
                    <a:solidFill>
                      <a:srgbClr val="E0F2F7"/>
                    </a:solidFill>
                  </a:tcPr>
                </a:tc>
                <a:tc>
                  <a:txBody>
                    <a:bodyPr/>
                    <a:lstStyle/>
                    <a:p>
                      <a:pPr algn="ctr"/>
                      <a:r>
                        <a:rPr sz="1250" b="0">
                          <a:solidFill>
                            <a:srgbClr val="1F2937"/>
                          </a:solidFill>
                          <a:latin typeface="Segoe UI"/>
                        </a:rPr>
                        <a:t>734 m</a:t>
                      </a:r>
                    </a:p>
                  </a:txBody>
                  <a:tcPr anchor="ctr" marL="91440" marR="73152" marT="27432" marB="27432">
                    <a:solidFill>
                      <a:srgbClr val="E0F2F7"/>
                    </a:solidFill>
                  </a:tcPr>
                </a:tc>
                <a:tc>
                  <a:txBody>
                    <a:bodyPr/>
                    <a:lstStyle/>
                    <a:p>
                      <a:pPr algn="ctr"/>
                      <a:r>
                        <a:rPr sz="1250" b="0">
                          <a:solidFill>
                            <a:srgbClr val="1F2937"/>
                          </a:solidFill>
                          <a:latin typeface="Segoe UI"/>
                        </a:rPr>
                        <a:t>2 804 m</a:t>
                      </a:r>
                    </a:p>
                  </a:txBody>
                  <a:tcPr anchor="ctr" marL="91440" marR="73152" marT="27432" marB="27432">
                    <a:solidFill>
                      <a:srgbClr val="E0F2F7"/>
                    </a:solidFill>
                  </a:tcPr>
                </a:tc>
                <a:tc>
                  <a:txBody>
                    <a:bodyPr/>
                    <a:lstStyle/>
                    <a:p>
                      <a:pPr algn="ctr"/>
                      <a:r>
                        <a:rPr sz="1250" b="0">
                          <a:solidFill>
                            <a:srgbClr val="1F2937"/>
                          </a:solidFill>
                          <a:latin typeface="Segoe UI"/>
                        </a:rPr>
                        <a:t>29 / 50</a:t>
                      </a:r>
                    </a:p>
                  </a:txBody>
                  <a:tcPr anchor="ctr" marL="91440" marR="73152" marT="27432" marB="27432">
                    <a:solidFill>
                      <a:srgbClr val="E0F2F7"/>
                    </a:solidFill>
                  </a:tcPr>
                </a:tc>
                <a:tc>
                  <a:txBody>
                    <a:bodyPr/>
                    <a:lstStyle/>
                    <a:p>
                      <a:pPr algn="ctr"/>
                      <a:r>
                        <a:rPr sz="1250" b="0">
                          <a:solidFill>
                            <a:srgbClr val="1F2937"/>
                          </a:solidFill>
                          <a:latin typeface="Segoe UI"/>
                        </a:rPr>
                        <a:t>oui</a:t>
                      </a:r>
                    </a:p>
                  </a:txBody>
                  <a:tcPr anchor="ctr" marL="91440" marR="73152" marT="27432" marB="27432">
                    <a:solidFill>
                      <a:srgbClr val="E0F2F7"/>
                    </a:solidFill>
                  </a:tcPr>
                </a:tc>
                <a:tc>
                  <a:txBody>
                    <a:bodyPr/>
                    <a:lstStyle/>
                    <a:p>
                      <a:pPr algn="ctr"/>
                      <a:r>
                        <a:rPr sz="1250" b="0">
                          <a:solidFill>
                            <a:srgbClr val="1F2937"/>
                          </a:solidFill>
                          <a:latin typeface="Segoe UI"/>
                        </a:rPr>
                        <a:t>254,3</a:t>
                      </a:r>
                    </a:p>
                  </a:txBody>
                  <a:tcPr anchor="ctr" marL="91440" marR="73152" marT="27432" marB="27432">
                    <a:solidFill>
                      <a:srgbClr val="E0F2F7"/>
                    </a:solidFill>
                  </a:tcPr>
                </a:tc>
                <a:tc>
                  <a:txBody>
                    <a:bodyPr/>
                    <a:lstStyle/>
                    <a:p>
                      <a:pPr algn="ctr"/>
                      <a:r>
                        <a:rPr sz="1250" b="0">
                          <a:solidFill>
                            <a:srgbClr val="1F2937"/>
                          </a:solidFill>
                          <a:latin typeface="Segoe UI"/>
                        </a:rPr>
                        <a:t>17,5 min</a:t>
                      </a:r>
                    </a:p>
                  </a:txBody>
                  <a:tcPr anchor="ctr" marL="91440" marR="73152" marT="27432" marB="27432">
                    <a:solidFill>
                      <a:srgbClr val="E0F2F7"/>
                    </a:solidFill>
                  </a:tcPr>
                </a:tc>
              </a:tr>
              <a:tr h="365760">
                <a:tc>
                  <a:txBody>
                    <a:bodyPr/>
                    <a:lstStyle/>
                    <a:p>
                      <a:pPr algn="l"/>
                      <a:r>
                        <a:rPr sz="1250" b="0">
                          <a:solidFill>
                            <a:srgbClr val="1F2937"/>
                          </a:solidFill>
                          <a:latin typeface="Segoe UI"/>
                        </a:rPr>
                        <a:t>k-médoïdes capacitaire euclidien</a:t>
                      </a:r>
                    </a:p>
                  </a:txBody>
                  <a:tcPr anchor="ctr" marL="91440" marR="73152" marT="27432" marB="27432">
                    <a:solidFill>
                      <a:srgbClr val="F6F8FB"/>
                    </a:solidFill>
                  </a:tcPr>
                </a:tc>
                <a:tc>
                  <a:txBody>
                    <a:bodyPr/>
                    <a:lstStyle/>
                    <a:p>
                      <a:pPr algn="ctr"/>
                      <a:r>
                        <a:rPr sz="1250" b="0">
                          <a:solidFill>
                            <a:srgbClr val="1F2937"/>
                          </a:solidFill>
                          <a:latin typeface="Segoe UI"/>
                        </a:rPr>
                        <a:t>0,4237</a:t>
                      </a:r>
                    </a:p>
                  </a:txBody>
                  <a:tcPr anchor="ctr" marL="91440" marR="73152" marT="27432" marB="27432">
                    <a:solidFill>
                      <a:srgbClr val="F6F8FB"/>
                    </a:solidFill>
                  </a:tcPr>
                </a:tc>
                <a:tc>
                  <a:txBody>
                    <a:bodyPr/>
                    <a:lstStyle/>
                    <a:p>
                      <a:pPr algn="ctr"/>
                      <a:r>
                        <a:rPr sz="1250" b="0">
                          <a:solidFill>
                            <a:srgbClr val="1F2937"/>
                          </a:solidFill>
                          <a:latin typeface="Segoe UI"/>
                        </a:rPr>
                        <a:t>757 m</a:t>
                      </a:r>
                    </a:p>
                  </a:txBody>
                  <a:tcPr anchor="ctr" marL="91440" marR="73152" marT="27432" marB="27432">
                    <a:solidFill>
                      <a:srgbClr val="F6F8FB"/>
                    </a:solidFill>
                  </a:tcPr>
                </a:tc>
                <a:tc>
                  <a:txBody>
                    <a:bodyPr/>
                    <a:lstStyle/>
                    <a:p>
                      <a:pPr algn="ctr"/>
                      <a:r>
                        <a:rPr sz="1250" b="0">
                          <a:solidFill>
                            <a:srgbClr val="1F2937"/>
                          </a:solidFill>
                          <a:latin typeface="Segoe UI"/>
                        </a:rPr>
                        <a:t>2 979 m</a:t>
                      </a:r>
                    </a:p>
                  </a:txBody>
                  <a:tcPr anchor="ctr" marL="91440" marR="73152" marT="27432" marB="27432">
                    <a:solidFill>
                      <a:srgbClr val="F6F8FB"/>
                    </a:solidFill>
                  </a:tcPr>
                </a:tc>
                <a:tc>
                  <a:txBody>
                    <a:bodyPr/>
                    <a:lstStyle/>
                    <a:p>
                      <a:pPr algn="ctr"/>
                      <a:r>
                        <a:rPr sz="1250" b="0">
                          <a:solidFill>
                            <a:srgbClr val="1F2937"/>
                          </a:solidFill>
                          <a:latin typeface="Segoe UI"/>
                        </a:rPr>
                        <a:t>26 / 50</a:t>
                      </a:r>
                    </a:p>
                  </a:txBody>
                  <a:tcPr anchor="ctr" marL="91440" marR="73152" marT="27432" marB="27432">
                    <a:solidFill>
                      <a:srgbClr val="F6F8FB"/>
                    </a:solidFill>
                  </a:tcPr>
                </a:tc>
                <a:tc>
                  <a:txBody>
                    <a:bodyPr/>
                    <a:lstStyle/>
                    <a:p>
                      <a:pPr algn="ctr"/>
                      <a:r>
                        <a:rPr sz="1250" b="0">
                          <a:solidFill>
                            <a:srgbClr val="1F2937"/>
                          </a:solidFill>
                          <a:latin typeface="Segoe UI"/>
                        </a:rPr>
                        <a:t>oui</a:t>
                      </a:r>
                    </a:p>
                  </a:txBody>
                  <a:tcPr anchor="ctr" marL="91440" marR="73152" marT="27432" marB="27432">
                    <a:solidFill>
                      <a:srgbClr val="F6F8FB"/>
                    </a:solidFill>
                  </a:tcPr>
                </a:tc>
                <a:tc>
                  <a:txBody>
                    <a:bodyPr/>
                    <a:lstStyle/>
                    <a:p>
                      <a:pPr algn="ctr"/>
                      <a:r>
                        <a:rPr sz="1250" b="0">
                          <a:solidFill>
                            <a:srgbClr val="1F2937"/>
                          </a:solidFill>
                          <a:latin typeface="Segoe UI"/>
                        </a:rPr>
                        <a:t>258,0</a:t>
                      </a:r>
                    </a:p>
                  </a:txBody>
                  <a:tcPr anchor="ctr" marL="91440" marR="73152" marT="27432" marB="27432">
                    <a:solidFill>
                      <a:srgbClr val="F6F8FB"/>
                    </a:solidFill>
                  </a:tcPr>
                </a:tc>
                <a:tc>
                  <a:txBody>
                    <a:bodyPr/>
                    <a:lstStyle/>
                    <a:p>
                      <a:pPr algn="ctr"/>
                      <a:r>
                        <a:rPr sz="1250" b="0">
                          <a:solidFill>
                            <a:srgbClr val="1F2937"/>
                          </a:solidFill>
                          <a:latin typeface="Segoe UI"/>
                        </a:rPr>
                        <a:t>19,2 min</a:t>
                      </a:r>
                    </a:p>
                  </a:txBody>
                  <a:tcPr anchor="ctr" marL="91440" marR="73152" marT="27432" marB="27432">
                    <a:solidFill>
                      <a:srgbClr val="F6F8FB"/>
                    </a:solidFill>
                  </a:tcPr>
                </a:tc>
              </a:tr>
              <a:tr h="365760">
                <a:tc>
                  <a:txBody>
                    <a:bodyPr/>
                    <a:lstStyle/>
                    <a:p>
                      <a:pPr algn="l"/>
                      <a:r>
                        <a:rPr sz="1250" b="0">
                          <a:solidFill>
                            <a:srgbClr val="1F2937"/>
                          </a:solidFill>
                          <a:latin typeface="Segoe UI"/>
                        </a:rPr>
                        <a:t>kmeans capacitaire</a:t>
                      </a:r>
                    </a:p>
                  </a:txBody>
                  <a:tcPr anchor="ctr" marL="91440" marR="73152" marT="27432" marB="27432">
                    <a:solidFill>
                      <a:srgbClr val="FFFFFF"/>
                    </a:solidFill>
                  </a:tcPr>
                </a:tc>
                <a:tc>
                  <a:txBody>
                    <a:bodyPr/>
                    <a:lstStyle/>
                    <a:p>
                      <a:pPr algn="ctr"/>
                      <a:r>
                        <a:rPr sz="1250" b="0">
                          <a:solidFill>
                            <a:srgbClr val="1F2937"/>
                          </a:solidFill>
                          <a:latin typeface="Segoe UI"/>
                        </a:rPr>
                        <a:t>0,3773</a:t>
                      </a:r>
                    </a:p>
                  </a:txBody>
                  <a:tcPr anchor="ctr" marL="91440" marR="73152" marT="27432" marB="27432">
                    <a:solidFill>
                      <a:srgbClr val="FFFFFF"/>
                    </a:solidFill>
                  </a:tcPr>
                </a:tc>
                <a:tc>
                  <a:txBody>
                    <a:bodyPr/>
                    <a:lstStyle/>
                    <a:p>
                      <a:pPr algn="ctr"/>
                      <a:r>
                        <a:rPr sz="1250" b="0">
                          <a:solidFill>
                            <a:srgbClr val="1F2937"/>
                          </a:solidFill>
                          <a:latin typeface="Segoe UI"/>
                        </a:rPr>
                        <a:t>784 m</a:t>
                      </a:r>
                    </a:p>
                  </a:txBody>
                  <a:tcPr anchor="ctr" marL="91440" marR="73152" marT="27432" marB="27432">
                    <a:solidFill>
                      <a:srgbClr val="FFFFFF"/>
                    </a:solidFill>
                  </a:tcPr>
                </a:tc>
                <a:tc>
                  <a:txBody>
                    <a:bodyPr/>
                    <a:lstStyle/>
                    <a:p>
                      <a:pPr algn="ctr"/>
                      <a:r>
                        <a:rPr sz="1250" b="0">
                          <a:solidFill>
                            <a:srgbClr val="1F2937"/>
                          </a:solidFill>
                          <a:latin typeface="Segoe UI"/>
                        </a:rPr>
                        <a:t>3 001 m</a:t>
                      </a:r>
                    </a:p>
                  </a:txBody>
                  <a:tcPr anchor="ctr" marL="91440" marR="73152" marT="27432" marB="27432">
                    <a:solidFill>
                      <a:srgbClr val="FFFFFF"/>
                    </a:solidFill>
                  </a:tcPr>
                </a:tc>
                <a:tc>
                  <a:txBody>
                    <a:bodyPr/>
                    <a:lstStyle/>
                    <a:p>
                      <a:pPr algn="ctr"/>
                      <a:r>
                        <a:rPr sz="1250" b="0">
                          <a:solidFill>
                            <a:srgbClr val="1F2937"/>
                          </a:solidFill>
                          <a:latin typeface="Segoe UI"/>
                        </a:rPr>
                        <a:t>19 / 50</a:t>
                      </a:r>
                    </a:p>
                  </a:txBody>
                  <a:tcPr anchor="ctr" marL="91440" marR="73152" marT="27432" marB="27432">
                    <a:solidFill>
                      <a:srgbClr val="FFFFFF"/>
                    </a:solidFill>
                  </a:tcPr>
                </a:tc>
                <a:tc>
                  <a:txBody>
                    <a:bodyPr/>
                    <a:lstStyle/>
                    <a:p>
                      <a:pPr algn="ctr"/>
                      <a:r>
                        <a:rPr sz="1250" b="0">
                          <a:solidFill>
                            <a:srgbClr val="1F2937"/>
                          </a:solidFill>
                          <a:latin typeface="Segoe UI"/>
                        </a:rPr>
                        <a:t>oui</a:t>
                      </a:r>
                    </a:p>
                  </a:txBody>
                  <a:tcPr anchor="ctr" marL="91440" marR="73152" marT="27432" marB="27432">
                    <a:solidFill>
                      <a:srgbClr val="FFFFFF"/>
                    </a:solidFill>
                  </a:tcPr>
                </a:tc>
                <a:tc>
                  <a:txBody>
                    <a:bodyPr/>
                    <a:lstStyle/>
                    <a:p>
                      <a:pPr algn="ctr"/>
                      <a:r>
                        <a:rPr sz="1250" b="0">
                          <a:solidFill>
                            <a:srgbClr val="1F2937"/>
                          </a:solidFill>
                          <a:latin typeface="Segoe UI"/>
                        </a:rPr>
                        <a:t>250,7</a:t>
                      </a:r>
                    </a:p>
                  </a:txBody>
                  <a:tcPr anchor="ctr" marL="91440" marR="73152" marT="27432" marB="27432">
                    <a:solidFill>
                      <a:srgbClr val="FFFFFF"/>
                    </a:solidFill>
                  </a:tcPr>
                </a:tc>
                <a:tc>
                  <a:txBody>
                    <a:bodyPr/>
                    <a:lstStyle/>
                    <a:p>
                      <a:pPr algn="ctr"/>
                      <a:r>
                        <a:rPr sz="1250" b="0">
                          <a:solidFill>
                            <a:srgbClr val="1F2937"/>
                          </a:solidFill>
                          <a:latin typeface="Segoe UI"/>
                        </a:rPr>
                        <a:t>18,1 min</a:t>
                      </a:r>
                    </a:p>
                  </a:txBody>
                  <a:tcPr anchor="ctr" marL="91440" marR="73152" marT="27432" marB="27432">
                    <a:solidFill>
                      <a:srgbClr val="FFFFFF"/>
                    </a:solidFill>
                  </a:tcPr>
                </a:tc>
              </a:tr>
              <a:tr h="365760">
                <a:tc>
                  <a:txBody>
                    <a:bodyPr/>
                    <a:lstStyle/>
                    <a:p>
                      <a:pPr algn="l"/>
                      <a:r>
                        <a:rPr sz="1250" b="0">
                          <a:solidFill>
                            <a:srgbClr val="1F2937"/>
                          </a:solidFill>
                          <a:latin typeface="Segoe UI"/>
                        </a:rPr>
                        <a:t>kmeans sans contrainte</a:t>
                      </a:r>
                    </a:p>
                  </a:txBody>
                  <a:tcPr anchor="ctr" marL="91440" marR="73152" marT="27432" marB="27432">
                    <a:solidFill>
                      <a:srgbClr val="F6F8FB"/>
                    </a:solidFill>
                  </a:tcPr>
                </a:tc>
                <a:tc>
                  <a:txBody>
                    <a:bodyPr/>
                    <a:lstStyle/>
                    <a:p>
                      <a:pPr algn="ctr"/>
                      <a:r>
                        <a:rPr sz="1250" b="0">
                          <a:solidFill>
                            <a:srgbClr val="1F2937"/>
                          </a:solidFill>
                          <a:latin typeface="Segoe UI"/>
                        </a:rPr>
                        <a:t>0,4636</a:t>
                      </a:r>
                    </a:p>
                  </a:txBody>
                  <a:tcPr anchor="ctr" marL="91440" marR="73152" marT="27432" marB="27432">
                    <a:solidFill>
                      <a:srgbClr val="F6F8FB"/>
                    </a:solidFill>
                  </a:tcPr>
                </a:tc>
                <a:tc>
                  <a:txBody>
                    <a:bodyPr/>
                    <a:lstStyle/>
                    <a:p>
                      <a:pPr algn="ctr"/>
                      <a:r>
                        <a:rPr sz="1250" b="0">
                          <a:solidFill>
                            <a:srgbClr val="1F2937"/>
                          </a:solidFill>
                          <a:latin typeface="Segoe UI"/>
                        </a:rPr>
                        <a:t>739 m</a:t>
                      </a:r>
                    </a:p>
                  </a:txBody>
                  <a:tcPr anchor="ctr" marL="91440" marR="73152" marT="27432" marB="27432">
                    <a:solidFill>
                      <a:srgbClr val="F6F8FB"/>
                    </a:solidFill>
                  </a:tcPr>
                </a:tc>
                <a:tc>
                  <a:txBody>
                    <a:bodyPr/>
                    <a:lstStyle/>
                    <a:p>
                      <a:pPr algn="ctr"/>
                      <a:r>
                        <a:rPr sz="1250" b="0">
                          <a:solidFill>
                            <a:srgbClr val="1F2937"/>
                          </a:solidFill>
                          <a:latin typeface="Segoe UI"/>
                        </a:rPr>
                        <a:t>3 429 m</a:t>
                      </a:r>
                    </a:p>
                  </a:txBody>
                  <a:tcPr anchor="ctr" marL="91440" marR="73152" marT="27432" marB="27432">
                    <a:solidFill>
                      <a:srgbClr val="F6F8FB"/>
                    </a:solidFill>
                  </a:tcPr>
                </a:tc>
                <a:tc>
                  <a:txBody>
                    <a:bodyPr/>
                    <a:lstStyle/>
                    <a:p>
                      <a:pPr algn="ctr"/>
                      <a:r>
                        <a:rPr sz="1250" b="0">
                          <a:solidFill>
                            <a:srgbClr val="1F2937"/>
                          </a:solidFill>
                          <a:latin typeface="Segoe UI"/>
                        </a:rPr>
                        <a:t>30 / 66</a:t>
                      </a:r>
                    </a:p>
                  </a:txBody>
                  <a:tcPr anchor="ctr" marL="91440" marR="73152" marT="27432" marB="27432">
                    <a:solidFill>
                      <a:srgbClr val="F6F8FB"/>
                    </a:solidFill>
                  </a:tcPr>
                </a:tc>
                <a:tc>
                  <a:txBody>
                    <a:bodyPr/>
                    <a:lstStyle/>
                    <a:p>
                      <a:pPr algn="ctr"/>
                      <a:r>
                        <a:rPr sz="1250" b="0">
                          <a:solidFill>
                            <a:srgbClr val="1F2937"/>
                          </a:solidFill>
                          <a:latin typeface="Segoe UI"/>
                        </a:rPr>
                        <a:t>NON</a:t>
                      </a:r>
                    </a:p>
                  </a:txBody>
                  <a:tcPr anchor="ctr" marL="91440" marR="73152" marT="27432" marB="27432">
                    <a:solidFill>
                      <a:srgbClr val="F6F8FB"/>
                    </a:solidFill>
                  </a:tcPr>
                </a:tc>
                <a:tc>
                  <a:txBody>
                    <a:bodyPr/>
                    <a:lstStyle/>
                    <a:p>
                      <a:pPr algn="ctr"/>
                      <a:r>
                        <a:rPr sz="1250" b="0">
                          <a:solidFill>
                            <a:srgbClr val="1F2937"/>
                          </a:solidFill>
                          <a:latin typeface="Segoe UI"/>
                        </a:rPr>
                        <a:t>245,6</a:t>
                      </a:r>
                    </a:p>
                  </a:txBody>
                  <a:tcPr anchor="ctr" marL="91440" marR="73152" marT="27432" marB="27432">
                    <a:solidFill>
                      <a:srgbClr val="F6F8FB"/>
                    </a:solidFill>
                  </a:tcPr>
                </a:tc>
                <a:tc>
                  <a:txBody>
                    <a:bodyPr/>
                    <a:lstStyle/>
                    <a:p>
                      <a:pPr algn="ctr"/>
                      <a:r>
                        <a:rPr sz="1250" b="0">
                          <a:solidFill>
                            <a:srgbClr val="1F2937"/>
                          </a:solidFill>
                          <a:latin typeface="Segoe UI"/>
                        </a:rPr>
                        <a:t>16,5 min</a:t>
                      </a:r>
                    </a:p>
                  </a:txBody>
                  <a:tcPr anchor="ctr" marL="91440" marR="73152" marT="27432" marB="27432">
                    <a:solidFill>
                      <a:srgbClr val="F6F8FB"/>
                    </a:solidFill>
                  </a:tcPr>
                </a:tc>
              </a:tr>
              <a:tr h="365760">
                <a:tc>
                  <a:txBody>
                    <a:bodyPr/>
                    <a:lstStyle/>
                    <a:p>
                      <a:pPr algn="l"/>
                      <a:r>
                        <a:rPr sz="1250" b="0">
                          <a:solidFill>
                            <a:srgbClr val="1F2937"/>
                          </a:solidFill>
                          <a:latin typeface="Segoe UI"/>
                        </a:rPr>
                        <a:t>baseline « un bus par quartier »</a:t>
                      </a:r>
                    </a:p>
                  </a:txBody>
                  <a:tcPr anchor="ctr" marL="91440" marR="73152" marT="27432" marB="27432">
                    <a:solidFill>
                      <a:srgbClr val="FFFFFF"/>
                    </a:solidFill>
                  </a:tcPr>
                </a:tc>
                <a:tc>
                  <a:txBody>
                    <a:bodyPr/>
                    <a:lstStyle/>
                    <a:p>
                      <a:pPr algn="ctr"/>
                      <a:r>
                        <a:rPr sz="1250" b="0">
                          <a:solidFill>
                            <a:srgbClr val="1F2937"/>
                          </a:solidFill>
                          <a:latin typeface="Segoe UI"/>
                        </a:rPr>
                        <a:t>0,0394</a:t>
                      </a:r>
                    </a:p>
                  </a:txBody>
                  <a:tcPr anchor="ctr" marL="91440" marR="73152" marT="27432" marB="27432">
                    <a:solidFill>
                      <a:srgbClr val="FFFFFF"/>
                    </a:solidFill>
                  </a:tcPr>
                </a:tc>
                <a:tc>
                  <a:txBody>
                    <a:bodyPr/>
                    <a:lstStyle/>
                    <a:p>
                      <a:pPr algn="ctr"/>
                      <a:r>
                        <a:rPr sz="1250" b="0">
                          <a:solidFill>
                            <a:srgbClr val="1F2937"/>
                          </a:solidFill>
                          <a:latin typeface="Segoe UI"/>
                        </a:rPr>
                        <a:t>1 548 m</a:t>
                      </a:r>
                    </a:p>
                  </a:txBody>
                  <a:tcPr anchor="ctr" marL="91440" marR="73152" marT="27432" marB="27432">
                    <a:solidFill>
                      <a:srgbClr val="FFFFFF"/>
                    </a:solidFill>
                  </a:tcPr>
                </a:tc>
                <a:tc>
                  <a:txBody>
                    <a:bodyPr/>
                    <a:lstStyle/>
                    <a:p>
                      <a:pPr algn="ctr"/>
                      <a:r>
                        <a:rPr sz="1250" b="0">
                          <a:solidFill>
                            <a:srgbClr val="1F2937"/>
                          </a:solidFill>
                          <a:latin typeface="Segoe UI"/>
                        </a:rPr>
                        <a:t>5 236 m</a:t>
                      </a:r>
                    </a:p>
                  </a:txBody>
                  <a:tcPr anchor="ctr" marL="91440" marR="73152" marT="27432" marB="27432">
                    <a:solidFill>
                      <a:srgbClr val="FFFFFF"/>
                    </a:solidFill>
                  </a:tcPr>
                </a:tc>
                <a:tc>
                  <a:txBody>
                    <a:bodyPr/>
                    <a:lstStyle/>
                    <a:p>
                      <a:pPr algn="ctr"/>
                      <a:r>
                        <a:rPr sz="1250" b="0">
                          <a:solidFill>
                            <a:srgbClr val="1F2937"/>
                          </a:solidFill>
                          <a:latin typeface="Segoe UI"/>
                        </a:rPr>
                        <a:t>37 / 46</a:t>
                      </a:r>
                    </a:p>
                  </a:txBody>
                  <a:tcPr anchor="ctr" marL="91440" marR="73152" marT="27432" marB="27432">
                    <a:solidFill>
                      <a:srgbClr val="FFFFFF"/>
                    </a:solidFill>
                  </a:tcPr>
                </a:tc>
                <a:tc>
                  <a:txBody>
                    <a:bodyPr/>
                    <a:lstStyle/>
                    <a:p>
                      <a:pPr algn="ctr"/>
                      <a:r>
                        <a:rPr sz="1250" b="0">
                          <a:solidFill>
                            <a:srgbClr val="1F2937"/>
                          </a:solidFill>
                          <a:latin typeface="Segoe UI"/>
                        </a:rPr>
                        <a:t>oui</a:t>
                      </a:r>
                    </a:p>
                  </a:txBody>
                  <a:tcPr anchor="ctr" marL="91440" marR="73152" marT="27432" marB="27432">
                    <a:solidFill>
                      <a:srgbClr val="FFFFFF"/>
                    </a:solidFill>
                  </a:tcPr>
                </a:tc>
                <a:tc>
                  <a:txBody>
                    <a:bodyPr/>
                    <a:lstStyle/>
                    <a:p>
                      <a:pPr algn="ctr"/>
                      <a:r>
                        <a:rPr sz="1250" b="0">
                          <a:solidFill>
                            <a:srgbClr val="1F2937"/>
                          </a:solidFill>
                          <a:latin typeface="Segoe UI"/>
                        </a:rPr>
                        <a:t>291,5</a:t>
                      </a:r>
                    </a:p>
                  </a:txBody>
                  <a:tcPr anchor="ctr" marL="91440" marR="73152" marT="27432" marB="27432">
                    <a:solidFill>
                      <a:srgbClr val="FFFFFF"/>
                    </a:solidFill>
                  </a:tcPr>
                </a:tc>
                <a:tc>
                  <a:txBody>
                    <a:bodyPr/>
                    <a:lstStyle/>
                    <a:p>
                      <a:pPr algn="ctr"/>
                      <a:r>
                        <a:rPr sz="1250" b="0">
                          <a:solidFill>
                            <a:srgbClr val="1F2937"/>
                          </a:solidFill>
                          <a:latin typeface="Segoe UI"/>
                        </a:rPr>
                        <a:t>22,2 min</a:t>
                      </a:r>
                    </a:p>
                  </a:txBody>
                  <a:tcPr anchor="ctr" marL="91440" marR="73152" marT="27432" marB="27432">
                    <a:solidFill>
                      <a:srgbClr val="FFFFFF"/>
                    </a:solidFill>
                  </a:tcPr>
                </a:tc>
              </a:tr>
              <a:tr h="365760">
                <a:tc>
                  <a:txBody>
                    <a:bodyPr/>
                    <a:lstStyle/>
                    <a:p>
                      <a:pPr algn="l"/>
                      <a:r>
                        <a:rPr sz="1250" b="0">
                          <a:solidFill>
                            <a:srgbClr val="1F2937"/>
                          </a:solidFill>
                          <a:latin typeface="Segoe UI"/>
                        </a:rPr>
                        <a:t>baseline aléatoire</a:t>
                      </a:r>
                    </a:p>
                  </a:txBody>
                  <a:tcPr anchor="ctr" marL="91440" marR="73152" marT="27432" marB="27432">
                    <a:solidFill>
                      <a:srgbClr val="F6F8FB"/>
                    </a:solidFill>
                  </a:tcPr>
                </a:tc>
                <a:tc>
                  <a:txBody>
                    <a:bodyPr/>
                    <a:lstStyle/>
                    <a:p>
                      <a:pPr algn="ctr"/>
                      <a:r>
                        <a:rPr sz="1250" b="0">
                          <a:solidFill>
                            <a:srgbClr val="1F2937"/>
                          </a:solidFill>
                          <a:latin typeface="Segoe UI"/>
                        </a:rPr>
                        <a:t>−0,0806</a:t>
                      </a:r>
                    </a:p>
                  </a:txBody>
                  <a:tcPr anchor="ctr" marL="91440" marR="73152" marT="27432" marB="27432">
                    <a:solidFill>
                      <a:srgbClr val="F6F8FB"/>
                    </a:solidFill>
                  </a:tcPr>
                </a:tc>
                <a:tc>
                  <a:txBody>
                    <a:bodyPr/>
                    <a:lstStyle/>
                    <a:p>
                      <a:pPr algn="ctr"/>
                      <a:r>
                        <a:rPr sz="1250" b="0">
                          <a:solidFill>
                            <a:srgbClr val="1F2937"/>
                          </a:solidFill>
                          <a:latin typeface="Segoe UI"/>
                        </a:rPr>
                        <a:t>2 649 m</a:t>
                      </a:r>
                    </a:p>
                  </a:txBody>
                  <a:tcPr anchor="ctr" marL="91440" marR="73152" marT="27432" marB="27432">
                    <a:solidFill>
                      <a:srgbClr val="F6F8FB"/>
                    </a:solidFill>
                  </a:tcPr>
                </a:tc>
                <a:tc>
                  <a:txBody>
                    <a:bodyPr/>
                    <a:lstStyle/>
                    <a:p>
                      <a:pPr algn="ctr"/>
                      <a:r>
                        <a:rPr sz="1250" b="0">
                          <a:solidFill>
                            <a:srgbClr val="1F2937"/>
                          </a:solidFill>
                          <a:latin typeface="Segoe UI"/>
                        </a:rPr>
                        <a:t>5 959 m</a:t>
                      </a:r>
                    </a:p>
                  </a:txBody>
                  <a:tcPr anchor="ctr" marL="91440" marR="73152" marT="27432" marB="27432">
                    <a:solidFill>
                      <a:srgbClr val="F6F8FB"/>
                    </a:solidFill>
                  </a:tcPr>
                </a:tc>
                <a:tc>
                  <a:txBody>
                    <a:bodyPr/>
                    <a:lstStyle/>
                    <a:p>
                      <a:pPr algn="ctr"/>
                      <a:r>
                        <a:rPr sz="1250" b="0">
                          <a:solidFill>
                            <a:srgbClr val="1F2937"/>
                          </a:solidFill>
                          <a:latin typeface="Segoe UI"/>
                        </a:rPr>
                        <a:t>42 / 43</a:t>
                      </a:r>
                    </a:p>
                  </a:txBody>
                  <a:tcPr anchor="ctr" marL="91440" marR="73152" marT="27432" marB="27432">
                    <a:solidFill>
                      <a:srgbClr val="F6F8FB"/>
                    </a:solidFill>
                  </a:tcPr>
                </a:tc>
                <a:tc>
                  <a:txBody>
                    <a:bodyPr/>
                    <a:lstStyle/>
                    <a:p>
                      <a:pPr algn="ctr"/>
                      <a:r>
                        <a:rPr sz="1250" b="0">
                          <a:solidFill>
                            <a:srgbClr val="1F2937"/>
                          </a:solidFill>
                          <a:latin typeface="Segoe UI"/>
                        </a:rPr>
                        <a:t>oui</a:t>
                      </a:r>
                    </a:p>
                  </a:txBody>
                  <a:tcPr anchor="ctr" marL="91440" marR="73152" marT="27432" marB="27432">
                    <a:solidFill>
                      <a:srgbClr val="F6F8FB"/>
                    </a:solidFill>
                  </a:tcPr>
                </a:tc>
                <a:tc>
                  <a:txBody>
                    <a:bodyPr/>
                    <a:lstStyle/>
                    <a:p>
                      <a:pPr algn="ctr"/>
                      <a:r>
                        <a:rPr sz="1250" b="0">
                          <a:solidFill>
                            <a:srgbClr val="1F2937"/>
                          </a:solidFill>
                          <a:latin typeface="Segoe UI"/>
                        </a:rPr>
                        <a:t>532,9</a:t>
                      </a:r>
                    </a:p>
                  </a:txBody>
                  <a:tcPr anchor="ctr" marL="91440" marR="73152" marT="27432" marB="27432">
                    <a:solidFill>
                      <a:srgbClr val="F6F8FB"/>
                    </a:solidFill>
                  </a:tcPr>
                </a:tc>
                <a:tc>
                  <a:txBody>
                    <a:bodyPr/>
                    <a:lstStyle/>
                    <a:p>
                      <a:pPr algn="ctr"/>
                      <a:r>
                        <a:rPr sz="1250" b="0">
                          <a:solidFill>
                            <a:srgbClr val="1F2937"/>
                          </a:solidFill>
                          <a:latin typeface="Segoe UI"/>
                        </a:rPr>
                        <a:t>38,6 min</a:t>
                      </a:r>
                    </a:p>
                  </a:txBody>
                  <a:tcPr anchor="ctr" marL="91440" marR="73152" marT="27432" marB="27432">
                    <a:solidFill>
                      <a:srgbClr val="F6F8FB"/>
                    </a:solidFill>
                  </a:tcPr>
                </a:tc>
              </a:tr>
            </a:tbl>
          </a:graphicData>
        </a:graphic>
      </p:graphicFrame>
      <p:sp>
        <p:nvSpPr>
          <p:cNvPr id="10" name="TextBox 9"/>
          <p:cNvSpPr txBox="1"/>
          <p:nvPr/>
        </p:nvSpPr>
        <p:spPr>
          <a:xfrm>
            <a:off x="566928" y="4581144"/>
            <a:ext cx="11064240" cy="731520"/>
          </a:xfrm>
          <a:prstGeom prst="rect">
            <a:avLst/>
          </a:prstGeom>
          <a:noFill/>
        </p:spPr>
        <p:txBody>
          <a:bodyPr wrap="square">
            <a:spAutoFit/>
          </a:bodyPr>
          <a:lstStyle/>
          <a:p>
            <a:pPr algn="l">
              <a:spcAft>
                <a:spcPts val="0"/>
              </a:spcAft>
            </a:pPr>
            <a:r>
              <a:rPr sz="1300" b="0" i="1">
                <a:solidFill>
                  <a:srgbClr val="64748B"/>
                </a:solidFill>
                <a:latin typeface="Segoe UI"/>
              </a:rPr>
              <a:t>Toutes les partitions sont évaluées sur la MÊME matrice routière, quelle que soit la distance ayant servi à les construire (règle 4). Variance sur 10 graines : k=7 stable à ±0,0001 ; k=8 à ±0,0119 et k=9 à ±0,0204 — d'où l'instabilité du choix.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ANNEXE A6</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Les variables construites</a:t>
            </a:r>
          </a:p>
        </p:txBody>
      </p:sp>
      <p:sp>
        <p:nvSpPr>
          <p:cNvPr id="5" name="Rectangle 4"/>
          <p:cNvSpPr/>
          <p:nvPr/>
        </p:nvSpPr>
        <p:spPr>
          <a:xfrm>
            <a:off x="566928" y="1389888"/>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Annexes</a:t>
            </a:r>
          </a:p>
        </p:txBody>
      </p:sp>
      <p:sp>
        <p:nvSpPr>
          <p:cNvPr id="8" name="TextBox 7"/>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29</a:t>
            </a:r>
          </a:p>
        </p:txBody>
      </p:sp>
      <p:graphicFrame>
        <p:nvGraphicFramePr>
          <p:cNvPr id="9" name="Table 8"/>
          <p:cNvGraphicFramePr>
            <a:graphicFrameLocks noGrp="1"/>
          </p:cNvGraphicFramePr>
          <p:nvPr/>
        </p:nvGraphicFramePr>
        <p:xfrm>
          <a:off x="566928" y="1700784"/>
          <a:ext cx="11064238" cy="3017520"/>
        </p:xfrm>
        <a:graphic>
          <a:graphicData uri="http://schemas.openxmlformats.org/drawingml/2006/table">
            <a:tbl>
              <a:tblPr firstRow="1" bandRow="1">
                <a:tableStyleId>{5C22544A-7EE6-4342-B048-85BDC9FD1C3A}</a:tableStyleId>
              </a:tblPr>
              <a:tblGrid>
                <a:gridCol w="1177046"/>
                <a:gridCol w="2118684"/>
                <a:gridCol w="5414415"/>
                <a:gridCol w="2354093"/>
              </a:tblGrid>
              <a:tr h="457200">
                <a:tc>
                  <a:txBody>
                    <a:bodyPr/>
                    <a:lstStyle/>
                    <a:p>
                      <a:pPr algn="l"/>
                      <a:r>
                        <a:rPr sz="1250" b="1">
                          <a:solidFill>
                            <a:srgbClr val="FFFFFF"/>
                          </a:solidFill>
                          <a:latin typeface="Segoe UI"/>
                        </a:rPr>
                        <a:t>Brique</a:t>
                      </a:r>
                    </a:p>
                  </a:txBody>
                  <a:tcPr anchor="ctr" marL="91440" marR="73152" marT="27432" marB="27432">
                    <a:solidFill>
                      <a:srgbClr val="0F2942"/>
                    </a:solidFill>
                  </a:tcPr>
                </a:tc>
                <a:tc>
                  <a:txBody>
                    <a:bodyPr/>
                    <a:lstStyle/>
                    <a:p>
                      <a:pPr algn="ctr"/>
                      <a:r>
                        <a:rPr sz="1250" b="1">
                          <a:solidFill>
                            <a:srgbClr val="FFFFFF"/>
                          </a:solidFill>
                          <a:latin typeface="Segoe UI"/>
                        </a:rPr>
                        <a:t>Famille</a:t>
                      </a:r>
                    </a:p>
                  </a:txBody>
                  <a:tcPr anchor="ctr" marL="91440" marR="73152" marT="27432" marB="27432">
                    <a:solidFill>
                      <a:srgbClr val="0F2942"/>
                    </a:solidFill>
                  </a:tcPr>
                </a:tc>
                <a:tc>
                  <a:txBody>
                    <a:bodyPr/>
                    <a:lstStyle/>
                    <a:p>
                      <a:pPr algn="ctr"/>
                      <a:r>
                        <a:rPr sz="1250" b="1">
                          <a:solidFill>
                            <a:srgbClr val="FFFFFF"/>
                          </a:solidFill>
                          <a:latin typeface="Segoe UI"/>
                        </a:rPr>
                        <a:t>Variables</a:t>
                      </a:r>
                    </a:p>
                  </a:txBody>
                  <a:tcPr anchor="ctr" marL="91440" marR="73152" marT="27432" marB="27432">
                    <a:solidFill>
                      <a:srgbClr val="0F2942"/>
                    </a:solidFill>
                  </a:tcPr>
                </a:tc>
                <a:tc>
                  <a:txBody>
                    <a:bodyPr/>
                    <a:lstStyle/>
                    <a:p>
                      <a:pPr algn="ctr"/>
                      <a:r>
                        <a:rPr sz="1250" b="1">
                          <a:solidFill>
                            <a:srgbClr val="FFFFFF"/>
                          </a:solidFill>
                          <a:latin typeface="Segoe UI"/>
                        </a:rPr>
                        <a:t>Nature</a:t>
                      </a:r>
                    </a:p>
                  </a:txBody>
                  <a:tcPr anchor="ctr" marL="91440" marR="73152" marT="27432" marB="27432">
                    <a:solidFill>
                      <a:srgbClr val="0F2942"/>
                    </a:solidFill>
                  </a:tcPr>
                </a:tc>
              </a:tr>
              <a:tr h="365760">
                <a:tc>
                  <a:txBody>
                    <a:bodyPr/>
                    <a:lstStyle/>
                    <a:p>
                      <a:pPr algn="l"/>
                      <a:r>
                        <a:rPr sz="1250" b="1">
                          <a:solidFill>
                            <a:srgbClr val="1F2937"/>
                          </a:solidFill>
                          <a:latin typeface="Segoe UI"/>
                        </a:rPr>
                        <a:t>MS12</a:t>
                      </a:r>
                    </a:p>
                  </a:txBody>
                  <a:tcPr anchor="ctr" marL="91440" marR="73152" marT="27432" marB="27432">
                    <a:solidFill>
                      <a:srgbClr val="E0F2F7"/>
                    </a:solidFill>
                  </a:tcPr>
                </a:tc>
                <a:tc>
                  <a:txBody>
                    <a:bodyPr/>
                    <a:lstStyle/>
                    <a:p>
                      <a:pPr algn="ctr"/>
                      <a:r>
                        <a:rPr sz="1250" b="0">
                          <a:solidFill>
                            <a:srgbClr val="1F2937"/>
                          </a:solidFill>
                          <a:latin typeface="Segoe UI"/>
                        </a:rPr>
                        <a:t>Temporel</a:t>
                      </a:r>
                    </a:p>
                  </a:txBody>
                  <a:tcPr anchor="ctr" marL="91440" marR="73152" marT="27432" marB="27432">
                    <a:solidFill>
                      <a:srgbClr val="E0F2F7"/>
                    </a:solidFill>
                  </a:tcPr>
                </a:tc>
                <a:tc>
                  <a:txBody>
                    <a:bodyPr/>
                    <a:lstStyle/>
                    <a:p>
                      <a:pPr algn="ctr"/>
                      <a:r>
                        <a:rPr sz="1250" b="0">
                          <a:solidFill>
                            <a:srgbClr val="1F2937"/>
                          </a:solidFill>
                          <a:latin typeface="Segoe UI"/>
                        </a:rPr>
                        <a:t>heure_sin, heure_cos, jour_semaine, mois</a:t>
                      </a:r>
                    </a:p>
                  </a:txBody>
                  <a:tcPr anchor="ctr" marL="91440" marR="73152" marT="27432" marB="27432">
                    <a:solidFill>
                      <a:srgbClr val="E0F2F7"/>
                    </a:solidFill>
                  </a:tcPr>
                </a:tc>
                <a:tc>
                  <a:txBody>
                    <a:bodyPr/>
                    <a:lstStyle/>
                    <a:p>
                      <a:pPr algn="ctr"/>
                      <a:r>
                        <a:rPr sz="1250" b="0">
                          <a:solidFill>
                            <a:srgbClr val="1F2937"/>
                          </a:solidFill>
                          <a:latin typeface="Segoe UI"/>
                        </a:rPr>
                        <a:t>cyclique + numérique</a:t>
                      </a:r>
                    </a:p>
                  </a:txBody>
                  <a:tcPr anchor="ctr" marL="91440" marR="73152" marT="27432" marB="27432">
                    <a:solidFill>
                      <a:srgbClr val="E0F2F7"/>
                    </a:solidFill>
                  </a:tcPr>
                </a:tc>
              </a:tr>
              <a:tr h="365760">
                <a:tc>
                  <a:txBody>
                    <a:bodyPr/>
                    <a:lstStyle/>
                    <a:p>
                      <a:pPr algn="l"/>
                      <a:r>
                        <a:rPr sz="1250" b="0">
                          <a:solidFill>
                            <a:srgbClr val="1F2937"/>
                          </a:solidFill>
                          <a:latin typeface="Segoe UI"/>
                        </a:rPr>
                        <a:t>MS12</a:t>
                      </a:r>
                    </a:p>
                  </a:txBody>
                  <a:tcPr anchor="ctr" marL="91440" marR="73152" marT="27432" marB="27432">
                    <a:solidFill>
                      <a:srgbClr val="F6F8FB"/>
                    </a:solidFill>
                  </a:tcPr>
                </a:tc>
                <a:tc>
                  <a:txBody>
                    <a:bodyPr/>
                    <a:lstStyle/>
                    <a:p>
                      <a:pPr algn="ctr"/>
                      <a:r>
                        <a:rPr sz="1250" b="0">
                          <a:solidFill>
                            <a:srgbClr val="1F2937"/>
                          </a:solidFill>
                          <a:latin typeface="Segoe UI"/>
                        </a:rPr>
                        <a:t>Conditions</a:t>
                      </a:r>
                    </a:p>
                  </a:txBody>
                  <a:tcPr anchor="ctr" marL="91440" marR="73152" marT="27432" marB="27432">
                    <a:solidFill>
                      <a:srgbClr val="F6F8FB"/>
                    </a:solidFill>
                  </a:tcPr>
                </a:tc>
                <a:tc>
                  <a:txBody>
                    <a:bodyPr/>
                    <a:lstStyle/>
                    <a:p>
                      <a:pPr algn="ctr"/>
                      <a:r>
                        <a:rPr sz="1250" b="0">
                          <a:solidFill>
                            <a:srgbClr val="1F2937"/>
                          </a:solidFill>
                          <a:latin typeface="Segoe UI"/>
                        </a:rPr>
                        <a:t>météo (4), trafic (4)</a:t>
                      </a:r>
                    </a:p>
                  </a:txBody>
                  <a:tcPr anchor="ctr" marL="91440" marR="73152" marT="27432" marB="27432">
                    <a:solidFill>
                      <a:srgbClr val="F6F8FB"/>
                    </a:solidFill>
                  </a:tcPr>
                </a:tc>
                <a:tc>
                  <a:txBody>
                    <a:bodyPr/>
                    <a:lstStyle/>
                    <a:p>
                      <a:pPr algn="ctr"/>
                      <a:r>
                        <a:rPr sz="1250" b="0">
                          <a:solidFill>
                            <a:srgbClr val="1F2937"/>
                          </a:solidFill>
                          <a:latin typeface="Segoe UI"/>
                        </a:rPr>
                        <a:t>one-hot</a:t>
                      </a:r>
                    </a:p>
                  </a:txBody>
                  <a:tcPr anchor="ctr" marL="91440" marR="73152" marT="27432" marB="27432">
                    <a:solidFill>
                      <a:srgbClr val="F6F8FB"/>
                    </a:solidFill>
                  </a:tcPr>
                </a:tc>
              </a:tr>
              <a:tr h="365760">
                <a:tc>
                  <a:txBody>
                    <a:bodyPr/>
                    <a:lstStyle/>
                    <a:p>
                      <a:pPr algn="l"/>
                      <a:r>
                        <a:rPr sz="1250" b="0">
                          <a:solidFill>
                            <a:srgbClr val="1F2937"/>
                          </a:solidFill>
                          <a:latin typeface="Segoe UI"/>
                        </a:rPr>
                        <a:t>MS12</a:t>
                      </a:r>
                    </a:p>
                  </a:txBody>
                  <a:tcPr anchor="ctr" marL="91440" marR="73152" marT="27432" marB="27432">
                    <a:solidFill>
                      <a:srgbClr val="FFFFFF"/>
                    </a:solidFill>
                  </a:tcPr>
                </a:tc>
                <a:tc>
                  <a:txBody>
                    <a:bodyPr/>
                    <a:lstStyle/>
                    <a:p>
                      <a:pPr algn="ctr"/>
                      <a:r>
                        <a:rPr sz="1250" b="0">
                          <a:solidFill>
                            <a:srgbClr val="1F2937"/>
                          </a:solidFill>
                          <a:latin typeface="Segoe UI"/>
                        </a:rPr>
                        <a:t>Route</a:t>
                      </a:r>
                    </a:p>
                  </a:txBody>
                  <a:tcPr anchor="ctr" marL="91440" marR="73152" marT="27432" marB="27432">
                    <a:solidFill>
                      <a:srgbClr val="FFFFFF"/>
                    </a:solidFill>
                  </a:tcPr>
                </a:tc>
                <a:tc>
                  <a:txBody>
                    <a:bodyPr/>
                    <a:lstStyle/>
                    <a:p>
                      <a:pPr algn="ctr"/>
                      <a:r>
                        <a:rPr sz="1250" b="0">
                          <a:solidFill>
                            <a:srgbClr val="1F2937"/>
                          </a:solidFill>
                          <a:latin typeface="Segoe UI"/>
                        </a:rPr>
                        <a:t>distance_routiere_m, duree_base_s, nb_feux, traverse_oued</a:t>
                      </a:r>
                    </a:p>
                  </a:txBody>
                  <a:tcPr anchor="ctr" marL="91440" marR="73152" marT="27432" marB="27432">
                    <a:solidFill>
                      <a:srgbClr val="FFFFFF"/>
                    </a:solidFill>
                  </a:tcPr>
                </a:tc>
                <a:tc>
                  <a:txBody>
                    <a:bodyPr/>
                    <a:lstStyle/>
                    <a:p>
                      <a:pPr algn="ctr"/>
                      <a:r>
                        <a:rPr sz="1250" b="0">
                          <a:solidFill>
                            <a:srgbClr val="1F2937"/>
                          </a:solidFill>
                          <a:latin typeface="Segoe UI"/>
                        </a:rPr>
                        <a:t>numérique + binaire</a:t>
                      </a:r>
                    </a:p>
                  </a:txBody>
                  <a:tcPr anchor="ctr" marL="91440" marR="73152" marT="27432" marB="27432">
                    <a:solidFill>
                      <a:srgbClr val="FFFFFF"/>
                    </a:solidFill>
                  </a:tcPr>
                </a:tc>
              </a:tr>
              <a:tr h="365760">
                <a:tc>
                  <a:txBody>
                    <a:bodyPr/>
                    <a:lstStyle/>
                    <a:p>
                      <a:pPr algn="l"/>
                      <a:r>
                        <a:rPr sz="1250" b="0">
                          <a:solidFill>
                            <a:srgbClr val="1F2937"/>
                          </a:solidFill>
                          <a:latin typeface="Segoe UI"/>
                        </a:rPr>
                        <a:t>MS12</a:t>
                      </a:r>
                    </a:p>
                  </a:txBody>
                  <a:tcPr anchor="ctr" marL="91440" marR="73152" marT="27432" marB="27432">
                    <a:solidFill>
                      <a:srgbClr val="F6F8FB"/>
                    </a:solidFill>
                  </a:tcPr>
                </a:tc>
                <a:tc>
                  <a:txBody>
                    <a:bodyPr/>
                    <a:lstStyle/>
                    <a:p>
                      <a:pPr algn="ctr"/>
                      <a:r>
                        <a:rPr sz="1250" b="0">
                          <a:solidFill>
                            <a:srgbClr val="1F2937"/>
                          </a:solidFill>
                          <a:latin typeface="Segoe UI"/>
                        </a:rPr>
                        <a:t>Dwell</a:t>
                      </a:r>
                    </a:p>
                  </a:txBody>
                  <a:tcPr anchor="ctr" marL="91440" marR="73152" marT="27432" marB="27432">
                    <a:solidFill>
                      <a:srgbClr val="F6F8FB"/>
                    </a:solidFill>
                  </a:tcPr>
                </a:tc>
                <a:tc>
                  <a:txBody>
                    <a:bodyPr/>
                    <a:lstStyle/>
                    <a:p>
                      <a:pPr algn="ctr"/>
                      <a:r>
                        <a:rPr sz="1250" b="0">
                          <a:solidFill>
                            <a:srgbClr val="1F2937"/>
                          </a:solidFill>
                          <a:latin typeface="Segoe UI"/>
                        </a:rPr>
                        <a:t>nb_montees, nb_descentes, taux_occupation, nb_arrets_restants</a:t>
                      </a:r>
                    </a:p>
                  </a:txBody>
                  <a:tcPr anchor="ctr" marL="91440" marR="73152" marT="27432" marB="27432">
                    <a:solidFill>
                      <a:srgbClr val="F6F8FB"/>
                    </a:solidFill>
                  </a:tcPr>
                </a:tc>
                <a:tc>
                  <a:txBody>
                    <a:bodyPr/>
                    <a:lstStyle/>
                    <a:p>
                      <a:pPr algn="ctr"/>
                      <a:r>
                        <a:rPr sz="1250" b="0">
                          <a:solidFill>
                            <a:srgbClr val="1F2937"/>
                          </a:solidFill>
                          <a:latin typeface="Segoe UI"/>
                        </a:rPr>
                        <a:t>numérique</a:t>
                      </a:r>
                    </a:p>
                  </a:txBody>
                  <a:tcPr anchor="ctr" marL="91440" marR="73152" marT="27432" marB="27432">
                    <a:solidFill>
                      <a:srgbClr val="F6F8FB"/>
                    </a:solidFill>
                  </a:tcPr>
                </a:tc>
              </a:tr>
              <a:tr h="365760">
                <a:tc>
                  <a:txBody>
                    <a:bodyPr/>
                    <a:lstStyle/>
                    <a:p>
                      <a:pPr algn="l"/>
                      <a:r>
                        <a:rPr sz="1250" b="0">
                          <a:solidFill>
                            <a:srgbClr val="1F2937"/>
                          </a:solidFill>
                          <a:latin typeface="Segoe UI"/>
                        </a:rPr>
                        <a:t>MS12</a:t>
                      </a:r>
                    </a:p>
                  </a:txBody>
                  <a:tcPr anchor="ctr" marL="91440" marR="73152" marT="27432" marB="27432">
                    <a:solidFill>
                      <a:srgbClr val="FFFFFF"/>
                    </a:solidFill>
                  </a:tcPr>
                </a:tc>
                <a:tc>
                  <a:txBody>
                    <a:bodyPr/>
                    <a:lstStyle/>
                    <a:p>
                      <a:pPr algn="ctr"/>
                      <a:r>
                        <a:rPr sz="1250" b="0">
                          <a:solidFill>
                            <a:srgbClr val="1F2937"/>
                          </a:solidFill>
                          <a:latin typeface="Segoe UI"/>
                        </a:rPr>
                        <a:t>Contexte marocain</a:t>
                      </a:r>
                    </a:p>
                  </a:txBody>
                  <a:tcPr anchor="ctr" marL="91440" marR="73152" marT="27432" marB="27432">
                    <a:solidFill>
                      <a:srgbClr val="FFFFFF"/>
                    </a:solidFill>
                  </a:tcPr>
                </a:tc>
                <a:tc>
                  <a:txBody>
                    <a:bodyPr/>
                    <a:lstStyle/>
                    <a:p>
                      <a:pPr algn="ctr"/>
                      <a:r>
                        <a:rPr sz="1250" b="0">
                          <a:solidFill>
                            <a:srgbClr val="1F2937"/>
                          </a:solidFill>
                          <a:latin typeface="Segoe UI"/>
                        </a:rPr>
                        <a:t>ramadan, jour_souk, travaux_prevus</a:t>
                      </a:r>
                    </a:p>
                  </a:txBody>
                  <a:tcPr anchor="ctr" marL="91440" marR="73152" marT="27432" marB="27432">
                    <a:solidFill>
                      <a:srgbClr val="FFFFFF"/>
                    </a:solidFill>
                  </a:tcPr>
                </a:tc>
                <a:tc>
                  <a:txBody>
                    <a:bodyPr/>
                    <a:lstStyle/>
                    <a:p>
                      <a:pPr algn="ctr"/>
                      <a:r>
                        <a:rPr sz="1250" b="0">
                          <a:solidFill>
                            <a:srgbClr val="1F2937"/>
                          </a:solidFill>
                          <a:latin typeface="Segoe UI"/>
                        </a:rPr>
                        <a:t>binaire</a:t>
                      </a:r>
                    </a:p>
                  </a:txBody>
                  <a:tcPr anchor="ctr" marL="91440" marR="73152" marT="27432" marB="27432">
                    <a:solidFill>
                      <a:srgbClr val="FFFFFF"/>
                    </a:solidFill>
                  </a:tcPr>
                </a:tc>
              </a:tr>
              <a:tr h="365760">
                <a:tc>
                  <a:txBody>
                    <a:bodyPr/>
                    <a:lstStyle/>
                    <a:p>
                      <a:pPr algn="l"/>
                      <a:r>
                        <a:rPr sz="1250" b="0">
                          <a:solidFill>
                            <a:srgbClr val="1F2937"/>
                          </a:solidFill>
                          <a:latin typeface="Segoe UI"/>
                        </a:rPr>
                        <a:t>MS12</a:t>
                      </a:r>
                    </a:p>
                  </a:txBody>
                  <a:tcPr anchor="ctr" marL="91440" marR="73152" marT="27432" marB="27432">
                    <a:solidFill>
                      <a:srgbClr val="F6F8FB"/>
                    </a:solidFill>
                  </a:tcPr>
                </a:tc>
                <a:tc>
                  <a:txBody>
                    <a:bodyPr/>
                    <a:lstStyle/>
                    <a:p>
                      <a:pPr algn="ctr"/>
                      <a:r>
                        <a:rPr sz="1250" b="0">
                          <a:solidFill>
                            <a:srgbClr val="1F2937"/>
                          </a:solidFill>
                          <a:latin typeface="Segoe UI"/>
                        </a:rPr>
                        <a:t>Historique</a:t>
                      </a:r>
                    </a:p>
                  </a:txBody>
                  <a:tcPr anchor="ctr" marL="91440" marR="73152" marT="27432" marB="27432">
                    <a:solidFill>
                      <a:srgbClr val="F6F8FB"/>
                    </a:solidFill>
                  </a:tcPr>
                </a:tc>
                <a:tc>
                  <a:txBody>
                    <a:bodyPr/>
                    <a:lstStyle/>
                    <a:p>
                      <a:pPr algn="ctr"/>
                      <a:r>
                        <a:rPr sz="1250" b="0">
                          <a:solidFill>
                            <a:srgbClr val="1F2937"/>
                          </a:solidFill>
                          <a:latin typeface="Segoe UI"/>
                        </a:rPr>
                        <a:t>duree_moyenne_historique_s, retard_cumule_s</a:t>
                      </a:r>
                    </a:p>
                  </a:txBody>
                  <a:tcPr anchor="ctr" marL="91440" marR="73152" marT="27432" marB="27432">
                    <a:solidFill>
                      <a:srgbClr val="F6F8FB"/>
                    </a:solidFill>
                  </a:tcPr>
                </a:tc>
                <a:tc>
                  <a:txBody>
                    <a:bodyPr/>
                    <a:lstStyle/>
                    <a:p>
                      <a:pPr algn="ctr"/>
                      <a:r>
                        <a:rPr sz="1250" b="0">
                          <a:solidFill>
                            <a:srgbClr val="1F2937"/>
                          </a:solidFill>
                          <a:latin typeface="Segoe UI"/>
                        </a:rPr>
                        <a:t>sans fuite (shift 1)</a:t>
                      </a:r>
                    </a:p>
                  </a:txBody>
                  <a:tcPr anchor="ctr" marL="91440" marR="73152" marT="27432" marB="27432">
                    <a:solidFill>
                      <a:srgbClr val="F6F8FB"/>
                    </a:solidFill>
                  </a:tcPr>
                </a:tc>
              </a:tr>
              <a:tr h="365760">
                <a:tc>
                  <a:txBody>
                    <a:bodyPr/>
                    <a:lstStyle/>
                    <a:p>
                      <a:pPr algn="l"/>
                      <a:r>
                        <a:rPr sz="1250" b="0">
                          <a:solidFill>
                            <a:srgbClr val="1F2937"/>
                          </a:solidFill>
                          <a:latin typeface="Segoe UI"/>
                        </a:rPr>
                        <a:t>MS11</a:t>
                      </a:r>
                    </a:p>
                  </a:txBody>
                  <a:tcPr anchor="ctr" marL="91440" marR="73152" marT="27432" marB="27432">
                    <a:solidFill>
                      <a:srgbClr val="FFFFFF"/>
                    </a:solidFill>
                  </a:tcPr>
                </a:tc>
                <a:tc>
                  <a:txBody>
                    <a:bodyPr/>
                    <a:lstStyle/>
                    <a:p>
                      <a:pPr algn="ctr"/>
                      <a:r>
                        <a:rPr sz="1250" b="0">
                          <a:solidFill>
                            <a:srgbClr val="1F2937"/>
                          </a:solidFill>
                          <a:latin typeface="Segoe UI"/>
                        </a:rPr>
                        <a:t>Curées (6)</a:t>
                      </a:r>
                    </a:p>
                  </a:txBody>
                  <a:tcPr anchor="ctr" marL="91440" marR="73152" marT="27432" marB="27432">
                    <a:solidFill>
                      <a:srgbClr val="FFFFFF"/>
                    </a:solidFill>
                  </a:tcPr>
                </a:tc>
                <a:tc>
                  <a:txBody>
                    <a:bodyPr/>
                    <a:lstStyle/>
                    <a:p>
                      <a:pPr algn="ctr"/>
                      <a:r>
                        <a:rPr sz="1250" b="0">
                          <a:solidFill>
                            <a:srgbClr val="1F2937"/>
                          </a:solidFill>
                          <a:latin typeface="Segoe UI"/>
                        </a:rPr>
                        <a:t>surprise, ratio, dwell, nb_montees, nb_descentes, taux_occupation</a:t>
                      </a:r>
                    </a:p>
                  </a:txBody>
                  <a:tcPr anchor="ctr" marL="91440" marR="73152" marT="27432" marB="27432">
                    <a:solidFill>
                      <a:srgbClr val="FFFFFF"/>
                    </a:solidFill>
                  </a:tcPr>
                </a:tc>
                <a:tc>
                  <a:txBody>
                    <a:bodyPr/>
                    <a:lstStyle/>
                    <a:p>
                      <a:pPr algn="ctr"/>
                      <a:r>
                        <a:rPr sz="1250" b="0">
                          <a:solidFill>
                            <a:srgbClr val="1F2937"/>
                          </a:solidFill>
                          <a:latin typeface="Segoe UI"/>
                        </a:rPr>
                        <a:t>signaux construits</a:t>
                      </a:r>
                    </a:p>
                  </a:txBody>
                  <a:tcPr anchor="ctr" marL="91440" marR="73152" marT="27432" marB="27432">
                    <a:solidFill>
                      <a:srgbClr val="FFFFFF"/>
                    </a:solidFill>
                  </a:tcPr>
                </a:tc>
              </a:tr>
            </a:tbl>
          </a:graphicData>
        </a:graphic>
      </p:graphicFrame>
      <p:sp>
        <p:nvSpPr>
          <p:cNvPr id="10" name="TextBox 9"/>
          <p:cNvSpPr txBox="1"/>
          <p:nvPr/>
        </p:nvSpPr>
        <p:spPr>
          <a:xfrm>
            <a:off x="566928" y="4946904"/>
            <a:ext cx="11064240" cy="731520"/>
          </a:xfrm>
          <a:prstGeom prst="rect">
            <a:avLst/>
          </a:prstGeom>
          <a:noFill/>
        </p:spPr>
        <p:txBody>
          <a:bodyPr wrap="square">
            <a:spAutoFit/>
          </a:bodyPr>
          <a:lstStyle/>
          <a:p>
            <a:pPr algn="l">
              <a:spcAft>
                <a:spcPts val="0"/>
              </a:spcAft>
            </a:pPr>
            <a:r>
              <a:rPr sz="1300" b="0" i="1">
                <a:solidFill>
                  <a:srgbClr val="64748B"/>
                </a:solidFill>
                <a:latin typeface="Segoe UI"/>
              </a:rPr>
              <a:t>MS12 : 26 variables au total, réordonnées alphabétiquement pour garantir le même ordre à l'entraînement et en service. MS11 : 25 variables disponibles, 6 retenues — l'écart de PR-AUC entre les deux jeux est de 0,9127 contre 0,4818.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ANNEXE A4</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Topologie événementielle complète</a:t>
            </a:r>
          </a:p>
        </p:txBody>
      </p:sp>
      <p:sp>
        <p:nvSpPr>
          <p:cNvPr id="5" name="Rectangle 4"/>
          <p:cNvSpPr/>
          <p:nvPr/>
        </p:nvSpPr>
        <p:spPr>
          <a:xfrm>
            <a:off x="566928" y="1389888"/>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Annexes</a:t>
            </a:r>
          </a:p>
        </p:txBody>
      </p:sp>
      <p:sp>
        <p:nvSpPr>
          <p:cNvPr id="8" name="TextBox 7"/>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30</a:t>
            </a:r>
          </a:p>
        </p:txBody>
      </p:sp>
      <p:graphicFrame>
        <p:nvGraphicFramePr>
          <p:cNvPr id="9" name="Table 8"/>
          <p:cNvGraphicFramePr>
            <a:graphicFrameLocks noGrp="1"/>
          </p:cNvGraphicFramePr>
          <p:nvPr/>
        </p:nvGraphicFramePr>
        <p:xfrm>
          <a:off x="566928" y="1700784"/>
          <a:ext cx="8229600" cy="4297680"/>
        </p:xfrm>
        <a:graphic>
          <a:graphicData uri="http://schemas.openxmlformats.org/drawingml/2006/table">
            <a:tbl>
              <a:tblPr firstRow="1" bandRow="1">
                <a:tableStyleId>{5C22544A-7EE6-4342-B048-85BDC9FD1C3A}</a:tableStyleId>
              </a:tblPr>
              <a:tblGrid>
                <a:gridCol w="3840480"/>
                <a:gridCol w="1463040"/>
                <a:gridCol w="2926080"/>
              </a:tblGrid>
              <a:tr h="457200">
                <a:tc>
                  <a:txBody>
                    <a:bodyPr/>
                    <a:lstStyle/>
                    <a:p>
                      <a:pPr algn="l"/>
                      <a:r>
                        <a:rPr sz="1300" b="1">
                          <a:solidFill>
                            <a:srgbClr val="FFFFFF"/>
                          </a:solidFill>
                          <a:latin typeface="Segoe UI"/>
                        </a:rPr>
                        <a:t>Clé de routage</a:t>
                      </a:r>
                    </a:p>
                  </a:txBody>
                  <a:tcPr anchor="ctr" marL="91440" marR="73152" marT="27432" marB="27432">
                    <a:solidFill>
                      <a:srgbClr val="0F2942"/>
                    </a:solidFill>
                  </a:tcPr>
                </a:tc>
                <a:tc>
                  <a:txBody>
                    <a:bodyPr/>
                    <a:lstStyle/>
                    <a:p>
                      <a:pPr algn="ctr"/>
                      <a:r>
                        <a:rPr sz="1300" b="1">
                          <a:solidFill>
                            <a:srgbClr val="FFFFFF"/>
                          </a:solidFill>
                          <a:latin typeface="Segoe UI"/>
                        </a:rPr>
                        <a:t>Producteur</a:t>
                      </a:r>
                    </a:p>
                  </a:txBody>
                  <a:tcPr anchor="ctr" marL="91440" marR="73152" marT="27432" marB="27432">
                    <a:solidFill>
                      <a:srgbClr val="0F2942"/>
                    </a:solidFill>
                  </a:tcPr>
                </a:tc>
                <a:tc>
                  <a:txBody>
                    <a:bodyPr/>
                    <a:lstStyle/>
                    <a:p>
                      <a:pPr algn="ctr"/>
                      <a:r>
                        <a:rPr sz="1300" b="1">
                          <a:solidFill>
                            <a:srgbClr val="FFFFFF"/>
                          </a:solidFill>
                          <a:latin typeface="Segoe UI"/>
                        </a:rPr>
                        <a:t>Consommateur(s)</a:t>
                      </a:r>
                    </a:p>
                  </a:txBody>
                  <a:tcPr anchor="ctr" marL="91440" marR="73152" marT="27432" marB="27432">
                    <a:solidFill>
                      <a:srgbClr val="0F2942"/>
                    </a:solidFill>
                  </a:tcPr>
                </a:tc>
              </a:tr>
              <a:tr h="384048">
                <a:tc>
                  <a:txBody>
                    <a:bodyPr/>
                    <a:lstStyle/>
                    <a:p>
                      <a:pPr algn="l"/>
                      <a:r>
                        <a:rPr sz="1300">
                          <a:solidFill>
                            <a:srgbClr val="1F2937"/>
                          </a:solidFill>
                          <a:latin typeface="Segoe UI"/>
                        </a:rPr>
                        <a:t>gps.bus.updated</a:t>
                      </a:r>
                    </a:p>
                  </a:txBody>
                  <a:tcPr anchor="ctr" marL="91440" marR="73152" marT="27432" marB="27432">
                    <a:solidFill>
                      <a:srgbClr val="FFFFFF"/>
                    </a:solidFill>
                  </a:tcPr>
                </a:tc>
                <a:tc>
                  <a:txBody>
                    <a:bodyPr/>
                    <a:lstStyle/>
                    <a:p>
                      <a:pPr algn="ctr"/>
                      <a:r>
                        <a:rPr sz="1300">
                          <a:solidFill>
                            <a:srgbClr val="1F2937"/>
                          </a:solidFill>
                          <a:latin typeface="Segoe UI"/>
                        </a:rPr>
                        <a:t>MS3</a:t>
                      </a:r>
                    </a:p>
                  </a:txBody>
                  <a:tcPr anchor="ctr" marL="91440" marR="73152" marT="27432" marB="27432">
                    <a:solidFill>
                      <a:srgbClr val="FFFFFF"/>
                    </a:solidFill>
                  </a:tcPr>
                </a:tc>
                <a:tc>
                  <a:txBody>
                    <a:bodyPr/>
                    <a:lstStyle/>
                    <a:p>
                      <a:pPr algn="ctr"/>
                      <a:r>
                        <a:rPr sz="1300">
                          <a:solidFill>
                            <a:srgbClr val="1F2937"/>
                          </a:solidFill>
                          <a:latin typeface="Segoe UI"/>
                        </a:rPr>
                        <a:t>MS4 · MS11 · MS12</a:t>
                      </a:r>
                    </a:p>
                  </a:txBody>
                  <a:tcPr anchor="ctr" marL="91440" marR="73152" marT="27432" marB="27432">
                    <a:solidFill>
                      <a:srgbClr val="FFFFFF"/>
                    </a:solidFill>
                  </a:tcPr>
                </a:tc>
              </a:tr>
              <a:tr h="384048">
                <a:tc>
                  <a:txBody>
                    <a:bodyPr/>
                    <a:lstStyle/>
                    <a:p>
                      <a:pPr algn="l"/>
                      <a:r>
                        <a:rPr sz="1300">
                          <a:solidFill>
                            <a:srgbClr val="1F2937"/>
                          </a:solidFill>
                          <a:latin typeface="Segoe UI"/>
                        </a:rPr>
                        <a:t>eta.bus.arriving</a:t>
                      </a:r>
                    </a:p>
                  </a:txBody>
                  <a:tcPr anchor="ctr" marL="91440" marR="73152" marT="27432" marB="27432">
                    <a:solidFill>
                      <a:srgbClr val="F6F8FB"/>
                    </a:solidFill>
                  </a:tcPr>
                </a:tc>
                <a:tc>
                  <a:txBody>
                    <a:bodyPr/>
                    <a:lstStyle/>
                    <a:p>
                      <a:pPr algn="ctr"/>
                      <a:r>
                        <a:rPr sz="1300">
                          <a:solidFill>
                            <a:srgbClr val="1F2937"/>
                          </a:solidFill>
                          <a:latin typeface="Segoe UI"/>
                        </a:rPr>
                        <a:t>MS12</a:t>
                      </a:r>
                    </a:p>
                  </a:txBody>
                  <a:tcPr anchor="ctr" marL="91440" marR="73152" marT="27432" marB="27432">
                    <a:solidFill>
                      <a:srgbClr val="F6F8FB"/>
                    </a:solidFill>
                  </a:tcPr>
                </a:tc>
                <a:tc>
                  <a:txBody>
                    <a:bodyPr/>
                    <a:lstStyle/>
                    <a:p>
                      <a:pPr algn="ctr"/>
                      <a:r>
                        <a:rPr sz="1300">
                          <a:solidFill>
                            <a:srgbClr val="1F2937"/>
                          </a:solidFill>
                          <a:latin typeface="Segoe UI"/>
                        </a:rPr>
                        <a:t>MS4</a:t>
                      </a:r>
                    </a:p>
                  </a:txBody>
                  <a:tcPr anchor="ctr" marL="91440" marR="73152" marT="27432" marB="27432">
                    <a:solidFill>
                      <a:srgbClr val="F6F8FB"/>
                    </a:solidFill>
                  </a:tcPr>
                </a:tc>
              </a:tr>
              <a:tr h="384048">
                <a:tc>
                  <a:txBody>
                    <a:bodyPr/>
                    <a:lstStyle/>
                    <a:p>
                      <a:pPr algn="l"/>
                      <a:r>
                        <a:rPr sz="1300">
                          <a:solidFill>
                            <a:srgbClr val="1F2937"/>
                          </a:solidFill>
                          <a:latin typeface="Segoe UI"/>
                        </a:rPr>
                        <a:t>anomalie.detectee</a:t>
                      </a:r>
                    </a:p>
                  </a:txBody>
                  <a:tcPr anchor="ctr" marL="91440" marR="73152" marT="27432" marB="27432">
                    <a:solidFill>
                      <a:srgbClr val="FFFFFF"/>
                    </a:solidFill>
                  </a:tcPr>
                </a:tc>
                <a:tc>
                  <a:txBody>
                    <a:bodyPr/>
                    <a:lstStyle/>
                    <a:p>
                      <a:pPr algn="ctr"/>
                      <a:r>
                        <a:rPr sz="1300">
                          <a:solidFill>
                            <a:srgbClr val="1F2937"/>
                          </a:solidFill>
                          <a:latin typeface="Segoe UI"/>
                        </a:rPr>
                        <a:t>MS11</a:t>
                      </a:r>
                    </a:p>
                  </a:txBody>
                  <a:tcPr anchor="ctr" marL="91440" marR="73152" marT="27432" marB="27432">
                    <a:solidFill>
                      <a:srgbClr val="FFFFFF"/>
                    </a:solidFill>
                  </a:tcPr>
                </a:tc>
                <a:tc>
                  <a:txBody>
                    <a:bodyPr/>
                    <a:lstStyle/>
                    <a:p>
                      <a:pPr algn="ctr"/>
                      <a:r>
                        <a:rPr sz="1300">
                          <a:solidFill>
                            <a:srgbClr val="1F2937"/>
                          </a:solidFill>
                          <a:latin typeface="Segoe UI"/>
                        </a:rPr>
                        <a:t>MS4</a:t>
                      </a:r>
                    </a:p>
                  </a:txBody>
                  <a:tcPr anchor="ctr" marL="91440" marR="73152" marT="27432" marB="27432">
                    <a:solidFill>
                      <a:srgbClr val="FFFFFF"/>
                    </a:solidFill>
                  </a:tcPr>
                </a:tc>
              </a:tr>
              <a:tr h="384048">
                <a:tc>
                  <a:txBody>
                    <a:bodyPr/>
                    <a:lstStyle/>
                    <a:p>
                      <a:pPr algn="l"/>
                      <a:r>
                        <a:rPr sz="1300">
                          <a:solidFill>
                            <a:srgbClr val="1F2937"/>
                          </a:solidFill>
                          <a:latin typeface="Segoe UI"/>
                        </a:rPr>
                        <a:t>clustering.quality.low</a:t>
                      </a:r>
                    </a:p>
                  </a:txBody>
                  <a:tcPr anchor="ctr" marL="91440" marR="73152" marT="27432" marB="27432">
                    <a:solidFill>
                      <a:srgbClr val="F6F8FB"/>
                    </a:solidFill>
                  </a:tcPr>
                </a:tc>
                <a:tc>
                  <a:txBody>
                    <a:bodyPr/>
                    <a:lstStyle/>
                    <a:p>
                      <a:pPr algn="ctr"/>
                      <a:r>
                        <a:rPr sz="1300">
                          <a:solidFill>
                            <a:srgbClr val="1F2937"/>
                          </a:solidFill>
                          <a:latin typeface="Segoe UI"/>
                        </a:rPr>
                        <a:t>MS6</a:t>
                      </a:r>
                    </a:p>
                  </a:txBody>
                  <a:tcPr anchor="ctr" marL="91440" marR="73152" marT="27432" marB="27432">
                    <a:solidFill>
                      <a:srgbClr val="F6F8FB"/>
                    </a:solidFill>
                  </a:tcPr>
                </a:tc>
                <a:tc>
                  <a:txBody>
                    <a:bodyPr/>
                    <a:lstStyle/>
                    <a:p>
                      <a:pPr algn="ctr"/>
                      <a:r>
                        <a:rPr sz="1300">
                          <a:solidFill>
                            <a:srgbClr val="1F2937"/>
                          </a:solidFill>
                          <a:latin typeface="Segoe UI"/>
                        </a:rPr>
                        <a:t>MS4</a:t>
                      </a:r>
                    </a:p>
                  </a:txBody>
                  <a:tcPr anchor="ctr" marL="91440" marR="73152" marT="27432" marB="27432">
                    <a:solidFill>
                      <a:srgbClr val="F6F8FB"/>
                    </a:solidFill>
                  </a:tcPr>
                </a:tc>
              </a:tr>
              <a:tr h="384048">
                <a:tc>
                  <a:txBody>
                    <a:bodyPr/>
                    <a:lstStyle/>
                    <a:p>
                      <a:pPr algn="l"/>
                      <a:r>
                        <a:rPr sz="1300">
                          <a:solidFill>
                            <a:srgbClr val="1F2937"/>
                          </a:solidFill>
                          <a:latin typeface="Segoe UI"/>
                        </a:rPr>
                        <a:t>eleve.created / gps.updated / deleted</a:t>
                      </a:r>
                    </a:p>
                  </a:txBody>
                  <a:tcPr anchor="ctr" marL="91440" marR="73152" marT="27432" marB="27432">
                    <a:solidFill>
                      <a:srgbClr val="FFFFFF"/>
                    </a:solidFill>
                  </a:tcPr>
                </a:tc>
                <a:tc>
                  <a:txBody>
                    <a:bodyPr/>
                    <a:lstStyle/>
                    <a:p>
                      <a:pPr algn="ctr"/>
                      <a:r>
                        <a:rPr sz="1300">
                          <a:solidFill>
                            <a:srgbClr val="1F2937"/>
                          </a:solidFill>
                          <a:latin typeface="Segoe UI"/>
                        </a:rPr>
                        <a:t>MS2</a:t>
                      </a:r>
                    </a:p>
                  </a:txBody>
                  <a:tcPr anchor="ctr" marL="91440" marR="73152" marT="27432" marB="27432">
                    <a:solidFill>
                      <a:srgbClr val="FFFFFF"/>
                    </a:solidFill>
                  </a:tcPr>
                </a:tc>
                <a:tc>
                  <a:txBody>
                    <a:bodyPr/>
                    <a:lstStyle/>
                    <a:p>
                      <a:pPr algn="ctr"/>
                      <a:r>
                        <a:rPr sz="1300">
                          <a:solidFill>
                            <a:srgbClr val="1F2937"/>
                          </a:solidFill>
                          <a:latin typeface="Segoe UI"/>
                        </a:rPr>
                        <a:t>MS6</a:t>
                      </a:r>
                    </a:p>
                  </a:txBody>
                  <a:tcPr anchor="ctr" marL="91440" marR="73152" marT="27432" marB="27432">
                    <a:solidFill>
                      <a:srgbClr val="FFFFFF"/>
                    </a:solidFill>
                  </a:tcPr>
                </a:tc>
              </a:tr>
              <a:tr h="384048">
                <a:tc>
                  <a:txBody>
                    <a:bodyPr/>
                    <a:lstStyle/>
                    <a:p>
                      <a:pPr algn="l"/>
                      <a:r>
                        <a:rPr sz="1300">
                          <a:solidFill>
                            <a:srgbClr val="1F2937"/>
                          </a:solidFill>
                          <a:latin typeface="Segoe UI"/>
                        </a:rPr>
                        <a:t>bus.created / bus.deleted</a:t>
                      </a:r>
                    </a:p>
                  </a:txBody>
                  <a:tcPr anchor="ctr" marL="91440" marR="73152" marT="27432" marB="27432">
                    <a:solidFill>
                      <a:srgbClr val="F6F8FB"/>
                    </a:solidFill>
                  </a:tcPr>
                </a:tc>
                <a:tc>
                  <a:txBody>
                    <a:bodyPr/>
                    <a:lstStyle/>
                    <a:p>
                      <a:pPr algn="ctr"/>
                      <a:r>
                        <a:rPr sz="1300">
                          <a:solidFill>
                            <a:srgbClr val="1F2937"/>
                          </a:solidFill>
                          <a:latin typeface="Segoe UI"/>
                        </a:rPr>
                        <a:t>MS1</a:t>
                      </a:r>
                    </a:p>
                  </a:txBody>
                  <a:tcPr anchor="ctr" marL="91440" marR="73152" marT="27432" marB="27432">
                    <a:solidFill>
                      <a:srgbClr val="F6F8FB"/>
                    </a:solidFill>
                  </a:tcPr>
                </a:tc>
                <a:tc>
                  <a:txBody>
                    <a:bodyPr/>
                    <a:lstStyle/>
                    <a:p>
                      <a:pPr algn="ctr"/>
                      <a:r>
                        <a:rPr sz="1300">
                          <a:solidFill>
                            <a:srgbClr val="1F2937"/>
                          </a:solidFill>
                          <a:latin typeface="Segoe UI"/>
                        </a:rPr>
                        <a:t>MS6</a:t>
                      </a:r>
                    </a:p>
                  </a:txBody>
                  <a:tcPr anchor="ctr" marL="91440" marR="73152" marT="27432" marB="27432">
                    <a:solidFill>
                      <a:srgbClr val="F6F8FB"/>
                    </a:solidFill>
                  </a:tcPr>
                </a:tc>
              </a:tr>
              <a:tr h="384048">
                <a:tc>
                  <a:txBody>
                    <a:bodyPr/>
                    <a:lstStyle/>
                    <a:p>
                      <a:pPr algn="l"/>
                      <a:r>
                        <a:rPr sz="1300">
                          <a:solidFill>
                            <a:srgbClr val="1F2937"/>
                          </a:solidFill>
                          <a:latin typeface="Segoe UI"/>
                        </a:rPr>
                        <a:t>trajet.demarre / trajet.termine</a:t>
                      </a:r>
                    </a:p>
                  </a:txBody>
                  <a:tcPr anchor="ctr" marL="91440" marR="73152" marT="27432" marB="27432">
                    <a:solidFill>
                      <a:srgbClr val="FFFFFF"/>
                    </a:solidFill>
                  </a:tcPr>
                </a:tc>
                <a:tc>
                  <a:txBody>
                    <a:bodyPr/>
                    <a:lstStyle/>
                    <a:p>
                      <a:pPr algn="ctr"/>
                      <a:r>
                        <a:rPr sz="1300">
                          <a:solidFill>
                            <a:srgbClr val="1F2937"/>
                          </a:solidFill>
                          <a:latin typeface="Segoe UI"/>
                        </a:rPr>
                        <a:t>MS1</a:t>
                      </a:r>
                    </a:p>
                  </a:txBody>
                  <a:tcPr anchor="ctr" marL="91440" marR="73152" marT="27432" marB="27432">
                    <a:solidFill>
                      <a:srgbClr val="FFFFFF"/>
                    </a:solidFill>
                  </a:tcPr>
                </a:tc>
                <a:tc>
                  <a:txBody>
                    <a:bodyPr/>
                    <a:lstStyle/>
                    <a:p>
                      <a:pPr algn="ctr"/>
                      <a:r>
                        <a:rPr sz="1300">
                          <a:solidFill>
                            <a:srgbClr val="1F2937"/>
                          </a:solidFill>
                          <a:latin typeface="Segoe UI"/>
                        </a:rPr>
                        <a:t>MS4 · MS11</a:t>
                      </a:r>
                    </a:p>
                  </a:txBody>
                  <a:tcPr anchor="ctr" marL="91440" marR="73152" marT="27432" marB="27432">
                    <a:solidFill>
                      <a:srgbClr val="FFFFFF"/>
                    </a:solidFill>
                  </a:tcPr>
                </a:tc>
              </a:tr>
              <a:tr h="384048">
                <a:tc>
                  <a:txBody>
                    <a:bodyPr/>
                    <a:lstStyle/>
                    <a:p>
                      <a:pPr algn="l"/>
                      <a:r>
                        <a:rPr sz="1300">
                          <a:solidFill>
                            <a:srgbClr val="1F2937"/>
                          </a:solidFill>
                          <a:latin typeface="Segoe UI"/>
                        </a:rPr>
                        <a:t>eleve.presence.updated</a:t>
                      </a:r>
                    </a:p>
                  </a:txBody>
                  <a:tcPr anchor="ctr" marL="91440" marR="73152" marT="27432" marB="27432">
                    <a:solidFill>
                      <a:srgbClr val="F6F8FB"/>
                    </a:solidFill>
                  </a:tcPr>
                </a:tc>
                <a:tc>
                  <a:txBody>
                    <a:bodyPr/>
                    <a:lstStyle/>
                    <a:p>
                      <a:pPr algn="ctr"/>
                      <a:r>
                        <a:rPr sz="1300">
                          <a:solidFill>
                            <a:srgbClr val="1F2937"/>
                          </a:solidFill>
                          <a:latin typeface="Segoe UI"/>
                        </a:rPr>
                        <a:t>MS2</a:t>
                      </a:r>
                    </a:p>
                  </a:txBody>
                  <a:tcPr anchor="ctr" marL="91440" marR="73152" marT="27432" marB="27432">
                    <a:solidFill>
                      <a:srgbClr val="F6F8FB"/>
                    </a:solidFill>
                  </a:tcPr>
                </a:tc>
                <a:tc>
                  <a:txBody>
                    <a:bodyPr/>
                    <a:lstStyle/>
                    <a:p>
                      <a:pPr algn="ctr"/>
                      <a:r>
                        <a:rPr sz="1300">
                          <a:solidFill>
                            <a:srgbClr val="1F2937"/>
                          </a:solidFill>
                          <a:latin typeface="Segoe UI"/>
                        </a:rPr>
                        <a:t>MS4</a:t>
                      </a:r>
                    </a:p>
                  </a:txBody>
                  <a:tcPr anchor="ctr" marL="91440" marR="73152" marT="27432" marB="27432">
                    <a:solidFill>
                      <a:srgbClr val="F6F8FB"/>
                    </a:solidFill>
                  </a:tcPr>
                </a:tc>
              </a:tr>
              <a:tr h="384048">
                <a:tc>
                  <a:txBody>
                    <a:bodyPr/>
                    <a:lstStyle/>
                    <a:p>
                      <a:pPr algn="l"/>
                      <a:r>
                        <a:rPr sz="1300">
                          <a:solidFill>
                            <a:srgbClr val="1F2937"/>
                          </a:solidFill>
                          <a:latin typeface="Segoe UI"/>
                        </a:rPr>
                        <a:t>incident.signale / incident.resolu</a:t>
                      </a:r>
                    </a:p>
                  </a:txBody>
                  <a:tcPr anchor="ctr" marL="91440" marR="73152" marT="27432" marB="27432">
                    <a:solidFill>
                      <a:srgbClr val="FFFFFF"/>
                    </a:solidFill>
                  </a:tcPr>
                </a:tc>
                <a:tc>
                  <a:txBody>
                    <a:bodyPr/>
                    <a:lstStyle/>
                    <a:p>
                      <a:pPr algn="ctr"/>
                      <a:r>
                        <a:rPr sz="1300">
                          <a:solidFill>
                            <a:srgbClr val="1F2937"/>
                          </a:solidFill>
                          <a:latin typeface="Segoe UI"/>
                        </a:rPr>
                        <a:t>MS10</a:t>
                      </a:r>
                    </a:p>
                  </a:txBody>
                  <a:tcPr anchor="ctr" marL="91440" marR="73152" marT="27432" marB="27432">
                    <a:solidFill>
                      <a:srgbClr val="FFFFFF"/>
                    </a:solidFill>
                  </a:tcPr>
                </a:tc>
                <a:tc>
                  <a:txBody>
                    <a:bodyPr/>
                    <a:lstStyle/>
                    <a:p>
                      <a:pPr algn="ctr"/>
                      <a:r>
                        <a:rPr sz="1300">
                          <a:solidFill>
                            <a:srgbClr val="1F2937"/>
                          </a:solidFill>
                          <a:latin typeface="Segoe UI"/>
                        </a:rPr>
                        <a:t>MS4</a:t>
                      </a:r>
                    </a:p>
                  </a:txBody>
                  <a:tcPr anchor="ctr" marL="91440" marR="73152" marT="27432" marB="27432">
                    <a:solidFill>
                      <a:srgbClr val="FFFFFF"/>
                    </a:solidFill>
                  </a:tcPr>
                </a:tc>
              </a:tr>
              <a:tr h="384048">
                <a:tc>
                  <a:txBody>
                    <a:bodyPr/>
                    <a:lstStyle/>
                    <a:p>
                      <a:pPr algn="l"/>
                      <a:r>
                        <a:rPr sz="1300">
                          <a:solidFill>
                            <a:srgbClr val="1F2937"/>
                          </a:solidFill>
                          <a:latin typeface="Segoe UI"/>
                        </a:rPr>
                        <a:t>parametres.updated</a:t>
                      </a:r>
                    </a:p>
                  </a:txBody>
                  <a:tcPr anchor="ctr" marL="91440" marR="73152" marT="27432" marB="27432">
                    <a:solidFill>
                      <a:srgbClr val="F6F8FB"/>
                    </a:solidFill>
                  </a:tcPr>
                </a:tc>
                <a:tc>
                  <a:txBody>
                    <a:bodyPr/>
                    <a:lstStyle/>
                    <a:p>
                      <a:pPr algn="ctr"/>
                      <a:r>
                        <a:rPr sz="1300">
                          <a:solidFill>
                            <a:srgbClr val="1F2937"/>
                          </a:solidFill>
                          <a:latin typeface="Segoe UI"/>
                        </a:rPr>
                        <a:t>MS13</a:t>
                      </a:r>
                    </a:p>
                  </a:txBody>
                  <a:tcPr anchor="ctr" marL="91440" marR="73152" marT="27432" marB="27432">
                    <a:solidFill>
                      <a:srgbClr val="F6F8FB"/>
                    </a:solidFill>
                  </a:tcPr>
                </a:tc>
                <a:tc>
                  <a:txBody>
                    <a:bodyPr/>
                    <a:lstStyle/>
                    <a:p>
                      <a:pPr algn="ctr"/>
                      <a:r>
                        <a:rPr sz="1300">
                          <a:solidFill>
                            <a:srgbClr val="1F2937"/>
                          </a:solidFill>
                          <a:latin typeface="Segoe UI"/>
                        </a:rPr>
                        <a:t>MS4 · MS5 · MS6 · MS9 · MS11 · MS12</a:t>
                      </a:r>
                    </a:p>
                  </a:txBody>
                  <a:tcPr anchor="ctr" marL="91440" marR="73152" marT="27432" marB="27432">
                    <a:solidFill>
                      <a:srgbClr val="F6F8FB"/>
                    </a:solidFill>
                  </a:tcPr>
                </a:tc>
              </a:tr>
            </a:tbl>
          </a:graphicData>
        </a:graphic>
      </p:graphicFrame>
      <p:sp>
        <p:nvSpPr>
          <p:cNvPr id="10" name="Rectangle 9"/>
          <p:cNvSpPr/>
          <p:nvPr/>
        </p:nvSpPr>
        <p:spPr>
          <a:xfrm>
            <a:off x="9006840" y="1700784"/>
            <a:ext cx="2624328" cy="201168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08008" y="1819656"/>
            <a:ext cx="2258568" cy="292608"/>
          </a:xfrm>
          <a:prstGeom prst="rect">
            <a:avLst/>
          </a:prstGeom>
          <a:noFill/>
        </p:spPr>
        <p:txBody>
          <a:bodyPr wrap="square">
            <a:spAutoFit/>
          </a:bodyPr>
          <a:lstStyle/>
          <a:p>
            <a:pPr algn="l">
              <a:spcAft>
                <a:spcPts val="0"/>
              </a:spcAft>
            </a:pPr>
            <a:r>
              <a:rPr sz="1500" b="1" i="0">
                <a:solidFill>
                  <a:srgbClr val="0E7490"/>
                </a:solidFill>
                <a:latin typeface="Segoe UI"/>
              </a:rPr>
              <a:t>Un choix de conception</a:t>
            </a:r>
          </a:p>
        </p:txBody>
      </p:sp>
      <p:sp>
        <p:nvSpPr>
          <p:cNvPr id="12" name="TextBox 11"/>
          <p:cNvSpPr txBox="1"/>
          <p:nvPr/>
        </p:nvSpPr>
        <p:spPr>
          <a:xfrm>
            <a:off x="9208008" y="2176272"/>
            <a:ext cx="2240280" cy="1463040"/>
          </a:xfrm>
          <a:prstGeom prst="rect">
            <a:avLst/>
          </a:prstGeom>
          <a:noFill/>
        </p:spPr>
        <p:txBody>
          <a:bodyPr wrap="square">
            <a:spAutoFit/>
          </a:bodyPr>
          <a:lstStyle/>
          <a:p>
            <a:pPr algn="l">
              <a:spcAft>
                <a:spcPts val="0"/>
              </a:spcAft>
            </a:pPr>
            <a:r>
              <a:rPr sz="1500" b="0" i="0">
                <a:solidFill>
                  <a:srgbClr val="1F2937"/>
                </a:solidFill>
                <a:latin typeface="Segoe UI"/>
              </a:rPr>
              <a:t>parametres.updated arrive dans une file
EXCLUSIVE par service. Une file durable
partagée ferait qu'un seul service
recevrait chaque changement — une flotte
configurée de façon incohérente,
sans aucune erreur.</a:t>
            </a:r>
          </a:p>
        </p:txBody>
      </p:sp>
      <p:sp>
        <p:nvSpPr>
          <p:cNvPr id="13" name="TextBox 12"/>
          <p:cNvSpPr txBox="1"/>
          <p:nvPr/>
        </p:nvSpPr>
        <p:spPr>
          <a:xfrm>
            <a:off x="566928" y="6044184"/>
            <a:ext cx="11064240" cy="457200"/>
          </a:xfrm>
          <a:prstGeom prst="rect">
            <a:avLst/>
          </a:prstGeom>
          <a:noFill/>
        </p:spPr>
        <p:txBody>
          <a:bodyPr wrap="square">
            <a:spAutoFit/>
          </a:bodyPr>
          <a:lstStyle/>
          <a:p>
            <a:pPr algn="l">
              <a:spcAft>
                <a:spcPts val="0"/>
              </a:spcAft>
            </a:pPr>
            <a:r>
              <a:rPr sz="1500" b="1" i="0">
                <a:solidFill>
                  <a:srgbClr val="0F2942"/>
                </a:solidFill>
                <a:latin typeface="Segoe UI"/>
              </a:rPr>
              <a:t>Un seul exchange topic  ·  16 clés de routage  ·  18 files consommées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spAutoFit/>
          </a:bodyPr>
          <a:lstStyle/>
          <a:p>
            <a:pPr algn="l">
              <a:spcAft>
                <a:spcPts val="0"/>
              </a:spcAft>
            </a:pPr>
            <a:r>
              <a:rPr sz="1200" b="1" i="0">
                <a:solidFill>
                  <a:srgbClr val="0E7490"/>
                </a:solidFill>
                <a:latin typeface="Segoe UI"/>
              </a:rPr>
              <a:t>ANNEXE A8</a:t>
            </a:r>
          </a:p>
        </p:txBody>
      </p:sp>
      <p:sp>
        <p:nvSpPr>
          <p:cNvPr id="4" name="TextBox 3"/>
          <p:cNvSpPr txBox="1"/>
          <p:nvPr/>
        </p:nvSpPr>
        <p:spPr>
          <a:xfrm>
            <a:off x="548640" y="685800"/>
            <a:ext cx="11155680" cy="685800"/>
          </a:xfrm>
          <a:prstGeom prst="rect">
            <a:avLst/>
          </a:prstGeom>
          <a:noFill/>
        </p:spPr>
        <p:txBody>
          <a:bodyPr wrap="square">
            <a:spAutoFit/>
          </a:bodyPr>
          <a:lstStyle/>
          <a:p>
            <a:pPr algn="l">
              <a:spcAft>
                <a:spcPts val="0"/>
              </a:spcAft>
            </a:pPr>
            <a:r>
              <a:rPr sz="2900" b="1" i="0">
                <a:solidFill>
                  <a:srgbClr val="0F2942"/>
                </a:solidFill>
                <a:latin typeface="Segoe UI"/>
              </a:rPr>
              <a:t>Le corpus de sécurité SQL — 29 cas</a:t>
            </a:r>
          </a:p>
        </p:txBody>
      </p:sp>
      <p:sp>
        <p:nvSpPr>
          <p:cNvPr id="5" name="TextBox 4"/>
          <p:cNvSpPr txBox="1"/>
          <p:nvPr/>
        </p:nvSpPr>
        <p:spPr>
          <a:xfrm>
            <a:off x="566928" y="1335024"/>
            <a:ext cx="11064240" cy="384048"/>
          </a:xfrm>
          <a:prstGeom prst="rect">
            <a:avLst/>
          </a:prstGeom>
          <a:noFill/>
        </p:spPr>
        <p:txBody>
          <a:bodyPr wrap="square">
            <a:spAutoFit/>
          </a:bodyPr>
          <a:lstStyle/>
          <a:p>
            <a:pPr algn="l">
              <a:spcAft>
                <a:spcPts val="0"/>
              </a:spcAft>
            </a:pPr>
            <a:r>
              <a:rPr sz="1600" b="0" i="1">
                <a:solidFill>
                  <a:srgbClr val="64748B"/>
                </a:solidFill>
                <a:latin typeface="Segoe UI"/>
              </a:rPr>
              <a:t>La démonstration, par l'exécution, que la défense est en profondeur et pas seulement déclarative.</a:t>
            </a:r>
          </a:p>
        </p:txBody>
      </p:sp>
      <p:sp>
        <p:nvSpPr>
          <p:cNvPr id="6" name="Rectangle 5"/>
          <p:cNvSpPr/>
          <p:nvPr/>
        </p:nvSpPr>
        <p:spPr>
          <a:xfrm>
            <a:off x="566928" y="1792224"/>
            <a:ext cx="822960" cy="320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384048"/>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528816"/>
            <a:ext cx="8229600" cy="274320"/>
          </a:xfrm>
          <a:prstGeom prst="rect">
            <a:avLst/>
          </a:prstGeom>
          <a:noFill/>
        </p:spPr>
        <p:txBody>
          <a:bodyPr wrap="square">
            <a:spAutoFit/>
          </a:bodyPr>
          <a:lstStyle/>
          <a:p>
            <a:pPr algn="l">
              <a:spcAft>
                <a:spcPts val="0"/>
              </a:spcAft>
            </a:pPr>
            <a:r>
              <a:rPr sz="1100" b="0" i="0">
                <a:solidFill>
                  <a:srgbClr val="64748B"/>
                </a:solidFill>
                <a:latin typeface="Segoe UI"/>
              </a:rPr>
              <a:t>Annexes</a:t>
            </a:r>
          </a:p>
        </p:txBody>
      </p:sp>
      <p:sp>
        <p:nvSpPr>
          <p:cNvPr id="9" name="TextBox 8"/>
          <p:cNvSpPr txBox="1"/>
          <p:nvPr/>
        </p:nvSpPr>
        <p:spPr>
          <a:xfrm>
            <a:off x="11002975" y="6528816"/>
            <a:ext cx="640080" cy="274320"/>
          </a:xfrm>
          <a:prstGeom prst="rect">
            <a:avLst/>
          </a:prstGeom>
          <a:noFill/>
        </p:spPr>
        <p:txBody>
          <a:bodyPr wrap="square">
            <a:spAutoFit/>
          </a:bodyPr>
          <a:lstStyle/>
          <a:p>
            <a:pPr algn="r">
              <a:spcAft>
                <a:spcPts val="0"/>
              </a:spcAft>
            </a:pPr>
            <a:r>
              <a:rPr sz="1100" b="1" i="0">
                <a:solidFill>
                  <a:srgbClr val="64748B"/>
                </a:solidFill>
                <a:latin typeface="Segoe UI"/>
              </a:rPr>
              <a:t>31</a:t>
            </a:r>
          </a:p>
        </p:txBody>
      </p:sp>
      <p:graphicFrame>
        <p:nvGraphicFramePr>
          <p:cNvPr id="10" name="Table 9"/>
          <p:cNvGraphicFramePr>
            <a:graphicFrameLocks noGrp="1"/>
          </p:cNvGraphicFramePr>
          <p:nvPr/>
        </p:nvGraphicFramePr>
        <p:xfrm>
          <a:off x="566928" y="2103120"/>
          <a:ext cx="5486400" cy="2139696"/>
        </p:xfrm>
        <a:graphic>
          <a:graphicData uri="http://schemas.openxmlformats.org/drawingml/2006/table">
            <a:tbl>
              <a:tblPr firstRow="1" bandRow="1">
                <a:tableStyleId>{5C22544A-7EE6-4342-B048-85BDC9FD1C3A}</a:tableStyleId>
              </a:tblPr>
              <a:tblGrid>
                <a:gridCol w="2057400"/>
                <a:gridCol w="685800"/>
                <a:gridCol w="2743200"/>
              </a:tblGrid>
              <a:tr h="457200">
                <a:tc>
                  <a:txBody>
                    <a:bodyPr/>
                    <a:lstStyle/>
                    <a:p>
                      <a:pPr algn="l"/>
                      <a:r>
                        <a:rPr sz="1350" b="1">
                          <a:solidFill>
                            <a:srgbClr val="FFFFFF"/>
                          </a:solidFill>
                          <a:latin typeface="Segoe UI"/>
                        </a:rPr>
                        <a:t>Catégorie</a:t>
                      </a:r>
                    </a:p>
                  </a:txBody>
                  <a:tcPr anchor="ctr" marL="91440" marR="73152" marT="27432" marB="27432">
                    <a:solidFill>
                      <a:srgbClr val="0F2942"/>
                    </a:solidFill>
                  </a:tcPr>
                </a:tc>
                <a:tc>
                  <a:txBody>
                    <a:bodyPr/>
                    <a:lstStyle/>
                    <a:p>
                      <a:pPr algn="ctr"/>
                      <a:r>
                        <a:rPr sz="1350" b="1">
                          <a:solidFill>
                            <a:srgbClr val="FFFFFF"/>
                          </a:solidFill>
                          <a:latin typeface="Segoe UI"/>
                        </a:rPr>
                        <a:t>Cas</a:t>
                      </a:r>
                    </a:p>
                  </a:txBody>
                  <a:tcPr anchor="ctr" marL="91440" marR="73152" marT="27432" marB="27432">
                    <a:solidFill>
                      <a:srgbClr val="0F2942"/>
                    </a:solidFill>
                  </a:tcPr>
                </a:tc>
                <a:tc>
                  <a:txBody>
                    <a:bodyPr/>
                    <a:lstStyle/>
                    <a:p>
                      <a:pPr algn="ctr"/>
                      <a:r>
                        <a:rPr sz="1350" b="1">
                          <a:solidFill>
                            <a:srgbClr val="FFFFFF"/>
                          </a:solidFill>
                          <a:latin typeface="Segoe UI"/>
                        </a:rPr>
                        <a:t>Comportement du garde applicatif</a:t>
                      </a:r>
                    </a:p>
                  </a:txBody>
                  <a:tcPr anchor="ctr" marL="91440" marR="73152" marT="27432" marB="27432">
                    <a:solidFill>
                      <a:srgbClr val="0F2942"/>
                    </a:solidFill>
                  </a:tcPr>
                </a:tc>
              </a:tr>
              <a:tr h="420624">
                <a:tc>
                  <a:txBody>
                    <a:bodyPr/>
                    <a:lstStyle/>
                    <a:p>
                      <a:pPr algn="l"/>
                      <a:r>
                        <a:rPr sz="1350">
                          <a:solidFill>
                            <a:srgbClr val="1F2937"/>
                          </a:solidFill>
                          <a:latin typeface="Segoe UI"/>
                        </a:rPr>
                        <a:t>Requêtes légitimes</a:t>
                      </a:r>
                    </a:p>
                  </a:txBody>
                  <a:tcPr anchor="ctr" marL="91440" marR="73152" marT="27432" marB="27432">
                    <a:solidFill>
                      <a:srgbClr val="FFFFFF"/>
                    </a:solidFill>
                  </a:tcPr>
                </a:tc>
                <a:tc>
                  <a:txBody>
                    <a:bodyPr/>
                    <a:lstStyle/>
                    <a:p>
                      <a:pPr algn="ctr"/>
                      <a:r>
                        <a:rPr sz="1350">
                          <a:solidFill>
                            <a:srgbClr val="1F2937"/>
                          </a:solidFill>
                          <a:latin typeface="Segoe UI"/>
                        </a:rPr>
                        <a:t>8</a:t>
                      </a:r>
                    </a:p>
                  </a:txBody>
                  <a:tcPr anchor="ctr" marL="91440" marR="73152" marT="27432" marB="27432">
                    <a:solidFill>
                      <a:srgbClr val="FFFFFF"/>
                    </a:solidFill>
                  </a:tcPr>
                </a:tc>
                <a:tc>
                  <a:txBody>
                    <a:bodyPr/>
                    <a:lstStyle/>
                    <a:p>
                      <a:pPr algn="ctr"/>
                      <a:r>
                        <a:rPr sz="1350">
                          <a:solidFill>
                            <a:srgbClr val="1F2937"/>
                          </a:solidFill>
                          <a:latin typeface="Segoe UI"/>
                        </a:rPr>
                        <a:t>laisse passer  —  8/8</a:t>
                      </a:r>
                    </a:p>
                  </a:txBody>
                  <a:tcPr anchor="ctr" marL="91440" marR="73152" marT="27432" marB="27432">
                    <a:solidFill>
                      <a:srgbClr val="FFFFFF"/>
                    </a:solidFill>
                  </a:tcPr>
                </a:tc>
              </a:tr>
              <a:tr h="420624">
                <a:tc>
                  <a:txBody>
                    <a:bodyPr/>
                    <a:lstStyle/>
                    <a:p>
                      <a:pPr algn="l"/>
                      <a:r>
                        <a:rPr sz="1350">
                          <a:solidFill>
                            <a:srgbClr val="1F2937"/>
                          </a:solidFill>
                          <a:latin typeface="Segoe UI"/>
                        </a:rPr>
                        <a:t>Attaques</a:t>
                      </a:r>
                    </a:p>
                  </a:txBody>
                  <a:tcPr anchor="ctr" marL="91440" marR="73152" marT="27432" marB="27432">
                    <a:solidFill>
                      <a:srgbClr val="F6F8FB"/>
                    </a:solidFill>
                  </a:tcPr>
                </a:tc>
                <a:tc>
                  <a:txBody>
                    <a:bodyPr/>
                    <a:lstStyle/>
                    <a:p>
                      <a:pPr algn="ctr"/>
                      <a:r>
                        <a:rPr sz="1350">
                          <a:solidFill>
                            <a:srgbClr val="1F2937"/>
                          </a:solidFill>
                          <a:latin typeface="Segoe UI"/>
                        </a:rPr>
                        <a:t>14</a:t>
                      </a:r>
                    </a:p>
                  </a:txBody>
                  <a:tcPr anchor="ctr" marL="91440" marR="73152" marT="27432" marB="27432">
                    <a:solidFill>
                      <a:srgbClr val="F6F8FB"/>
                    </a:solidFill>
                  </a:tcPr>
                </a:tc>
                <a:tc>
                  <a:txBody>
                    <a:bodyPr/>
                    <a:lstStyle/>
                    <a:p>
                      <a:pPr algn="ctr"/>
                      <a:r>
                        <a:rPr sz="1350">
                          <a:solidFill>
                            <a:srgbClr val="1F2937"/>
                          </a:solidFill>
                          <a:latin typeface="Segoe UI"/>
                        </a:rPr>
                        <a:t>rejette  —  14/14  (100 %)</a:t>
                      </a:r>
                    </a:p>
                  </a:txBody>
                  <a:tcPr anchor="ctr" marL="91440" marR="73152" marT="27432" marB="27432">
                    <a:solidFill>
                      <a:srgbClr val="F6F8FB"/>
                    </a:solidFill>
                  </a:tcPr>
                </a:tc>
              </a:tr>
              <a:tr h="420624">
                <a:tc>
                  <a:txBody>
                    <a:bodyPr/>
                    <a:lstStyle/>
                    <a:p>
                      <a:pPr algn="l"/>
                      <a:r>
                        <a:rPr sz="1350">
                          <a:solidFill>
                            <a:srgbClr val="1F2937"/>
                          </a:solidFill>
                          <a:latin typeface="Segoe UI"/>
                        </a:rPr>
                        <a:t>Contournements</a:t>
                      </a:r>
                    </a:p>
                  </a:txBody>
                  <a:tcPr anchor="ctr" marL="91440" marR="73152" marT="27432" marB="27432">
                    <a:solidFill>
                      <a:srgbClr val="FFFFFF"/>
                    </a:solidFill>
                  </a:tcPr>
                </a:tc>
                <a:tc>
                  <a:txBody>
                    <a:bodyPr/>
                    <a:lstStyle/>
                    <a:p>
                      <a:pPr algn="ctr"/>
                      <a:r>
                        <a:rPr sz="1350">
                          <a:solidFill>
                            <a:srgbClr val="1F2937"/>
                          </a:solidFill>
                          <a:latin typeface="Segoe UI"/>
                        </a:rPr>
                        <a:t>4</a:t>
                      </a:r>
                    </a:p>
                  </a:txBody>
                  <a:tcPr anchor="ctr" marL="91440" marR="73152" marT="27432" marB="27432">
                    <a:solidFill>
                      <a:srgbClr val="FFFFFF"/>
                    </a:solidFill>
                  </a:tcPr>
                </a:tc>
                <a:tc>
                  <a:txBody>
                    <a:bodyPr/>
                    <a:lstStyle/>
                    <a:p>
                      <a:pPr algn="ctr"/>
                      <a:r>
                        <a:rPr sz="1350">
                          <a:solidFill>
                            <a:srgbClr val="1F2937"/>
                          </a:solidFill>
                          <a:latin typeface="Segoe UI"/>
                        </a:rPr>
                        <a:t>laisse passer  —  PostgreSQL arrête</a:t>
                      </a:r>
                    </a:p>
                  </a:txBody>
                  <a:tcPr anchor="ctr" marL="91440" marR="73152" marT="27432" marB="27432">
                    <a:solidFill>
                      <a:srgbClr val="FFFFFF"/>
                    </a:solidFill>
                  </a:tcPr>
                </a:tc>
              </a:tr>
              <a:tr h="420624">
                <a:tc>
                  <a:txBody>
                    <a:bodyPr/>
                    <a:lstStyle/>
                    <a:p>
                      <a:pPr algn="l"/>
                      <a:r>
                        <a:rPr sz="1350">
                          <a:solidFill>
                            <a:srgbClr val="1F2937"/>
                          </a:solidFill>
                          <a:latin typeface="Segoe UI"/>
                        </a:rPr>
                        <a:t>Faux positifs</a:t>
                      </a:r>
                    </a:p>
                  </a:txBody>
                  <a:tcPr anchor="ctr" marL="91440" marR="73152" marT="27432" marB="27432">
                    <a:solidFill>
                      <a:srgbClr val="F6F8FB"/>
                    </a:solidFill>
                  </a:tcPr>
                </a:tc>
                <a:tc>
                  <a:txBody>
                    <a:bodyPr/>
                    <a:lstStyle/>
                    <a:p>
                      <a:pPr algn="ctr"/>
                      <a:r>
                        <a:rPr sz="1350">
                          <a:solidFill>
                            <a:srgbClr val="1F2937"/>
                          </a:solidFill>
                          <a:latin typeface="Segoe UI"/>
                        </a:rPr>
                        <a:t>3</a:t>
                      </a:r>
                    </a:p>
                  </a:txBody>
                  <a:tcPr anchor="ctr" marL="91440" marR="73152" marT="27432" marB="27432">
                    <a:solidFill>
                      <a:srgbClr val="F6F8FB"/>
                    </a:solidFill>
                  </a:tcPr>
                </a:tc>
                <a:tc>
                  <a:txBody>
                    <a:bodyPr/>
                    <a:lstStyle/>
                    <a:p>
                      <a:pPr algn="ctr"/>
                      <a:r>
                        <a:rPr sz="1350">
                          <a:solidFill>
                            <a:srgbClr val="1F2937"/>
                          </a:solidFill>
                          <a:latin typeface="Segoe UI"/>
                        </a:rPr>
                        <a:t>rejette à tort  —  le coût, mesuré</a:t>
                      </a:r>
                    </a:p>
                  </a:txBody>
                  <a:tcPr anchor="ctr" marL="91440" marR="73152" marT="27432" marB="27432">
                    <a:solidFill>
                      <a:srgbClr val="F6F8FB"/>
                    </a:solidFill>
                  </a:tcPr>
                </a:tc>
              </a:tr>
            </a:tbl>
          </a:graphicData>
        </a:graphic>
      </p:graphicFrame>
      <p:sp>
        <p:nvSpPr>
          <p:cNvPr id="11" name="TextBox 10"/>
          <p:cNvSpPr txBox="1"/>
          <p:nvPr/>
        </p:nvSpPr>
        <p:spPr>
          <a:xfrm>
            <a:off x="566928" y="4389120"/>
            <a:ext cx="5486400" cy="1463040"/>
          </a:xfrm>
          <a:prstGeom prst="rect">
            <a:avLst/>
          </a:prstGeom>
          <a:noFill/>
        </p:spPr>
        <p:txBody>
          <a:bodyPr wrap="square">
            <a:spAutoFit/>
          </a:bodyPr>
          <a:lstStyle/>
          <a:p>
            <a:pPr algn="l">
              <a:spcAft>
                <a:spcPts val="0"/>
              </a:spcAft>
            </a:pPr>
            <a:r>
              <a:rPr sz="1350" b="0" i="0">
                <a:solidFill>
                  <a:srgbClr val="1F2937"/>
                </a:solidFill>
                <a:latin typeface="Segoe UI"/>
              </a:rPr>
              <a:t>Les quatre contournements sont le cœur de l'exercice :
·  SELECT *  —  ne nomme aucune colonne, la liste noire est aveugle
·  pg_user  —  les catalogues système ne sont pas listés
·  LIMIT imbriqué  —  satisfait la recherche, aucun cap externe ajouté
·  produit cartésien  —  le LIMIT s'applique après la jointure</a:t>
            </a:r>
          </a:p>
        </p:txBody>
      </p:sp>
      <p:sp>
        <p:nvSpPr>
          <p:cNvPr id="12" name="Rectangle 11"/>
          <p:cNvSpPr/>
          <p:nvPr/>
        </p:nvSpPr>
        <p:spPr>
          <a:xfrm>
            <a:off x="6309360" y="2103120"/>
            <a:ext cx="5321808" cy="1920240"/>
          </a:xfrm>
          <a:prstGeom prst="rect">
            <a:avLst/>
          </a:prstGeom>
          <a:solidFill>
            <a:srgbClr val="E0F2F7"/>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221992"/>
            <a:ext cx="4956048" cy="292608"/>
          </a:xfrm>
          <a:prstGeom prst="rect">
            <a:avLst/>
          </a:prstGeom>
          <a:noFill/>
        </p:spPr>
        <p:txBody>
          <a:bodyPr wrap="square">
            <a:spAutoFit/>
          </a:bodyPr>
          <a:lstStyle/>
          <a:p>
            <a:pPr algn="l">
              <a:spcAft>
                <a:spcPts val="0"/>
              </a:spcAft>
            </a:pPr>
            <a:r>
              <a:rPr sz="1500" b="1" i="0">
                <a:solidFill>
                  <a:srgbClr val="0E7490"/>
                </a:solidFill>
                <a:latin typeface="Segoe UI"/>
              </a:rPr>
              <a:t>Ce que chaque contournement démontre</a:t>
            </a:r>
          </a:p>
        </p:txBody>
      </p:sp>
      <p:sp>
        <p:nvSpPr>
          <p:cNvPr id="14" name="TextBox 13"/>
          <p:cNvSpPr txBox="1"/>
          <p:nvPr/>
        </p:nvSpPr>
        <p:spPr>
          <a:xfrm>
            <a:off x="6510528" y="2578608"/>
            <a:ext cx="4937760" cy="1371600"/>
          </a:xfrm>
          <a:prstGeom prst="rect">
            <a:avLst/>
          </a:prstGeom>
          <a:noFill/>
        </p:spPr>
        <p:txBody>
          <a:bodyPr wrap="square">
            <a:spAutoFit/>
          </a:bodyPr>
          <a:lstStyle/>
          <a:p>
            <a:pPr algn="l">
              <a:spcAft>
                <a:spcPts val="0"/>
              </a:spcAft>
            </a:pPr>
            <a:r>
              <a:rPr sz="1500" b="0" i="0">
                <a:solidFill>
                  <a:srgbClr val="1F2937"/>
                </a:solidFill>
                <a:latin typeface="Segoe UI"/>
              </a:rPr>
              <a:t>Un garde par expression régulière ne peut pas tout voir.
Ce sont les droits au niveau colonne du rôle ms9_readonly
et le statement_timeout de 5 s qui les arrêtent.
Sans ces couches, quatre requêtes sur vingt-neuf passeraient.</a:t>
            </a:r>
          </a:p>
        </p:txBody>
      </p:sp>
      <p:sp>
        <p:nvSpPr>
          <p:cNvPr id="15" name="TextBox 14"/>
          <p:cNvSpPr txBox="1"/>
          <p:nvPr/>
        </p:nvSpPr>
        <p:spPr>
          <a:xfrm>
            <a:off x="6309360" y="4206240"/>
            <a:ext cx="5321808" cy="1371600"/>
          </a:xfrm>
          <a:prstGeom prst="rect">
            <a:avLst/>
          </a:prstGeom>
          <a:noFill/>
        </p:spPr>
        <p:txBody>
          <a:bodyPr wrap="square">
            <a:spAutoFit/>
          </a:bodyPr>
          <a:lstStyle/>
          <a:p>
            <a:pPr algn="l">
              <a:spcAft>
                <a:spcPts val="0"/>
              </a:spcAft>
            </a:pPr>
            <a:r>
              <a:rPr sz="1350" b="0" i="0">
                <a:solidFill>
                  <a:srgbClr val="1F2937"/>
                </a:solidFill>
                <a:latin typeface="Segoe UI"/>
              </a:rPr>
              <a:t>Les trois faux positifs, chiffrés plutôt que devinés :
·  une valeur métier nommée 'DELETE'
·  un point-virgule dans un littéral
·  un COUNT(*) sur la table messages
Sur-blocage assumé : l'erreur est du bon côté.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